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5"/>
  </p:sldMasterIdLst>
  <p:notesMasterIdLst>
    <p:notesMasterId r:id="rId12"/>
  </p:notesMasterIdLst>
  <p:handoutMasterIdLst>
    <p:handoutMasterId r:id="rId13"/>
  </p:handoutMasterIdLst>
  <p:sldIdLst>
    <p:sldId id="590" r:id="rId6"/>
    <p:sldId id="2140757044" r:id="rId7"/>
    <p:sldId id="2140757063" r:id="rId8"/>
    <p:sldId id="2140757064" r:id="rId9"/>
    <p:sldId id="2140757065" r:id="rId10"/>
    <p:sldId id="2140757066" r:id="rId1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36" userDrawn="1">
          <p15:clr>
            <a:srgbClr val="A4A3A4"/>
          </p15:clr>
        </p15:guide>
        <p15:guide id="3" pos="5472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2B4210-379F-942F-C494-63E52FC91D1D}" name="Kimberly Solomon" initials="KS" userId="S::ksolomon@invest.brown.edu::d11587db-618d-4a34-b593-ff222a3ba9db" providerId="AD"/>
  <p188:author id="{7FA93227-39A4-0F64-DC8E-4F79740E2DAD}" name="Ryan Park" initials="RBP" userId="Ryan Park" providerId="None"/>
  <p188:author id="{4021743D-1C68-81C3-5D20-049025C1669A}" name="Josephine Diaz" initials="JD" userId="S::jdiaz@invest.brown.edu::4b2ebae7-4493-4202-91b7-abf833868766" providerId="AD"/>
  <p188:author id="{073A4D6B-C1F9-934C-F6B3-8D2F0FE23406}" name="Christine Bove" initials="CB" userId="S::cbove@invest.brown.edu::4fe54cec-8c66-4e40-ae44-3926a1650813" providerId="AD"/>
  <p188:author id="{3E1514DA-2632-218B-7A9C-D69792118A44}" name="Julien Angel" initials="" userId="S::jangel@invest.brown.edu::1a711bc1-2318-4965-8c74-953f5228b8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DA"/>
    <a:srgbClr val="FFFFFF"/>
    <a:srgbClr val="0000FF"/>
    <a:srgbClr val="8494A5"/>
    <a:srgbClr val="008000"/>
    <a:srgbClr val="EDEFF2"/>
    <a:srgbClr val="E1E1E1"/>
    <a:srgbClr val="B5B5B5"/>
    <a:srgbClr val="FBEDC3"/>
    <a:srgbClr val="F5D2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pos="336"/>
        <p:guide pos="547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Angel" userId="1a711bc1-2318-4965-8c74-953f5228b8f2" providerId="ADAL" clId="{175C9266-59CE-4E0A-9835-0CA8EA510B75}"/>
    <pc:docChg chg="modSld sldOrd">
      <pc:chgData name="Julien Angel" userId="1a711bc1-2318-4965-8c74-953f5228b8f2" providerId="ADAL" clId="{175C9266-59CE-4E0A-9835-0CA8EA510B75}" dt="2026-08-06T18:36:28.219" v="0"/>
      <pc:docMkLst>
        <pc:docMk/>
      </pc:docMkLst>
      <pc:sldChg chg="ord">
        <pc:chgData name="Julien Angel" userId="1a711bc1-2318-4965-8c74-953f5228b8f2" providerId="ADAL" clId="{175C9266-59CE-4E0A-9835-0CA8EA510B75}" dt="2026-08-06T18:36:28.219" v="0"/>
        <pc:sldMkLst>
          <pc:docMk/>
          <pc:sldMk cId="3362658616" sldId="214075704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778CD-3F0A-40A9-9038-E7D96F6E7554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B373B-BFCC-4C4D-A4D8-F07568E84F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40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2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AFBB289-5FF3-4A30-A98D-DFACA2D9ADEA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2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EA8EAEE-5BEF-44E4-98C6-A5812201D7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9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and 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152"/>
            <a:ext cx="8229600" cy="4525963"/>
          </a:xfrm>
        </p:spPr>
        <p:txBody>
          <a:bodyPr>
            <a:noAutofit/>
          </a:bodyPr>
          <a:lstStyle>
            <a:lvl1pPr marL="228600" indent="-228600">
              <a:spcBef>
                <a:spcPts val="600"/>
              </a:spcBef>
              <a:spcAft>
                <a:spcPts val="300"/>
              </a:spcAft>
              <a:defRPr sz="12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48640" y="6400800"/>
            <a:ext cx="8138160" cy="0"/>
          </a:xfrm>
          <a:prstGeom prst="line">
            <a:avLst/>
          </a:prstGeom>
          <a:ln w="63500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001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0352" y="6400800"/>
            <a:ext cx="8001000" cy="533400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Both"/>
              <a:tabLst/>
              <a:defRPr lang="en-US" sz="900" smtClean="0">
                <a:effectLst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3586717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152"/>
            <a:ext cx="8229600" cy="4525963"/>
          </a:xfrm>
        </p:spPr>
        <p:txBody>
          <a:bodyPr>
            <a:noAutofit/>
          </a:bodyPr>
          <a:lstStyle>
            <a:lvl1pPr marL="228600" indent="-228600">
              <a:spcBef>
                <a:spcPts val="600"/>
              </a:spcBef>
              <a:spcAft>
                <a:spcPts val="300"/>
              </a:spcAft>
              <a:defRPr sz="12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001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0352" y="6400800"/>
            <a:ext cx="8001000" cy="533400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Both"/>
              <a:tabLst/>
              <a:defRPr lang="en-US" sz="900" smtClean="0">
                <a:effectLst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4700615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and Large 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152"/>
            <a:ext cx="8229600" cy="4525963"/>
          </a:xfrm>
        </p:spPr>
        <p:txBody>
          <a:bodyPr>
            <a:noAutofit/>
          </a:bodyPr>
          <a:lstStyle>
            <a:lvl1pPr marL="228600" indent="-228600">
              <a:spcBef>
                <a:spcPts val="600"/>
              </a:spcBef>
              <a:spcAft>
                <a:spcPts val="300"/>
              </a:spcAft>
              <a:defRPr sz="12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48640" y="6217920"/>
            <a:ext cx="8138160" cy="0"/>
          </a:xfrm>
          <a:prstGeom prst="line">
            <a:avLst/>
          </a:prstGeom>
          <a:ln w="63500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001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0352" y="6217920"/>
            <a:ext cx="8001000" cy="716280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Both"/>
              <a:tabLst/>
              <a:defRPr lang="en-US" sz="900" smtClean="0">
                <a:effectLst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932318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Very Large 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152"/>
            <a:ext cx="8229600" cy="4525963"/>
          </a:xfrm>
        </p:spPr>
        <p:txBody>
          <a:bodyPr>
            <a:noAutofit/>
          </a:bodyPr>
          <a:lstStyle>
            <a:lvl1pPr marL="228600" indent="-228600">
              <a:spcBef>
                <a:spcPts val="600"/>
              </a:spcBef>
              <a:spcAft>
                <a:spcPts val="300"/>
              </a:spcAft>
              <a:defRPr sz="12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48640" y="5943600"/>
            <a:ext cx="8138160" cy="0"/>
          </a:xfrm>
          <a:prstGeom prst="line">
            <a:avLst/>
          </a:prstGeom>
          <a:ln w="63500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001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0352" y="5943600"/>
            <a:ext cx="8001000" cy="990600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Both"/>
              <a:tabLst/>
              <a:defRPr lang="en-US" sz="900" baseline="0" smtClean="0">
                <a:effectLst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3719797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05001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5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n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85800" y="4213671"/>
            <a:ext cx="7772400" cy="1470025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endParaRPr lang="en-US" sz="180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48640" y="5715000"/>
            <a:ext cx="8138160" cy="0"/>
          </a:xfrm>
          <a:prstGeom prst="line">
            <a:avLst/>
          </a:prstGeom>
          <a:ln w="15875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48640" y="4191000"/>
            <a:ext cx="8138160" cy="0"/>
          </a:xfrm>
          <a:prstGeom prst="line">
            <a:avLst/>
          </a:prstGeom>
          <a:ln w="15875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 txBox="1">
            <a:spLocks/>
          </p:cNvSpPr>
          <p:nvPr userDrawn="1"/>
        </p:nvSpPr>
        <p:spPr>
          <a:xfrm>
            <a:off x="685800" y="2209800"/>
            <a:ext cx="77724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cap="small"/>
              <a:t>Brown University </a:t>
            </a:r>
          </a:p>
          <a:p>
            <a:r>
              <a:rPr lang="en-US" sz="2600" cap="small"/>
              <a:t>Investment Office</a:t>
            </a:r>
          </a:p>
        </p:txBody>
      </p:sp>
    </p:spTree>
    <p:extLst>
      <p:ext uri="{BB962C8B-B14F-4D97-AF65-F5344CB8AC3E}">
        <p14:creationId xmlns:p14="http://schemas.microsoft.com/office/powerpoint/2010/main" val="2194699649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BBD5E01-6D29-8442-69AD-051784E51EB7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394056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7" imgH="348" progId="TCLayout.ActiveDocument.1">
                  <p:embed/>
                </p:oleObj>
              </mc:Choice>
              <mc:Fallback>
                <p:oleObj name="think-cell Slide" r:id="rId9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BD5E01-6D29-8442-69AD-051784E51E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001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F1772-28DD-471C-9D13-7C064B6699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772400" y="76203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>
                <a:solidFill>
                  <a:prstClr val="black"/>
                </a:solidFill>
              </a:rPr>
              <a:t>Confidential</a:t>
            </a:r>
          </a:p>
        </p:txBody>
      </p:sp>
      <p:pic>
        <p:nvPicPr>
          <p:cNvPr id="8" name="Picture 7" descr="OFFICIAL BROWN LOGO - HORIZONTAL"/>
          <p:cNvPicPr>
            <a:picLocks noChangeAspect="1" noChangeArrowheads="1"/>
          </p:cNvPicPr>
          <p:nvPr/>
        </p:nvPicPr>
        <p:blipFill>
          <a:blip r:embed="rId11" cstate="print"/>
          <a:srcRect r="71300"/>
          <a:stretch>
            <a:fillRect/>
          </a:stretch>
        </p:blipFill>
        <p:spPr bwMode="auto">
          <a:xfrm>
            <a:off x="152402" y="76202"/>
            <a:ext cx="471487" cy="82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Connector 9"/>
          <p:cNvCxnSpPr/>
          <p:nvPr/>
        </p:nvCxnSpPr>
        <p:spPr>
          <a:xfrm>
            <a:off x="548640" y="952100"/>
            <a:ext cx="8138160" cy="0"/>
          </a:xfrm>
          <a:prstGeom prst="line">
            <a:avLst/>
          </a:prstGeom>
          <a:ln w="63500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7772400" y="76201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/>
              <a:t>Confidential</a:t>
            </a:r>
          </a:p>
        </p:txBody>
      </p:sp>
      <p:pic>
        <p:nvPicPr>
          <p:cNvPr id="12" name="Picture 11" descr="OFFICIAL BROWN LOGO - HORIZONTAL"/>
          <p:cNvPicPr>
            <a:picLocks noChangeAspect="1" noChangeArrowheads="1"/>
          </p:cNvPicPr>
          <p:nvPr userDrawn="1"/>
        </p:nvPicPr>
        <p:blipFill>
          <a:blip r:embed="rId11" cstate="print"/>
          <a:srcRect r="71300"/>
          <a:stretch>
            <a:fillRect/>
          </a:stretch>
        </p:blipFill>
        <p:spPr bwMode="auto">
          <a:xfrm>
            <a:off x="152402" y="76201"/>
            <a:ext cx="471487" cy="82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Straight Connector 12"/>
          <p:cNvCxnSpPr/>
          <p:nvPr userDrawn="1"/>
        </p:nvCxnSpPr>
        <p:spPr>
          <a:xfrm>
            <a:off x="548640" y="952100"/>
            <a:ext cx="8138160" cy="0"/>
          </a:xfrm>
          <a:prstGeom prst="line">
            <a:avLst/>
          </a:prstGeom>
          <a:ln w="63500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79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4" r:id="rId6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21326"/>
            <a:ext cx="7772400" cy="1470025"/>
          </a:xfrm>
        </p:spPr>
        <p:txBody>
          <a:bodyPr>
            <a:no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  <a:latin typeface="Arial"/>
              </a:rPr>
              <a:t>Title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Arial"/>
              </a:rPr>
              <a:t>August</a:t>
            </a:r>
            <a:r>
              <a:rPr sz="1400" dirty="0">
                <a:solidFill>
                  <a:srgbClr val="000000"/>
                </a:solidFill>
                <a:latin typeface="Arial"/>
              </a:rPr>
              <a:t> 2026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48640" y="5715000"/>
            <a:ext cx="8138160" cy="0"/>
          </a:xfrm>
          <a:prstGeom prst="line">
            <a:avLst/>
          </a:prstGeom>
          <a:ln w="15875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48640" y="4191000"/>
            <a:ext cx="8138160" cy="0"/>
          </a:xfrm>
          <a:prstGeom prst="line">
            <a:avLst/>
          </a:prstGeom>
          <a:ln w="15875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OFFICIAL BROWN LOGO - HORIZONTAL"/>
          <p:cNvPicPr>
            <a:picLocks noChangeAspect="1" noChangeArrowheads="1"/>
          </p:cNvPicPr>
          <p:nvPr/>
        </p:nvPicPr>
        <p:blipFill>
          <a:blip r:embed="rId2" cstate="print"/>
          <a:srcRect r="71300"/>
          <a:stretch>
            <a:fillRect/>
          </a:stretch>
        </p:blipFill>
        <p:spPr bwMode="auto">
          <a:xfrm>
            <a:off x="152398" y="76199"/>
            <a:ext cx="577822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Connector 9"/>
          <p:cNvCxnSpPr/>
          <p:nvPr/>
        </p:nvCxnSpPr>
        <p:spPr>
          <a:xfrm>
            <a:off x="3108960" y="2723950"/>
            <a:ext cx="2926080" cy="0"/>
          </a:xfrm>
          <a:prstGeom prst="line">
            <a:avLst/>
          </a:prstGeom>
          <a:ln w="15875">
            <a:solidFill>
              <a:srgbClr val="C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28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5D395-A28D-A452-3AC5-2D144FC0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A379B8-1849-7E12-2265-F00BDDB70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I. Section Header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B76EF-1EBA-BD10-8E46-9E38463C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5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C31736-A117-4C94-3B39-54E7CBC6D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C7194A-8F26-C959-8FD1-62CAB0F3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C18797-2829-0B04-3C3E-03B83C50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DF236-5779-97D7-B4D8-6A2CDA20F4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04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3F9EBB-BC39-2610-8E2E-E51142CF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5C01C6-AE90-5A43-74C8-4A6A073C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653537-2303-9FE2-D59E-172BEC22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0A10-D0D1-C6DE-7B83-6CB37AE83D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2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C18712-D9DD-C793-F670-6CA48A813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2B1768-CA2C-3EF0-CDA1-A2445974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0B5201-5D2D-8F20-543F-A21CA55B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F74F2-3071-97A2-A53D-1271E573BD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62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1FDA35-E103-9750-6AF2-203A78701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B59FFA-68BE-8DDF-151B-51BE51EC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F1772-28DD-471C-9D13-7C064B6699D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F0FF77-1C55-D4EF-CD28-18131AA5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B09FE5-ED91-B6C5-F801-994EB9B13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369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 Theme">
  <a:themeElements>
    <a:clrScheme name="Custom 1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424E5B"/>
      </a:accent1>
      <a:accent2>
        <a:srgbClr val="8494A5"/>
      </a:accent2>
      <a:accent3>
        <a:srgbClr val="B5B5B5"/>
      </a:accent3>
      <a:accent4>
        <a:srgbClr val="F5D269"/>
      </a:accent4>
      <a:accent5>
        <a:srgbClr val="FBEDC3"/>
      </a:accent5>
      <a:accent6>
        <a:srgbClr val="E1E1E1"/>
      </a:accent6>
      <a:hlink>
        <a:srgbClr val="CC8D19"/>
      </a:hlink>
      <a:folHlink>
        <a:srgbClr val="D892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IO Theme" id="{848D5C90-EB69-48D0-B54C-D8B8CF1436C4}" vid="{60084DDD-1A12-4952-86E9-1EF85C5031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65A768-6DB7-49CB-B979-FAC1E159C22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0761d6e-4991-44f4-b65e-e1e3469c22b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395951-de1d-4f54-ac2a-6154844ae6cc">
      <Terms xmlns="http://schemas.microsoft.com/office/infopath/2007/PartnerControls"/>
    </lcf76f155ced4ddcb4097134ff3c332f>
    <TaxCatchAll xmlns="b7150041-2860-4258-91fb-80acbd43d44a" xsi:nil="true"/>
    <Completed xmlns="39395951-de1d-4f54-ac2a-6154844ae6cc">false</Completed>
    <Date xmlns="39395951-de1d-4f54-ac2a-6154844ae6cc" xsi:nil="true"/>
    <Assistant xmlns="39395951-de1d-4f54-ac2a-6154844ae6cc" xsi:nil="true"/>
    <DocumentType xmlns="39395951-de1d-4f54-ac2a-6154844ae6cc" xsi:nil="true"/>
    <_dlc_DocId xmlns="b7150041-2860-4258-91fb-80acbd43d44a">Q3YEEK5TSWDT-1708525490-116929</_dlc_DocId>
    <_dlc_DocIdUrl xmlns="b7150041-2860-4258-91fb-80acbd43d44a">
      <Url>https://browninvestment.sharepoint.com/sites/Investments/_layouts/15/DocIdRedir.aspx?ID=Q3YEEK5TSWDT-1708525490-116929</Url>
      <Description>Q3YEEK5TSWDT-1708525490-116929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FE5BE3753B54D86E5EB0FA0F9AB6B" ma:contentTypeVersion="17" ma:contentTypeDescription="Create a new document." ma:contentTypeScope="" ma:versionID="859e3f9498933a6cedc0fe599bf20c40">
  <xsd:schema xmlns:xsd="http://www.w3.org/2001/XMLSchema" xmlns:xs="http://www.w3.org/2001/XMLSchema" xmlns:p="http://schemas.microsoft.com/office/2006/metadata/properties" xmlns:ns2="39395951-de1d-4f54-ac2a-6154844ae6cc" xmlns:ns3="b7150041-2860-4258-91fb-80acbd43d44a" targetNamespace="http://schemas.microsoft.com/office/2006/metadata/properties" ma:root="true" ma:fieldsID="0c33a53dff5ca9975a0ce743f2567b2b" ns2:_="" ns3:_="">
    <xsd:import namespace="39395951-de1d-4f54-ac2a-6154844ae6cc"/>
    <xsd:import namespace="b7150041-2860-4258-91fb-80acbd43d4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_dlc_DocId" minOccurs="0"/>
                <xsd:element ref="ns3:_dlc_DocIdUrl" minOccurs="0"/>
                <xsd:element ref="ns3:_dlc_DocIdPersistId" minOccurs="0"/>
                <xsd:element ref="ns2:Assistant" minOccurs="0"/>
                <xsd:element ref="ns2:MediaLengthInSeconds" minOccurs="0"/>
                <xsd:element ref="ns2:Date" minOccurs="0"/>
                <xsd:element ref="ns2:Completed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95951-de1d-4f54-ac2a-6154844ae6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994f7c51-1f95-45aa-a6e8-fb85e7a5ab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Assistant" ma:index="23" nillable="true" ma:displayName="Assistant" ma:format="Dropdown" ma:internalName="Assistant">
      <xsd:simpleType>
        <xsd:restriction base="dms:Choice">
          <xsd:enumeration value="Arria"/>
          <xsd:enumeration value="Bove"/>
          <xsd:enumeration value="McManus"/>
        </xsd:restriction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Date" ma:index="25" nillable="true" ma:displayName="Date" ma:format="DateOnly" ma:internalName="Date">
      <xsd:simpleType>
        <xsd:restriction base="dms:DateTime"/>
      </xsd:simpleType>
    </xsd:element>
    <xsd:element name="Completed" ma:index="26" nillable="true" ma:displayName="Completed" ma:default="0" ma:format="Dropdown" ma:internalName="Completed">
      <xsd:simpleType>
        <xsd:restriction base="dms:Boolean"/>
      </xsd:simpleType>
    </xsd:element>
    <xsd:element name="DocumentType" ma:index="27" nillable="true" ma:displayName="Document Type " ma:format="Dropdown" ma:internalName="DocumentType">
      <xsd:simpleType>
        <xsd:restriction base="dms:Choice">
          <xsd:enumeration value="Subscription Document"/>
          <xsd:enumeration value="LPA"/>
          <xsd:enumeration value="Side Letter"/>
          <xsd:enumeration value="Amendment Consent"/>
          <xsd:enumeration value="Reporting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150041-2860-4258-91fb-80acbd43d44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998a823-fbcd-4855-a0d9-3fc6b63d63ea}" ma:internalName="TaxCatchAll" ma:showField="CatchAllData" ma:web="b7150041-2860-4258-91fb-80acbd43d4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0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E6CD78E-8EBD-4804-98BD-B9DBBCCCF1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1885E6-2CCF-4AED-B7F4-717D7BF2B4C5}">
  <ds:schemaRefs>
    <ds:schemaRef ds:uri="39395951-de1d-4f54-ac2a-6154844ae6cc"/>
    <ds:schemaRef ds:uri="b7150041-2860-4258-91fb-80acbd43d44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74F0610-46C8-4D7E-A376-43CB468636C2}">
  <ds:schemaRefs>
    <ds:schemaRef ds:uri="39395951-de1d-4f54-ac2a-6154844ae6cc"/>
    <ds:schemaRef ds:uri="b7150041-2860-4258-91fb-80acbd43d4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2648A4DB-48F4-4A9A-9434-88ABA778DB71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 Theme</Template>
  <TotalTime>0</TotalTime>
  <Words>12</Words>
  <Application>Microsoft Office PowerPoint</Application>
  <PresentationFormat>On-screen Show (4:3)</PresentationFormat>
  <Paragraphs>8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BIO Theme</vt:lpstr>
      <vt:lpstr>think-cell Slide</vt:lpstr>
      <vt:lpstr>Title August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 Onboarding 2026</dc:title>
  <dc:creator>jdiaz@invest.brown.edu</dc:creator>
  <cp:lastModifiedBy>Julien Angel</cp:lastModifiedBy>
  <cp:revision>1</cp:revision>
  <cp:lastPrinted>2026-07-16T14:09:29Z</cp:lastPrinted>
  <dcterms:created xsi:type="dcterms:W3CDTF">2013-06-25T13:37:38Z</dcterms:created>
  <dcterms:modified xsi:type="dcterms:W3CDTF">2026-08-06T18:36:58Z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0x0101006E4FE5BE3753B54D86E5EB0FA0F9AB6B</vt:lpwstr>
  </property>
  <property fmtid="{D5CDD505-2E9C-101B-9397-08002B2CF9AE}" pid="3" name="Order">
    <vt:r8>200</vt:r8>
  </property>
  <property fmtid="{D5CDD505-2E9C-101B-9397-08002B2CF9AE}" pid="4" name="_dlc_DocIdItemGuid">
    <vt:lpwstr>50372273-989e-4884-974f-dc76b9c79415</vt:lpwstr>
  </property>
  <property fmtid="{D5CDD505-2E9C-101B-9397-08002B2CF9AE}" pid="5" name="MediaServiceImageTags">
    <vt:lpwstr/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