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274320"/>
          </a:xfrm>
          <a:prstGeom prst="rect">
            <a:avLst/>
          </a:prstGeom>
          <a:noFill/>
        </p:spPr>
        <p:txBody>
          <a:bodyPr wrap="square" lIns="0" rIns="0" tIns="0" bIns="0">
            <a:spAutoFit/>
          </a:bodyPr>
          <a:lstStyle/>
          <a:p>
            <a:pPr algn="l">
              <a:defRPr sz="1050" b="1" i="0">
                <a:solidFill>
                  <a:srgbClr val="B8860B"/>
                </a:solidFill>
                <a:latin typeface="Calibri"/>
              </a:defRPr>
            </a:pPr>
            <a:r>
              <a:t>BROWN UNIVERSITY INVESTMENT OFFICE</a:t>
            </a:r>
          </a:p>
        </p:txBody>
      </p:sp>
      <p:sp>
        <p:nvSpPr>
          <p:cNvPr id="5" name="TextBox 4"/>
          <p:cNvSpPr txBox="1"/>
          <p:nvPr/>
        </p:nvSpPr>
        <p:spPr>
          <a:xfrm>
            <a:off x="822960" y="2057400"/>
            <a:ext cx="10515600" cy="914400"/>
          </a:xfrm>
          <a:prstGeom prst="rect">
            <a:avLst/>
          </a:prstGeom>
          <a:noFill/>
        </p:spPr>
        <p:txBody>
          <a:bodyPr wrap="square" lIns="0" rIns="0" tIns="0" bIns="0">
            <a:spAutoFit/>
          </a:bodyPr>
          <a:lstStyle/>
          <a:p>
            <a:pPr algn="l">
              <a:defRPr sz="4600" b="1" i="0">
                <a:solidFill>
                  <a:srgbClr val="FFFFFF"/>
                </a:solidFill>
                <a:latin typeface="Georgia"/>
              </a:defRPr>
            </a:pPr>
            <a:r>
              <a:t>Private Fund Holdings</a:t>
            </a:r>
          </a:p>
        </p:txBody>
      </p:sp>
      <p:sp>
        <p:nvSpPr>
          <p:cNvPr id="6" name="TextBox 5"/>
          <p:cNvSpPr txBox="1"/>
          <p:nvPr/>
        </p:nvSpPr>
        <p:spPr>
          <a:xfrm>
            <a:off x="822960" y="3063240"/>
            <a:ext cx="10515600" cy="640080"/>
          </a:xfrm>
          <a:prstGeom prst="rect">
            <a:avLst/>
          </a:prstGeom>
          <a:noFill/>
        </p:spPr>
        <p:txBody>
          <a:bodyPr wrap="square" lIns="0" rIns="0" tIns="0" bIns="0">
            <a:spAutoFit/>
          </a:bodyPr>
          <a:lstStyle/>
          <a:p>
            <a:pPr algn="l">
              <a:defRPr sz="3000" b="1" i="0">
                <a:solidFill>
                  <a:srgbClr val="B8860B"/>
                </a:solidFill>
                <a:latin typeface="Georgia"/>
              </a:defRPr>
            </a:pPr>
            <a:r>
              <a:t>Data-State Analysis</a:t>
            </a:r>
          </a:p>
        </p:txBody>
      </p:sp>
      <p:sp>
        <p:nvSpPr>
          <p:cNvPr id="7" name="Rectangle 6"/>
          <p:cNvSpPr/>
          <p:nvPr/>
        </p:nvSpPr>
        <p:spPr>
          <a:xfrm>
            <a:off x="822960" y="3977639"/>
            <a:ext cx="2926080" cy="27432"/>
          </a:xfrm>
          <a:prstGeom prst="rect">
            <a:avLst/>
          </a:prstGeom>
          <a:solidFill>
            <a:srgbClr val="3E5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224528"/>
            <a:ext cx="10058400" cy="1005840"/>
          </a:xfrm>
          <a:prstGeom prst="rect">
            <a:avLst/>
          </a:prstGeom>
          <a:noFill/>
        </p:spPr>
        <p:txBody>
          <a:bodyPr wrap="square" lIns="0" rIns="0" tIns="0" bIns="0">
            <a:spAutoFit/>
          </a:bodyPr>
          <a:lstStyle/>
          <a:p>
            <a:pPr algn="l">
              <a:spcAft>
                <a:spcPts val="600"/>
              </a:spcAft>
              <a:defRPr sz="1250" b="0" i="0">
                <a:solidFill>
                  <a:srgbClr val="C5D0DE"/>
                </a:solidFill>
                <a:latin typeface="Calibri"/>
              </a:defRPr>
            </a:pPr>
            <a:r>
              <a:t>Objective 1 — completeness and cleanliness scorecard across field, fund and manager</a:t>
            </a:r>
          </a:p>
          <a:p>
            <a:pPr algn="l">
              <a:spcAft>
                <a:spcPts val="600"/>
              </a:spcAft>
              <a:defRPr sz="1250" b="0" i="0">
                <a:solidFill>
                  <a:srgbClr val="C5D0DE"/>
                </a:solidFill>
                <a:latin typeface="Calibri"/>
              </a:defRPr>
            </a:pPr>
            <a:r>
              <a:t>DSI Capstone  ·  Phase 1 deliverable</a:t>
            </a:r>
          </a:p>
        </p:txBody>
      </p:sp>
      <p:sp>
        <p:nvSpPr>
          <p:cNvPr id="9" name="TextBox 8"/>
          <p:cNvSpPr txBox="1"/>
          <p:nvPr/>
        </p:nvSpPr>
        <p:spPr>
          <a:xfrm>
            <a:off x="822960" y="5623560"/>
            <a:ext cx="2011680" cy="411480"/>
          </a:xfrm>
          <a:prstGeom prst="rect">
            <a:avLst/>
          </a:prstGeom>
          <a:noFill/>
        </p:spPr>
        <p:txBody>
          <a:bodyPr wrap="square" lIns="0" rIns="0" tIns="0" bIns="0">
            <a:spAutoFit/>
          </a:bodyPr>
          <a:lstStyle/>
          <a:p>
            <a:pPr algn="l">
              <a:defRPr sz="2000" b="1" i="0">
                <a:solidFill>
                  <a:srgbClr val="FFFFFF"/>
                </a:solidFill>
                <a:latin typeface="Georgia"/>
              </a:defRPr>
            </a:pPr>
            <a:r>
              <a:t>52,048</a:t>
            </a:r>
          </a:p>
        </p:txBody>
      </p:sp>
      <p:sp>
        <p:nvSpPr>
          <p:cNvPr id="10" name="TextBox 9"/>
          <p:cNvSpPr txBox="1"/>
          <p:nvPr/>
        </p:nvSpPr>
        <p:spPr>
          <a:xfrm>
            <a:off x="822960" y="6053328"/>
            <a:ext cx="2011680" cy="274320"/>
          </a:xfrm>
          <a:prstGeom prst="rect">
            <a:avLst/>
          </a:prstGeom>
          <a:noFill/>
        </p:spPr>
        <p:txBody>
          <a:bodyPr wrap="square" lIns="0" rIns="0" tIns="0" bIns="0">
            <a:spAutoFit/>
          </a:bodyPr>
          <a:lstStyle/>
          <a:p>
            <a:pPr algn="l">
              <a:defRPr sz="800" b="1" i="0">
                <a:solidFill>
                  <a:srgbClr val="B8860B"/>
                </a:solidFill>
                <a:latin typeface="Calibri"/>
              </a:defRPr>
            </a:pPr>
            <a:r>
              <a:t>HOLDINGS</a:t>
            </a:r>
          </a:p>
        </p:txBody>
      </p:sp>
      <p:sp>
        <p:nvSpPr>
          <p:cNvPr id="11" name="TextBox 10"/>
          <p:cNvSpPr txBox="1"/>
          <p:nvPr/>
        </p:nvSpPr>
        <p:spPr>
          <a:xfrm>
            <a:off x="2971800" y="5623560"/>
            <a:ext cx="2011680" cy="411480"/>
          </a:xfrm>
          <a:prstGeom prst="rect">
            <a:avLst/>
          </a:prstGeom>
          <a:noFill/>
        </p:spPr>
        <p:txBody>
          <a:bodyPr wrap="square" lIns="0" rIns="0" tIns="0" bIns="0">
            <a:spAutoFit/>
          </a:bodyPr>
          <a:lstStyle/>
          <a:p>
            <a:pPr algn="l">
              <a:defRPr sz="2000" b="1" i="0">
                <a:solidFill>
                  <a:srgbClr val="FFFFFF"/>
                </a:solidFill>
                <a:latin typeface="Georgia"/>
              </a:defRPr>
            </a:pPr>
            <a:r>
              <a:t>385</a:t>
            </a:r>
          </a:p>
        </p:txBody>
      </p:sp>
      <p:sp>
        <p:nvSpPr>
          <p:cNvPr id="12" name="TextBox 11"/>
          <p:cNvSpPr txBox="1"/>
          <p:nvPr/>
        </p:nvSpPr>
        <p:spPr>
          <a:xfrm>
            <a:off x="2971800" y="6053328"/>
            <a:ext cx="2011680" cy="274320"/>
          </a:xfrm>
          <a:prstGeom prst="rect">
            <a:avLst/>
          </a:prstGeom>
          <a:noFill/>
        </p:spPr>
        <p:txBody>
          <a:bodyPr wrap="square" lIns="0" rIns="0" tIns="0" bIns="0">
            <a:spAutoFit/>
          </a:bodyPr>
          <a:lstStyle/>
          <a:p>
            <a:pPr algn="l">
              <a:defRPr sz="800" b="1" i="0">
                <a:solidFill>
                  <a:srgbClr val="B8860B"/>
                </a:solidFill>
                <a:latin typeface="Calibri"/>
              </a:defRPr>
            </a:pPr>
            <a:r>
              <a:t>FUNDS</a:t>
            </a:r>
          </a:p>
        </p:txBody>
      </p:sp>
      <p:sp>
        <p:nvSpPr>
          <p:cNvPr id="13" name="TextBox 12"/>
          <p:cNvSpPr txBox="1"/>
          <p:nvPr/>
        </p:nvSpPr>
        <p:spPr>
          <a:xfrm>
            <a:off x="5120640" y="5623560"/>
            <a:ext cx="2011680" cy="411480"/>
          </a:xfrm>
          <a:prstGeom prst="rect">
            <a:avLst/>
          </a:prstGeom>
          <a:noFill/>
        </p:spPr>
        <p:txBody>
          <a:bodyPr wrap="square" lIns="0" rIns="0" tIns="0" bIns="0">
            <a:spAutoFit/>
          </a:bodyPr>
          <a:lstStyle/>
          <a:p>
            <a:pPr algn="l">
              <a:defRPr sz="2000" b="1" i="0">
                <a:solidFill>
                  <a:srgbClr val="FFFFFF"/>
                </a:solidFill>
                <a:latin typeface="Georgia"/>
              </a:defRPr>
            </a:pPr>
            <a:r>
              <a:t>101</a:t>
            </a:r>
          </a:p>
        </p:txBody>
      </p:sp>
      <p:sp>
        <p:nvSpPr>
          <p:cNvPr id="14" name="TextBox 13"/>
          <p:cNvSpPr txBox="1"/>
          <p:nvPr/>
        </p:nvSpPr>
        <p:spPr>
          <a:xfrm>
            <a:off x="5120640" y="6053328"/>
            <a:ext cx="2011680" cy="274320"/>
          </a:xfrm>
          <a:prstGeom prst="rect">
            <a:avLst/>
          </a:prstGeom>
          <a:noFill/>
        </p:spPr>
        <p:txBody>
          <a:bodyPr wrap="square" lIns="0" rIns="0" tIns="0" bIns="0">
            <a:spAutoFit/>
          </a:bodyPr>
          <a:lstStyle/>
          <a:p>
            <a:pPr algn="l">
              <a:defRPr sz="800" b="1" i="0">
                <a:solidFill>
                  <a:srgbClr val="B8860B"/>
                </a:solidFill>
                <a:latin typeface="Calibri"/>
              </a:defRPr>
            </a:pPr>
            <a:r>
              <a:t>MANAGERS</a:t>
            </a:r>
          </a:p>
        </p:txBody>
      </p:sp>
      <p:sp>
        <p:nvSpPr>
          <p:cNvPr id="15" name="TextBox 14"/>
          <p:cNvSpPr txBox="1"/>
          <p:nvPr/>
        </p:nvSpPr>
        <p:spPr>
          <a:xfrm>
            <a:off x="7269480" y="5623560"/>
            <a:ext cx="2011680" cy="411480"/>
          </a:xfrm>
          <a:prstGeom prst="rect">
            <a:avLst/>
          </a:prstGeom>
          <a:noFill/>
        </p:spPr>
        <p:txBody>
          <a:bodyPr wrap="square" lIns="0" rIns="0" tIns="0" bIns="0">
            <a:spAutoFit/>
          </a:bodyPr>
          <a:lstStyle/>
          <a:p>
            <a:pPr algn="l">
              <a:defRPr sz="2000" b="1" i="0">
                <a:solidFill>
                  <a:srgbClr val="FFFFFF"/>
                </a:solidFill>
                <a:latin typeface="Georgia"/>
              </a:defRPr>
            </a:pPr>
            <a:r>
              <a:t>8,633</a:t>
            </a:r>
          </a:p>
        </p:txBody>
      </p:sp>
      <p:sp>
        <p:nvSpPr>
          <p:cNvPr id="16" name="TextBox 15"/>
          <p:cNvSpPr txBox="1"/>
          <p:nvPr/>
        </p:nvSpPr>
        <p:spPr>
          <a:xfrm>
            <a:off x="7269480" y="6053328"/>
            <a:ext cx="2011680" cy="274320"/>
          </a:xfrm>
          <a:prstGeom prst="rect">
            <a:avLst/>
          </a:prstGeom>
          <a:noFill/>
        </p:spPr>
        <p:txBody>
          <a:bodyPr wrap="square" lIns="0" rIns="0" tIns="0" bIns="0">
            <a:spAutoFit/>
          </a:bodyPr>
          <a:lstStyle/>
          <a:p>
            <a:pPr algn="l">
              <a:defRPr sz="800" b="1" i="0">
                <a:solidFill>
                  <a:srgbClr val="B8860B"/>
                </a:solidFill>
                <a:latin typeface="Calibri"/>
              </a:defRPr>
            </a:pPr>
            <a:r>
              <a:t>COMPANIES</a:t>
            </a:r>
          </a:p>
        </p:txBody>
      </p:sp>
      <p:sp>
        <p:nvSpPr>
          <p:cNvPr id="17" name="TextBox 16"/>
          <p:cNvSpPr txBox="1"/>
          <p:nvPr/>
        </p:nvSpPr>
        <p:spPr>
          <a:xfrm>
            <a:off x="9418320" y="5623560"/>
            <a:ext cx="2011680" cy="411480"/>
          </a:xfrm>
          <a:prstGeom prst="rect">
            <a:avLst/>
          </a:prstGeom>
          <a:noFill/>
        </p:spPr>
        <p:txBody>
          <a:bodyPr wrap="square" lIns="0" rIns="0" tIns="0" bIns="0">
            <a:spAutoFit/>
          </a:bodyPr>
          <a:lstStyle/>
          <a:p>
            <a:pPr algn="l">
              <a:defRPr sz="2000" b="1" i="0">
                <a:solidFill>
                  <a:srgbClr val="FFFFFF"/>
                </a:solidFill>
                <a:latin typeface="Georgia"/>
              </a:defRPr>
            </a:pPr>
            <a:r>
              <a:t>329</a:t>
            </a:r>
          </a:p>
        </p:txBody>
      </p:sp>
      <p:sp>
        <p:nvSpPr>
          <p:cNvPr id="18" name="TextBox 17"/>
          <p:cNvSpPr txBox="1"/>
          <p:nvPr/>
        </p:nvSpPr>
        <p:spPr>
          <a:xfrm>
            <a:off x="9418320" y="6053328"/>
            <a:ext cx="2011680" cy="274320"/>
          </a:xfrm>
          <a:prstGeom prst="rect">
            <a:avLst/>
          </a:prstGeom>
          <a:noFill/>
        </p:spPr>
        <p:txBody>
          <a:bodyPr wrap="square" lIns="0" rIns="0" tIns="0" bIns="0">
            <a:spAutoFit/>
          </a:bodyPr>
          <a:lstStyle/>
          <a:p>
            <a:pPr algn="l">
              <a:defRPr sz="800" b="1" i="0">
                <a:solidFill>
                  <a:srgbClr val="B8860B"/>
                </a:solidFill>
                <a:latin typeface="Calibri"/>
              </a:defRPr>
            </a:pPr>
            <a:r>
              <a:t>FIELDS</a:t>
            </a:r>
          </a:p>
        </p:txBody>
      </p:sp>
      <p:sp>
        <p:nvSpPr>
          <p:cNvPr id="19" name="TextBox 18"/>
          <p:cNvSpPr txBox="1"/>
          <p:nvPr/>
        </p:nvSpPr>
        <p:spPr>
          <a:xfrm>
            <a:off x="822960" y="6446520"/>
            <a:ext cx="10058400" cy="274320"/>
          </a:xfrm>
          <a:prstGeom prst="rect">
            <a:avLst/>
          </a:prstGeom>
          <a:noFill/>
        </p:spPr>
        <p:txBody>
          <a:bodyPr wrap="square" lIns="0" rIns="0" tIns="0" bIns="0">
            <a:spAutoFit/>
          </a:bodyPr>
          <a:lstStyle/>
          <a:p>
            <a:pPr algn="l">
              <a:defRPr sz="850" b="0" i="0">
                <a:solidFill>
                  <a:srgbClr val="8F9EB4"/>
                </a:solidFill>
                <a:latin typeface="Calibri"/>
              </a:defRPr>
            </a:pPr>
            <a:r>
              <a:t>Data period: December 2024 – March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SCOPE</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What we were asked to deliver</a:t>
            </a:r>
          </a:p>
        </p:txBody>
      </p:sp>
      <p:sp>
        <p:nvSpPr>
          <p:cNvPr id="7" name="TextBox 6"/>
          <p:cNvSpPr txBox="1"/>
          <p:nvPr/>
        </p:nvSpPr>
        <p:spPr>
          <a:xfrm>
            <a:off x="502920" y="1188720"/>
            <a:ext cx="11155680" cy="365760"/>
          </a:xfrm>
          <a:prstGeom prst="rect">
            <a:avLst/>
          </a:prstGeom>
          <a:noFill/>
        </p:spPr>
        <p:txBody>
          <a:bodyPr wrap="square" lIns="0" rIns="0" tIns="0" bIns="0">
            <a:spAutoFit/>
          </a:bodyPr>
          <a:lstStyle/>
          <a:p>
            <a:pPr algn="l">
              <a:defRPr sz="1100" b="0" i="0">
                <a:solidFill>
                  <a:srgbClr val="6E6E6E"/>
                </a:solidFill>
                <a:latin typeface="Calibri"/>
              </a:defRPr>
            </a:pPr>
            <a:r>
              <a:t>The Investment Office receives 400+ fund reports as non-standard PDFs. A third-party vendor flattens them into one CSV. Before that CSV can support any analysis, its trustworthiness has to be measured.</a:t>
            </a:r>
          </a:p>
        </p:txBody>
      </p:sp>
      <p:sp>
        <p:nvSpPr>
          <p:cNvPr id="8" name="Rectangle 7"/>
          <p:cNvSpPr/>
          <p:nvPr/>
        </p:nvSpPr>
        <p:spPr>
          <a:xfrm>
            <a:off x="502920" y="1828800"/>
            <a:ext cx="5486400" cy="320040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548640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5029200" cy="274320"/>
          </a:xfrm>
          <a:prstGeom prst="rect">
            <a:avLst/>
          </a:prstGeom>
          <a:noFill/>
        </p:spPr>
        <p:txBody>
          <a:bodyPr wrap="square" lIns="0" rIns="0" tIns="0" bIns="0">
            <a:spAutoFit/>
          </a:bodyPr>
          <a:lstStyle/>
          <a:p>
            <a:pPr algn="l">
              <a:defRPr sz="900" b="1" i="0">
                <a:solidFill>
                  <a:srgbClr val="4682B4"/>
                </a:solidFill>
                <a:latin typeface="Calibri"/>
              </a:defRPr>
            </a:pPr>
            <a:r>
              <a:t>MANDATE (PROJECT BRIEF)</a:t>
            </a:r>
          </a:p>
        </p:txBody>
      </p:sp>
      <p:sp>
        <p:nvSpPr>
          <p:cNvPr id="11" name="Rectangle 10"/>
          <p:cNvSpPr/>
          <p:nvPr/>
        </p:nvSpPr>
        <p:spPr>
          <a:xfrm>
            <a:off x="731520" y="2532888"/>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450592"/>
            <a:ext cx="4828032" cy="566928"/>
          </a:xfrm>
          <a:prstGeom prst="rect">
            <a:avLst/>
          </a:prstGeom>
          <a:noFill/>
        </p:spPr>
        <p:txBody>
          <a:bodyPr wrap="square" lIns="0" rIns="0" tIns="0" bIns="0">
            <a:spAutoFit/>
          </a:bodyPr>
          <a:lstStyle/>
          <a:p>
            <a:pPr algn="l">
              <a:defRPr sz="1050" b="0" i="0">
                <a:solidFill>
                  <a:srgbClr val="212121"/>
                </a:solidFill>
                <a:latin typeface="Calibri"/>
              </a:defRPr>
            </a:pPr>
            <a:r>
              <a:t>Identify missing data and its cause</a:t>
            </a:r>
          </a:p>
        </p:txBody>
      </p:sp>
      <p:sp>
        <p:nvSpPr>
          <p:cNvPr id="13" name="Rectangle 12"/>
          <p:cNvSpPr/>
          <p:nvPr/>
        </p:nvSpPr>
        <p:spPr>
          <a:xfrm>
            <a:off x="731520" y="3099816"/>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017520"/>
            <a:ext cx="4828032" cy="566928"/>
          </a:xfrm>
          <a:prstGeom prst="rect">
            <a:avLst/>
          </a:prstGeom>
          <a:noFill/>
        </p:spPr>
        <p:txBody>
          <a:bodyPr wrap="square" lIns="0" rIns="0" tIns="0" bIns="0">
            <a:spAutoFit/>
          </a:bodyPr>
          <a:lstStyle/>
          <a:p>
            <a:pPr algn="l">
              <a:defRPr sz="1050" b="0" i="0">
                <a:solidFill>
                  <a:srgbClr val="212121"/>
                </a:solidFill>
                <a:latin typeface="Calibri"/>
              </a:defRPr>
            </a:pPr>
            <a:r>
              <a:t>Catch the same company reported under different names</a:t>
            </a:r>
          </a:p>
        </p:txBody>
      </p:sp>
      <p:sp>
        <p:nvSpPr>
          <p:cNvPr id="15" name="Rectangle 14"/>
          <p:cNvSpPr/>
          <p:nvPr/>
        </p:nvSpPr>
        <p:spPr>
          <a:xfrm>
            <a:off x="731520" y="3666744"/>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584448"/>
            <a:ext cx="4828032" cy="566928"/>
          </a:xfrm>
          <a:prstGeom prst="rect">
            <a:avLst/>
          </a:prstGeom>
          <a:noFill/>
        </p:spPr>
        <p:txBody>
          <a:bodyPr wrap="square" lIns="0" rIns="0" tIns="0" bIns="0">
            <a:spAutoFit/>
          </a:bodyPr>
          <a:lstStyle/>
          <a:p>
            <a:pPr algn="l">
              <a:defRPr sz="1050" b="0" i="0">
                <a:solidFill>
                  <a:srgbClr val="212121"/>
                </a:solidFill>
                <a:latin typeface="Calibri"/>
              </a:defRPr>
            </a:pPr>
            <a:r>
              <a:t>Flag fields that should always be populated but are not</a:t>
            </a:r>
          </a:p>
        </p:txBody>
      </p:sp>
      <p:sp>
        <p:nvSpPr>
          <p:cNvPr id="17" name="Rectangle 16"/>
          <p:cNvSpPr/>
          <p:nvPr/>
        </p:nvSpPr>
        <p:spPr>
          <a:xfrm>
            <a:off x="731520" y="4233672"/>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151376"/>
            <a:ext cx="4828032" cy="566928"/>
          </a:xfrm>
          <a:prstGeom prst="rect">
            <a:avLst/>
          </a:prstGeom>
          <a:noFill/>
        </p:spPr>
        <p:txBody>
          <a:bodyPr wrap="square" lIns="0" rIns="0" tIns="0" bIns="0">
            <a:spAutoFit/>
          </a:bodyPr>
          <a:lstStyle/>
          <a:p>
            <a:pPr algn="l">
              <a:defRPr sz="1050" b="0" i="0">
                <a:solidFill>
                  <a:srgbClr val="212121"/>
                </a:solidFill>
                <a:latin typeface="Calibri"/>
              </a:defRPr>
            </a:pPr>
            <a:r>
              <a:t>Design repeatable procedures Operations can run</a:t>
            </a:r>
          </a:p>
        </p:txBody>
      </p:sp>
      <p:sp>
        <p:nvSpPr>
          <p:cNvPr id="19" name="Rectangle 18"/>
          <p:cNvSpPr/>
          <p:nvPr/>
        </p:nvSpPr>
        <p:spPr>
          <a:xfrm>
            <a:off x="6199632" y="1828800"/>
            <a:ext cx="5486400" cy="320040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1828800"/>
            <a:ext cx="548640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057400"/>
            <a:ext cx="5029200" cy="274320"/>
          </a:xfrm>
          <a:prstGeom prst="rect">
            <a:avLst/>
          </a:prstGeom>
          <a:noFill/>
        </p:spPr>
        <p:txBody>
          <a:bodyPr wrap="square" lIns="0" rIns="0" tIns="0" bIns="0">
            <a:spAutoFit/>
          </a:bodyPr>
          <a:lstStyle/>
          <a:p>
            <a:pPr algn="l">
              <a:defRPr sz="900" b="1" i="0">
                <a:solidFill>
                  <a:srgbClr val="4682B4"/>
                </a:solidFill>
                <a:latin typeface="Calibri"/>
              </a:defRPr>
            </a:pPr>
            <a:r>
              <a:t>THIS DELIVERABLE (OBJECTIVE 1)</a:t>
            </a:r>
          </a:p>
        </p:txBody>
      </p:sp>
      <p:sp>
        <p:nvSpPr>
          <p:cNvPr id="22" name="Rectangle 21"/>
          <p:cNvSpPr/>
          <p:nvPr/>
        </p:nvSpPr>
        <p:spPr>
          <a:xfrm>
            <a:off x="6428232" y="2532888"/>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2450592"/>
            <a:ext cx="4828032" cy="566928"/>
          </a:xfrm>
          <a:prstGeom prst="rect">
            <a:avLst/>
          </a:prstGeom>
          <a:noFill/>
        </p:spPr>
        <p:txBody>
          <a:bodyPr wrap="square" lIns="0" rIns="0" tIns="0" bIns="0">
            <a:spAutoFit/>
          </a:bodyPr>
          <a:lstStyle/>
          <a:p>
            <a:pPr algn="l">
              <a:defRPr sz="1050" b="0" i="0">
                <a:solidFill>
                  <a:srgbClr val="212121"/>
                </a:solidFill>
                <a:latin typeface="Calibri"/>
              </a:defRPr>
            </a:pPr>
            <a:r>
              <a:t>Completeness scored by field, by fund, by manager</a:t>
            </a:r>
          </a:p>
        </p:txBody>
      </p:sp>
      <p:sp>
        <p:nvSpPr>
          <p:cNvPr id="24" name="Rectangle 23"/>
          <p:cNvSpPr/>
          <p:nvPr/>
        </p:nvSpPr>
        <p:spPr>
          <a:xfrm>
            <a:off x="6428232" y="3099816"/>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3017520"/>
            <a:ext cx="4828032" cy="566928"/>
          </a:xfrm>
          <a:prstGeom prst="rect">
            <a:avLst/>
          </a:prstGeom>
          <a:noFill/>
        </p:spPr>
        <p:txBody>
          <a:bodyPr wrap="square" lIns="0" rIns="0" tIns="0" bIns="0">
            <a:spAutoFit/>
          </a:bodyPr>
          <a:lstStyle/>
          <a:p>
            <a:pPr algn="l">
              <a:defRPr sz="1050" b="0" i="0">
                <a:solidFill>
                  <a:srgbClr val="212121"/>
                </a:solidFill>
                <a:latin typeface="Calibri"/>
              </a:defRPr>
            </a:pPr>
            <a:r>
              <a:t>Gap concentration quantified and ranked</a:t>
            </a:r>
          </a:p>
        </p:txBody>
      </p:sp>
      <p:sp>
        <p:nvSpPr>
          <p:cNvPr id="26" name="Rectangle 25"/>
          <p:cNvSpPr/>
          <p:nvPr/>
        </p:nvSpPr>
        <p:spPr>
          <a:xfrm>
            <a:off x="6428232" y="3666744"/>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3584448"/>
            <a:ext cx="4828032" cy="566928"/>
          </a:xfrm>
          <a:prstGeom prst="rect">
            <a:avLst/>
          </a:prstGeom>
          <a:noFill/>
        </p:spPr>
        <p:txBody>
          <a:bodyPr wrap="square" lIns="0" rIns="0" tIns="0" bIns="0">
            <a:spAutoFit/>
          </a:bodyPr>
          <a:lstStyle/>
          <a:p>
            <a:pPr algn="l">
              <a:defRPr sz="1050" b="0" i="0">
                <a:solidFill>
                  <a:srgbClr val="212121"/>
                </a:solidFill>
                <a:latin typeface="Calibri"/>
              </a:defRPr>
            </a:pPr>
            <a:r>
              <a:t>Flagged-record extract for GP follow-up</a:t>
            </a:r>
          </a:p>
        </p:txBody>
      </p:sp>
      <p:sp>
        <p:nvSpPr>
          <p:cNvPr id="28" name="Rectangle 27"/>
          <p:cNvSpPr/>
          <p:nvPr/>
        </p:nvSpPr>
        <p:spPr>
          <a:xfrm>
            <a:off x="6428232" y="4233672"/>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4151376"/>
            <a:ext cx="4828032" cy="566928"/>
          </a:xfrm>
          <a:prstGeom prst="rect">
            <a:avLst/>
          </a:prstGeom>
          <a:noFill/>
        </p:spPr>
        <p:txBody>
          <a:bodyPr wrap="square" lIns="0" rIns="0" tIns="0" bIns="0">
            <a:spAutoFit/>
          </a:bodyPr>
          <a:lstStyle/>
          <a:p>
            <a:pPr algn="l">
              <a:defRPr sz="1050" b="0" i="0">
                <a:solidFill>
                  <a:srgbClr val="212121"/>
                </a:solidFill>
                <a:latin typeface="Calibri"/>
              </a:defRPr>
            </a:pPr>
            <a:r>
              <a:t>Entity-resolution scope sized for Phase 2</a:t>
            </a:r>
          </a:p>
        </p:txBody>
      </p:sp>
      <p:sp>
        <p:nvSpPr>
          <p:cNvPr id="30" name="Rectangle 29"/>
          <p:cNvSpPr/>
          <p:nvPr/>
        </p:nvSpPr>
        <p:spPr>
          <a:xfrm>
            <a:off x="502920" y="5257800"/>
            <a:ext cx="11185855" cy="713232"/>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257800"/>
            <a:ext cx="50292" cy="71323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5376672"/>
            <a:ext cx="10774375" cy="530352"/>
          </a:xfrm>
          <a:prstGeom prst="rect">
            <a:avLst/>
          </a:prstGeom>
          <a:noFill/>
        </p:spPr>
        <p:txBody>
          <a:bodyPr wrap="square" lIns="0" rIns="0" tIns="0" bIns="0">
            <a:spAutoFit/>
          </a:bodyPr>
          <a:lstStyle/>
          <a:p>
            <a:pPr algn="l">
              <a:defRPr sz="1050" b="0" i="0">
                <a:solidFill>
                  <a:srgbClr val="212121"/>
                </a:solidFill>
                <a:latin typeface="Calibri"/>
              </a:defRPr>
            </a:pPr>
            <a:r>
              <a:t>Success test from the brief: every major field assessed, and findings clear enough for Operations to prioritise remediation without a data scientist in the room.</a:t>
            </a:r>
          </a:p>
        </p:txBody>
      </p:sp>
      <p:sp>
        <p:nvSpPr>
          <p:cNvPr id="33" name="Rectangle 32"/>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Source: Private Fund Holdings — Project Detail, Brown University Investment Office</a:t>
            </a:r>
          </a:p>
        </p:txBody>
      </p:sp>
      <p:sp>
        <p:nvSpPr>
          <p:cNvPr id="35" name="TextBox 34"/>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APPROACH</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Method</a:t>
            </a:r>
          </a:p>
        </p:txBody>
      </p:sp>
      <p:sp>
        <p:nvSpPr>
          <p:cNvPr id="7" name="Rectangle 6"/>
          <p:cNvSpPr/>
          <p:nvPr/>
        </p:nvSpPr>
        <p:spPr>
          <a:xfrm>
            <a:off x="502920" y="1207008"/>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44168"/>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01</a:t>
            </a:r>
          </a:p>
        </p:txBody>
      </p:sp>
      <p:sp>
        <p:nvSpPr>
          <p:cNvPr id="9" name="Rectangle 8"/>
          <p:cNvSpPr/>
          <p:nvPr/>
        </p:nvSpPr>
        <p:spPr>
          <a:xfrm>
            <a:off x="1069848" y="1207008"/>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289304"/>
            <a:ext cx="6400800" cy="274320"/>
          </a:xfrm>
          <a:prstGeom prst="rect">
            <a:avLst/>
          </a:prstGeom>
          <a:noFill/>
        </p:spPr>
        <p:txBody>
          <a:bodyPr wrap="square" lIns="0" rIns="0" tIns="0" bIns="0">
            <a:spAutoFit/>
          </a:bodyPr>
          <a:lstStyle/>
          <a:p>
            <a:pPr algn="l">
              <a:defRPr sz="1150" b="1" i="0">
                <a:solidFill>
                  <a:srgbClr val="212121"/>
                </a:solidFill>
                <a:latin typeface="Calibri"/>
              </a:defRPr>
            </a:pPr>
            <a:r>
              <a:t>Load and inspect</a:t>
            </a:r>
          </a:p>
        </p:txBody>
      </p:sp>
      <p:sp>
        <p:nvSpPr>
          <p:cNvPr id="11" name="TextBox 10"/>
          <p:cNvSpPr txBox="1"/>
          <p:nvPr/>
        </p:nvSpPr>
        <p:spPr>
          <a:xfrm>
            <a:off x="1280160" y="1499616"/>
            <a:ext cx="6400800" cy="256032"/>
          </a:xfrm>
          <a:prstGeom prst="rect">
            <a:avLst/>
          </a:prstGeom>
          <a:noFill/>
        </p:spPr>
        <p:txBody>
          <a:bodyPr wrap="square" lIns="0" rIns="0" tIns="0" bIns="0">
            <a:spAutoFit/>
          </a:bodyPr>
          <a:lstStyle/>
          <a:p>
            <a:pPr algn="l">
              <a:defRPr sz="950" b="0" i="0">
                <a:solidFill>
                  <a:srgbClr val="6E6E6E"/>
                </a:solidFill>
                <a:latin typeface="Calibri"/>
              </a:defRPr>
            </a:pPr>
            <a:r>
              <a:t>837 columns profiled; zero-information attributes dropped</a:t>
            </a:r>
          </a:p>
        </p:txBody>
      </p:sp>
      <p:sp>
        <p:nvSpPr>
          <p:cNvPr id="12" name="Rectangle 11"/>
          <p:cNvSpPr/>
          <p:nvPr/>
        </p:nvSpPr>
        <p:spPr>
          <a:xfrm>
            <a:off x="502920" y="1865376"/>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02536"/>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02</a:t>
            </a:r>
          </a:p>
        </p:txBody>
      </p:sp>
      <p:sp>
        <p:nvSpPr>
          <p:cNvPr id="14" name="Rectangle 13"/>
          <p:cNvSpPr/>
          <p:nvPr/>
        </p:nvSpPr>
        <p:spPr>
          <a:xfrm>
            <a:off x="1069848" y="1865376"/>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1947672"/>
            <a:ext cx="6400800" cy="274320"/>
          </a:xfrm>
          <a:prstGeom prst="rect">
            <a:avLst/>
          </a:prstGeom>
          <a:noFill/>
        </p:spPr>
        <p:txBody>
          <a:bodyPr wrap="square" lIns="0" rIns="0" tIns="0" bIns="0">
            <a:spAutoFit/>
          </a:bodyPr>
          <a:lstStyle/>
          <a:p>
            <a:pPr algn="l">
              <a:defRPr sz="1150" b="1" i="0">
                <a:solidFill>
                  <a:srgbClr val="212121"/>
                </a:solidFill>
                <a:latin typeface="Calibri"/>
              </a:defRPr>
            </a:pPr>
            <a:r>
              <a:t>Exclude non-investments</a:t>
            </a:r>
          </a:p>
        </p:txBody>
      </p:sp>
      <p:sp>
        <p:nvSpPr>
          <p:cNvPr id="16" name="TextBox 15"/>
          <p:cNvSpPr txBox="1"/>
          <p:nvPr/>
        </p:nvSpPr>
        <p:spPr>
          <a:xfrm>
            <a:off x="1280160" y="2157984"/>
            <a:ext cx="6400800" cy="256032"/>
          </a:xfrm>
          <a:prstGeom prst="rect">
            <a:avLst/>
          </a:prstGeom>
          <a:noFill/>
        </p:spPr>
        <p:txBody>
          <a:bodyPr wrap="square" lIns="0" rIns="0" tIns="0" bIns="0">
            <a:spAutoFit/>
          </a:bodyPr>
          <a:lstStyle/>
          <a:p>
            <a:pPr algn="l">
              <a:defRPr sz="950" b="0" i="0">
                <a:solidFill>
                  <a:srgbClr val="6E6E6E"/>
                </a:solidFill>
                <a:latin typeface="Calibri"/>
              </a:defRPr>
            </a:pPr>
            <a:r>
              <a:t>Cash, other assets and liability lines removed from scoring</a:t>
            </a:r>
          </a:p>
        </p:txBody>
      </p:sp>
      <p:sp>
        <p:nvSpPr>
          <p:cNvPr id="17" name="Rectangle 16"/>
          <p:cNvSpPr/>
          <p:nvPr/>
        </p:nvSpPr>
        <p:spPr>
          <a:xfrm>
            <a:off x="502920" y="2523744"/>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660903"/>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03</a:t>
            </a:r>
          </a:p>
        </p:txBody>
      </p:sp>
      <p:sp>
        <p:nvSpPr>
          <p:cNvPr id="19" name="Rectangle 18"/>
          <p:cNvSpPr/>
          <p:nvPr/>
        </p:nvSpPr>
        <p:spPr>
          <a:xfrm>
            <a:off x="1069848" y="2523744"/>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2606039"/>
            <a:ext cx="6400800" cy="274320"/>
          </a:xfrm>
          <a:prstGeom prst="rect">
            <a:avLst/>
          </a:prstGeom>
          <a:noFill/>
        </p:spPr>
        <p:txBody>
          <a:bodyPr wrap="square" lIns="0" rIns="0" tIns="0" bIns="0">
            <a:spAutoFit/>
          </a:bodyPr>
          <a:lstStyle/>
          <a:p>
            <a:pPr algn="l">
              <a:defRPr sz="1150" b="1" i="0">
                <a:solidFill>
                  <a:srgbClr val="212121"/>
                </a:solidFill>
                <a:latin typeface="Calibri"/>
              </a:defRPr>
            </a:pPr>
            <a:r>
              <a:t>Score by field</a:t>
            </a:r>
          </a:p>
        </p:txBody>
      </p:sp>
      <p:sp>
        <p:nvSpPr>
          <p:cNvPr id="21" name="TextBox 20"/>
          <p:cNvSpPr txBox="1"/>
          <p:nvPr/>
        </p:nvSpPr>
        <p:spPr>
          <a:xfrm>
            <a:off x="1280160" y="2816351"/>
            <a:ext cx="6400800" cy="256032"/>
          </a:xfrm>
          <a:prstGeom prst="rect">
            <a:avLst/>
          </a:prstGeom>
          <a:noFill/>
        </p:spPr>
        <p:txBody>
          <a:bodyPr wrap="square" lIns="0" rIns="0" tIns="0" bIns="0">
            <a:spAutoFit/>
          </a:bodyPr>
          <a:lstStyle/>
          <a:p>
            <a:pPr algn="l">
              <a:defRPr sz="950" b="0" i="0">
                <a:solidFill>
                  <a:srgbClr val="6E6E6E"/>
                </a:solidFill>
                <a:latin typeface="Calibri"/>
              </a:defRPr>
            </a:pPr>
            <a:r>
              <a:t>Fill rates overall and by functional category</a:t>
            </a:r>
          </a:p>
        </p:txBody>
      </p:sp>
      <p:sp>
        <p:nvSpPr>
          <p:cNvPr id="22" name="Rectangle 21"/>
          <p:cNvSpPr/>
          <p:nvPr/>
        </p:nvSpPr>
        <p:spPr>
          <a:xfrm>
            <a:off x="502920" y="3182112"/>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319272"/>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04</a:t>
            </a:r>
          </a:p>
        </p:txBody>
      </p:sp>
      <p:sp>
        <p:nvSpPr>
          <p:cNvPr id="24" name="Rectangle 23"/>
          <p:cNvSpPr/>
          <p:nvPr/>
        </p:nvSpPr>
        <p:spPr>
          <a:xfrm>
            <a:off x="1069848" y="3182112"/>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3264408"/>
            <a:ext cx="6400800" cy="274320"/>
          </a:xfrm>
          <a:prstGeom prst="rect">
            <a:avLst/>
          </a:prstGeom>
          <a:noFill/>
        </p:spPr>
        <p:txBody>
          <a:bodyPr wrap="square" lIns="0" rIns="0" tIns="0" bIns="0">
            <a:spAutoFit/>
          </a:bodyPr>
          <a:lstStyle/>
          <a:p>
            <a:pPr algn="l">
              <a:defRPr sz="1150" b="1" i="0">
                <a:solidFill>
                  <a:srgbClr val="212121"/>
                </a:solidFill>
                <a:latin typeface="Calibri"/>
              </a:defRPr>
            </a:pPr>
            <a:r>
              <a:t>Score by fund</a:t>
            </a:r>
          </a:p>
        </p:txBody>
      </p:sp>
      <p:sp>
        <p:nvSpPr>
          <p:cNvPr id="26" name="TextBox 25"/>
          <p:cNvSpPr txBox="1"/>
          <p:nvPr/>
        </p:nvSpPr>
        <p:spPr>
          <a:xfrm>
            <a:off x="1280160" y="3474720"/>
            <a:ext cx="6400800" cy="256032"/>
          </a:xfrm>
          <a:prstGeom prst="rect">
            <a:avLst/>
          </a:prstGeom>
          <a:noFill/>
        </p:spPr>
        <p:txBody>
          <a:bodyPr wrap="square" lIns="0" rIns="0" tIns="0" bIns="0">
            <a:spAutoFit/>
          </a:bodyPr>
          <a:lstStyle/>
          <a:p>
            <a:pPr algn="l">
              <a:defRPr sz="950" b="0" i="0">
                <a:solidFill>
                  <a:srgbClr val="6E6E6E"/>
                </a:solidFill>
                <a:latin typeface="Calibri"/>
              </a:defRPr>
            </a:pPr>
            <a:r>
              <a:t>385 vehicles ranked; outliers isolated at ±2σ</a:t>
            </a:r>
          </a:p>
        </p:txBody>
      </p:sp>
      <p:sp>
        <p:nvSpPr>
          <p:cNvPr id="27" name="Rectangle 26"/>
          <p:cNvSpPr/>
          <p:nvPr/>
        </p:nvSpPr>
        <p:spPr>
          <a:xfrm>
            <a:off x="502920" y="3840480"/>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977640"/>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05</a:t>
            </a:r>
          </a:p>
        </p:txBody>
      </p:sp>
      <p:sp>
        <p:nvSpPr>
          <p:cNvPr id="29" name="Rectangle 28"/>
          <p:cNvSpPr/>
          <p:nvPr/>
        </p:nvSpPr>
        <p:spPr>
          <a:xfrm>
            <a:off x="1069848" y="3840480"/>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0" y="3922776"/>
            <a:ext cx="6400800" cy="274320"/>
          </a:xfrm>
          <a:prstGeom prst="rect">
            <a:avLst/>
          </a:prstGeom>
          <a:noFill/>
        </p:spPr>
        <p:txBody>
          <a:bodyPr wrap="square" lIns="0" rIns="0" tIns="0" bIns="0">
            <a:spAutoFit/>
          </a:bodyPr>
          <a:lstStyle/>
          <a:p>
            <a:pPr algn="l">
              <a:defRPr sz="1150" b="1" i="0">
                <a:solidFill>
                  <a:srgbClr val="212121"/>
                </a:solidFill>
                <a:latin typeface="Calibri"/>
              </a:defRPr>
            </a:pPr>
            <a:r>
              <a:t>Score by manager</a:t>
            </a:r>
          </a:p>
        </p:txBody>
      </p:sp>
      <p:sp>
        <p:nvSpPr>
          <p:cNvPr id="31" name="TextBox 30"/>
          <p:cNvSpPr txBox="1"/>
          <p:nvPr/>
        </p:nvSpPr>
        <p:spPr>
          <a:xfrm>
            <a:off x="1280160" y="4133088"/>
            <a:ext cx="6400800" cy="256032"/>
          </a:xfrm>
          <a:prstGeom prst="rect">
            <a:avLst/>
          </a:prstGeom>
          <a:noFill/>
        </p:spPr>
        <p:txBody>
          <a:bodyPr wrap="square" lIns="0" rIns="0" tIns="0" bIns="0">
            <a:spAutoFit/>
          </a:bodyPr>
          <a:lstStyle/>
          <a:p>
            <a:pPr algn="l">
              <a:defRPr sz="950" b="0" i="0">
                <a:solidFill>
                  <a:srgbClr val="6E6E6E"/>
                </a:solidFill>
                <a:latin typeface="Calibri"/>
              </a:defRPr>
            </a:pPr>
            <a:r>
              <a:t>101 GPs ranked; within-GP fund variance measured</a:t>
            </a:r>
          </a:p>
        </p:txBody>
      </p:sp>
      <p:sp>
        <p:nvSpPr>
          <p:cNvPr id="32" name="Rectangle 31"/>
          <p:cNvSpPr/>
          <p:nvPr/>
        </p:nvSpPr>
        <p:spPr>
          <a:xfrm>
            <a:off x="502920" y="4498848"/>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4636008"/>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06</a:t>
            </a:r>
          </a:p>
        </p:txBody>
      </p:sp>
      <p:sp>
        <p:nvSpPr>
          <p:cNvPr id="34" name="Rectangle 33"/>
          <p:cNvSpPr/>
          <p:nvPr/>
        </p:nvSpPr>
        <p:spPr>
          <a:xfrm>
            <a:off x="1069848" y="4498848"/>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80160" y="4581144"/>
            <a:ext cx="6400800" cy="274320"/>
          </a:xfrm>
          <a:prstGeom prst="rect">
            <a:avLst/>
          </a:prstGeom>
          <a:noFill/>
        </p:spPr>
        <p:txBody>
          <a:bodyPr wrap="square" lIns="0" rIns="0" tIns="0" bIns="0">
            <a:spAutoFit/>
          </a:bodyPr>
          <a:lstStyle/>
          <a:p>
            <a:pPr algn="l">
              <a:defRPr sz="1150" b="1" i="0">
                <a:solidFill>
                  <a:srgbClr val="212121"/>
                </a:solidFill>
                <a:latin typeface="Calibri"/>
              </a:defRPr>
            </a:pPr>
            <a:r>
              <a:t>Size entity resolution</a:t>
            </a:r>
          </a:p>
        </p:txBody>
      </p:sp>
      <p:sp>
        <p:nvSpPr>
          <p:cNvPr id="36" name="TextBox 35"/>
          <p:cNvSpPr txBox="1"/>
          <p:nvPr/>
        </p:nvSpPr>
        <p:spPr>
          <a:xfrm>
            <a:off x="1280160" y="4791456"/>
            <a:ext cx="6400800" cy="256032"/>
          </a:xfrm>
          <a:prstGeom prst="rect">
            <a:avLst/>
          </a:prstGeom>
          <a:noFill/>
        </p:spPr>
        <p:txBody>
          <a:bodyPr wrap="square" lIns="0" rIns="0" tIns="0" bIns="0">
            <a:spAutoFit/>
          </a:bodyPr>
          <a:lstStyle/>
          <a:p>
            <a:pPr algn="l">
              <a:defRPr sz="950" b="0" i="0">
                <a:solidFill>
                  <a:srgbClr val="6E6E6E"/>
                </a:solidFill>
                <a:latin typeface="Calibri"/>
              </a:defRPr>
            </a:pPr>
            <a:r>
              <a:t>Companies appearing under more than one fund counted</a:t>
            </a:r>
          </a:p>
        </p:txBody>
      </p:sp>
      <p:sp>
        <p:nvSpPr>
          <p:cNvPr id="37" name="Rectangle 36"/>
          <p:cNvSpPr/>
          <p:nvPr/>
        </p:nvSpPr>
        <p:spPr>
          <a:xfrm>
            <a:off x="502920" y="5157216"/>
            <a:ext cx="566928" cy="54864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5294376"/>
            <a:ext cx="566928" cy="320040"/>
          </a:xfrm>
          <a:prstGeom prst="rect">
            <a:avLst/>
          </a:prstGeom>
          <a:noFill/>
        </p:spPr>
        <p:txBody>
          <a:bodyPr wrap="square" lIns="0" rIns="0" tIns="0" bIns="0">
            <a:spAutoFit/>
          </a:bodyPr>
          <a:lstStyle/>
          <a:p>
            <a:pPr algn="ctr">
              <a:defRPr sz="1300" b="1" i="0">
                <a:solidFill>
                  <a:srgbClr val="B8860B"/>
                </a:solidFill>
                <a:latin typeface="Calibri"/>
              </a:defRPr>
            </a:pPr>
            <a:r>
              <a:t>07</a:t>
            </a:r>
          </a:p>
        </p:txBody>
      </p:sp>
      <p:sp>
        <p:nvSpPr>
          <p:cNvPr id="39" name="Rectangle 38"/>
          <p:cNvSpPr/>
          <p:nvPr/>
        </p:nvSpPr>
        <p:spPr>
          <a:xfrm>
            <a:off x="1069848" y="5157216"/>
            <a:ext cx="6766560" cy="54864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80160" y="5239512"/>
            <a:ext cx="6400800" cy="274320"/>
          </a:xfrm>
          <a:prstGeom prst="rect">
            <a:avLst/>
          </a:prstGeom>
          <a:noFill/>
        </p:spPr>
        <p:txBody>
          <a:bodyPr wrap="square" lIns="0" rIns="0" tIns="0" bIns="0">
            <a:spAutoFit/>
          </a:bodyPr>
          <a:lstStyle/>
          <a:p>
            <a:pPr algn="l">
              <a:defRPr sz="1150" b="1" i="0">
                <a:solidFill>
                  <a:srgbClr val="212121"/>
                </a:solidFill>
                <a:latin typeface="Calibri"/>
              </a:defRPr>
            </a:pPr>
            <a:r>
              <a:t>Export</a:t>
            </a:r>
          </a:p>
        </p:txBody>
      </p:sp>
      <p:sp>
        <p:nvSpPr>
          <p:cNvPr id="41" name="TextBox 40"/>
          <p:cNvSpPr txBox="1"/>
          <p:nvPr/>
        </p:nvSpPr>
        <p:spPr>
          <a:xfrm>
            <a:off x="1280160" y="5449824"/>
            <a:ext cx="6400800" cy="256032"/>
          </a:xfrm>
          <a:prstGeom prst="rect">
            <a:avLst/>
          </a:prstGeom>
          <a:noFill/>
        </p:spPr>
        <p:txBody>
          <a:bodyPr wrap="square" lIns="0" rIns="0" tIns="0" bIns="0">
            <a:spAutoFit/>
          </a:bodyPr>
          <a:lstStyle/>
          <a:p>
            <a:pPr algn="l">
              <a:defRPr sz="950" b="0" i="0">
                <a:solidFill>
                  <a:srgbClr val="6E6E6E"/>
                </a:solidFill>
                <a:latin typeface="Calibri"/>
              </a:defRPr>
            </a:pPr>
            <a:r>
              <a:t>Flagged records and scorecards written for Operations</a:t>
            </a:r>
          </a:p>
        </p:txBody>
      </p:sp>
      <p:sp>
        <p:nvSpPr>
          <p:cNvPr id="42" name="Rectangle 41"/>
          <p:cNvSpPr/>
          <p:nvPr/>
        </p:nvSpPr>
        <p:spPr>
          <a:xfrm>
            <a:off x="8092440" y="1207008"/>
            <a:ext cx="3593592" cy="32461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92440" y="1207008"/>
            <a:ext cx="3593592"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02752" y="1444752"/>
            <a:ext cx="3200400" cy="274320"/>
          </a:xfrm>
          <a:prstGeom prst="rect">
            <a:avLst/>
          </a:prstGeom>
          <a:noFill/>
        </p:spPr>
        <p:txBody>
          <a:bodyPr wrap="square" lIns="0" rIns="0" tIns="0" bIns="0">
            <a:spAutoFit/>
          </a:bodyPr>
          <a:lstStyle/>
          <a:p>
            <a:pPr algn="l">
              <a:defRPr sz="900" b="1" i="0">
                <a:solidFill>
                  <a:srgbClr val="4682B4"/>
                </a:solidFill>
                <a:latin typeface="Calibri"/>
              </a:defRPr>
            </a:pPr>
            <a:r>
              <a:t>SCORING RULE</a:t>
            </a:r>
          </a:p>
        </p:txBody>
      </p:sp>
      <p:sp>
        <p:nvSpPr>
          <p:cNvPr id="45" name="TextBox 44"/>
          <p:cNvSpPr txBox="1"/>
          <p:nvPr/>
        </p:nvSpPr>
        <p:spPr>
          <a:xfrm>
            <a:off x="8302752" y="1828800"/>
            <a:ext cx="3200400" cy="1371600"/>
          </a:xfrm>
          <a:prstGeom prst="rect">
            <a:avLst/>
          </a:prstGeom>
          <a:noFill/>
        </p:spPr>
        <p:txBody>
          <a:bodyPr wrap="square" lIns="0" rIns="0" tIns="0" bIns="0">
            <a:spAutoFit/>
          </a:bodyPr>
          <a:lstStyle/>
          <a:p>
            <a:pPr algn="l">
              <a:spcAft>
                <a:spcPts val="300"/>
              </a:spcAft>
              <a:defRPr sz="1000" b="0" i="0">
                <a:solidFill>
                  <a:srgbClr val="212121"/>
                </a:solidFill>
                <a:latin typeface="Calibri"/>
              </a:defRPr>
            </a:pPr>
            <a:r>
              <a:t>Completeness of a fund =</a:t>
            </a:r>
          </a:p>
          <a:p>
            <a:pPr algn="l">
              <a:spcAft>
                <a:spcPts val="300"/>
              </a:spcAft>
              <a:defRPr sz="1000" b="0" i="0">
                <a:solidFill>
                  <a:srgbClr val="212121"/>
                </a:solidFill>
                <a:latin typeface="Calibri"/>
              </a:defRPr>
            </a:pPr>
          </a:p>
          <a:p>
            <a:pPr algn="l">
              <a:spcAft>
                <a:spcPts val="300"/>
              </a:spcAft>
              <a:defRPr sz="1000" b="0" i="0">
                <a:solidFill>
                  <a:srgbClr val="212121"/>
                </a:solidFill>
                <a:latin typeface="Calibri"/>
              </a:defRPr>
            </a:pPr>
            <a:r>
              <a:t>non-null mandatory cells</a:t>
            </a:r>
          </a:p>
          <a:p>
            <a:pPr algn="l">
              <a:spcAft>
                <a:spcPts val="300"/>
              </a:spcAft>
              <a:defRPr sz="1000" b="0" i="0">
                <a:solidFill>
                  <a:srgbClr val="212121"/>
                </a:solidFill>
                <a:latin typeface="Calibri"/>
              </a:defRPr>
            </a:pPr>
            <a:r>
              <a:t>———————————————</a:t>
            </a:r>
          </a:p>
          <a:p>
            <a:pPr algn="l">
              <a:spcAft>
                <a:spcPts val="300"/>
              </a:spcAft>
              <a:defRPr sz="1000" b="0" i="0">
                <a:solidFill>
                  <a:srgbClr val="212121"/>
                </a:solidFill>
                <a:latin typeface="Calibri"/>
              </a:defRPr>
            </a:pPr>
            <a:r>
              <a:t>real rows × 7 fields</a:t>
            </a:r>
          </a:p>
        </p:txBody>
      </p:sp>
      <p:sp>
        <p:nvSpPr>
          <p:cNvPr id="46" name="TextBox 45"/>
          <p:cNvSpPr txBox="1"/>
          <p:nvPr/>
        </p:nvSpPr>
        <p:spPr>
          <a:xfrm>
            <a:off x="8302752" y="3246120"/>
            <a:ext cx="3200400" cy="1097280"/>
          </a:xfrm>
          <a:prstGeom prst="rect">
            <a:avLst/>
          </a:prstGeom>
          <a:noFill/>
        </p:spPr>
        <p:txBody>
          <a:bodyPr wrap="square" lIns="0" rIns="0" tIns="0" bIns="0">
            <a:spAutoFit/>
          </a:bodyPr>
          <a:lstStyle/>
          <a:p>
            <a:pPr algn="l">
              <a:spcAft>
                <a:spcPts val="200"/>
              </a:spcAft>
              <a:defRPr sz="900" b="0" i="0">
                <a:solidFill>
                  <a:srgbClr val="6E6E6E"/>
                </a:solidFill>
                <a:latin typeface="Calibri"/>
              </a:defRPr>
            </a:pPr>
            <a:r>
              <a:t>Seven mandatory fields:</a:t>
            </a:r>
          </a:p>
          <a:p>
            <a:pPr algn="l">
              <a:spcAft>
                <a:spcPts val="200"/>
              </a:spcAft>
              <a:defRPr sz="900" b="0" i="0">
                <a:solidFill>
                  <a:srgbClr val="6E6E6E"/>
                </a:solidFill>
                <a:latin typeface="Calibri"/>
              </a:defRPr>
            </a:pPr>
            <a:r>
              <a:t>Deal Status · Current Cost ·</a:t>
            </a:r>
          </a:p>
          <a:p>
            <a:pPr algn="l">
              <a:spcAft>
                <a:spcPts val="200"/>
              </a:spcAft>
              <a:defRPr sz="900" b="0" i="0">
                <a:solidFill>
                  <a:srgbClr val="6E6E6E"/>
                </a:solidFill>
                <a:latin typeface="Calibri"/>
              </a:defRPr>
            </a:pPr>
            <a:r>
              <a:t>Unrealized Value · Capital Invested</a:t>
            </a:r>
          </a:p>
          <a:p>
            <a:pPr algn="l">
              <a:spcAft>
                <a:spcPts val="200"/>
              </a:spcAft>
              <a:defRPr sz="900" b="0" i="0">
                <a:solidFill>
                  <a:srgbClr val="6E6E6E"/>
                </a:solidFill>
                <a:latin typeface="Calibri"/>
              </a:defRPr>
            </a:pPr>
            <a:r>
              <a:t>Sector · Geographic Focus · Total Value</a:t>
            </a:r>
          </a:p>
        </p:txBody>
      </p:sp>
      <p:sp>
        <p:nvSpPr>
          <p:cNvPr id="47" name="Rectangle 46"/>
          <p:cNvSpPr/>
          <p:nvPr/>
        </p:nvSpPr>
        <p:spPr>
          <a:xfrm>
            <a:off x="8092440" y="4617720"/>
            <a:ext cx="3593592" cy="137160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92440" y="4617720"/>
            <a:ext cx="50292" cy="13716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02752" y="4800600"/>
            <a:ext cx="3200400" cy="1005840"/>
          </a:xfrm>
          <a:prstGeom prst="rect">
            <a:avLst/>
          </a:prstGeom>
          <a:noFill/>
        </p:spPr>
        <p:txBody>
          <a:bodyPr wrap="square" lIns="0" rIns="0" tIns="0" bIns="0">
            <a:spAutoFit/>
          </a:bodyPr>
          <a:lstStyle/>
          <a:p>
            <a:pPr algn="l">
              <a:spcAft>
                <a:spcPts val="300"/>
              </a:spcAft>
              <a:defRPr sz="900" b="0" i="0">
                <a:solidFill>
                  <a:srgbClr val="212121"/>
                </a:solidFill>
                <a:latin typeface="Calibri"/>
              </a:defRPr>
            </a:pPr>
            <a:r>
              <a:t>GUARDRAIL</a:t>
            </a:r>
          </a:p>
          <a:p>
            <a:pPr algn="l">
              <a:spcAft>
                <a:spcPts val="300"/>
              </a:spcAft>
              <a:defRPr sz="900" b="0" i="0">
                <a:solidFill>
                  <a:srgbClr val="212121"/>
                </a:solidFill>
                <a:latin typeface="Calibri"/>
              </a:defRPr>
            </a:pPr>
          </a:p>
          <a:p>
            <a:pPr algn="l">
              <a:spcAft>
                <a:spcPts val="300"/>
              </a:spcAft>
              <a:defRPr sz="900" b="0" i="0">
                <a:solidFill>
                  <a:srgbClr val="212121"/>
                </a:solidFill>
                <a:latin typeface="Calibri"/>
              </a:defRPr>
            </a:pPr>
            <a:r>
              <a:t>Managers with fewer than 20 rows are reported separately. Three holdings and one blank Sector should not read as a reporting failure.</a:t>
            </a:r>
          </a:p>
        </p:txBody>
      </p:sp>
      <p:sp>
        <p:nvSpPr>
          <p:cNvPr id="50" name="Rectangle 49"/>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Scoring is computed on real investment rows only</a:t>
            </a:r>
          </a:p>
        </p:txBody>
      </p:sp>
      <p:sp>
        <p:nvSpPr>
          <p:cNvPr id="52" name="TextBox 51"/>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1 — LOAD AND INSPECT</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From 837 columns to 330 analysable fields</a:t>
            </a:r>
          </a:p>
        </p:txBody>
      </p:sp>
      <p:pic>
        <p:nvPicPr>
          <p:cNvPr id="7" name="Picture 6" descr="pipeline.png"/>
          <p:cNvPicPr>
            <a:picLocks noChangeAspect="1"/>
          </p:cNvPicPr>
          <p:nvPr/>
        </p:nvPicPr>
        <p:blipFill>
          <a:blip r:embed="rId2"/>
          <a:stretch>
            <a:fillRect/>
          </a:stretch>
        </p:blipFill>
        <p:spPr>
          <a:xfrm>
            <a:off x="1234440" y="1225296"/>
            <a:ext cx="9692640" cy="3638632"/>
          </a:xfrm>
          <a:prstGeom prst="rect">
            <a:avLst/>
          </a:prstGeom>
        </p:spPr>
      </p:pic>
      <p:sp>
        <p:nvSpPr>
          <p:cNvPr id="8" name="Rectangle 7"/>
          <p:cNvSpPr/>
          <p:nvPr/>
        </p:nvSpPr>
        <p:spPr>
          <a:xfrm>
            <a:off x="502920" y="3246120"/>
            <a:ext cx="2697480" cy="12801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3246120"/>
            <a:ext cx="26974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3429000"/>
            <a:ext cx="2404872" cy="237744"/>
          </a:xfrm>
          <a:prstGeom prst="rect">
            <a:avLst/>
          </a:prstGeom>
          <a:noFill/>
        </p:spPr>
        <p:txBody>
          <a:bodyPr wrap="square" lIns="0" rIns="0" tIns="0" bIns="0">
            <a:spAutoFit/>
          </a:bodyPr>
          <a:lstStyle/>
          <a:p>
            <a:pPr algn="l">
              <a:defRPr sz="780" b="1" i="0">
                <a:solidFill>
                  <a:srgbClr val="4682B4"/>
                </a:solidFill>
                <a:latin typeface="Calibri"/>
              </a:defRPr>
            </a:pPr>
            <a:r>
              <a:t>COLUMNS 100% EMPTY</a:t>
            </a:r>
          </a:p>
        </p:txBody>
      </p:sp>
      <p:sp>
        <p:nvSpPr>
          <p:cNvPr id="11" name="TextBox 10"/>
          <p:cNvSpPr txBox="1"/>
          <p:nvPr/>
        </p:nvSpPr>
        <p:spPr>
          <a:xfrm>
            <a:off x="649224" y="3703320"/>
            <a:ext cx="2404872" cy="566928"/>
          </a:xfrm>
          <a:prstGeom prst="rect">
            <a:avLst/>
          </a:prstGeom>
          <a:noFill/>
        </p:spPr>
        <p:txBody>
          <a:bodyPr wrap="square" lIns="0" rIns="0" tIns="0" bIns="0">
            <a:spAutoFit/>
          </a:bodyPr>
          <a:lstStyle/>
          <a:p>
            <a:pPr algn="l">
              <a:defRPr sz="2600" b="1" i="0">
                <a:solidFill>
                  <a:srgbClr val="14284F"/>
                </a:solidFill>
                <a:latin typeface="Georgia"/>
              </a:defRPr>
            </a:pPr>
            <a:r>
              <a:t>249</a:t>
            </a:r>
          </a:p>
        </p:txBody>
      </p:sp>
      <p:sp>
        <p:nvSpPr>
          <p:cNvPr id="12" name="TextBox 11"/>
          <p:cNvSpPr txBox="1"/>
          <p:nvPr/>
        </p:nvSpPr>
        <p:spPr>
          <a:xfrm>
            <a:off x="649224" y="4142231"/>
            <a:ext cx="2404872" cy="274320"/>
          </a:xfrm>
          <a:prstGeom prst="rect">
            <a:avLst/>
          </a:prstGeom>
          <a:noFill/>
        </p:spPr>
        <p:txBody>
          <a:bodyPr wrap="square" lIns="0" rIns="0" tIns="0" bIns="0">
            <a:spAutoFit/>
          </a:bodyPr>
          <a:lstStyle/>
          <a:p>
            <a:pPr algn="l">
              <a:defRPr sz="780" b="0" i="1">
                <a:solidFill>
                  <a:srgbClr val="6E6E6E"/>
                </a:solidFill>
                <a:latin typeface="Calibri"/>
              </a:defRPr>
            </a:pPr>
            <a:r>
              <a:t>carry no information at all</a:t>
            </a:r>
          </a:p>
        </p:txBody>
      </p:sp>
      <p:sp>
        <p:nvSpPr>
          <p:cNvPr id="13" name="Rectangle 12"/>
          <p:cNvSpPr/>
          <p:nvPr/>
        </p:nvSpPr>
        <p:spPr>
          <a:xfrm>
            <a:off x="3364991" y="3246120"/>
            <a:ext cx="2697480" cy="12801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4991" y="3246120"/>
            <a:ext cx="26974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11296" y="3429000"/>
            <a:ext cx="2404872" cy="237744"/>
          </a:xfrm>
          <a:prstGeom prst="rect">
            <a:avLst/>
          </a:prstGeom>
          <a:noFill/>
        </p:spPr>
        <p:txBody>
          <a:bodyPr wrap="square" lIns="0" rIns="0" tIns="0" bIns="0">
            <a:spAutoFit/>
          </a:bodyPr>
          <a:lstStyle/>
          <a:p>
            <a:pPr algn="l">
              <a:defRPr sz="780" b="1" i="0">
                <a:solidFill>
                  <a:srgbClr val="4682B4"/>
                </a:solidFill>
                <a:latin typeface="Calibri"/>
              </a:defRPr>
            </a:pPr>
            <a:r>
              <a:t>"UNIT" METADATA TWINS</a:t>
            </a:r>
          </a:p>
        </p:txBody>
      </p:sp>
      <p:sp>
        <p:nvSpPr>
          <p:cNvPr id="16" name="TextBox 15"/>
          <p:cNvSpPr txBox="1"/>
          <p:nvPr/>
        </p:nvSpPr>
        <p:spPr>
          <a:xfrm>
            <a:off x="3511296" y="3703320"/>
            <a:ext cx="2404872" cy="566928"/>
          </a:xfrm>
          <a:prstGeom prst="rect">
            <a:avLst/>
          </a:prstGeom>
          <a:noFill/>
        </p:spPr>
        <p:txBody>
          <a:bodyPr wrap="square" lIns="0" rIns="0" tIns="0" bIns="0">
            <a:spAutoFit/>
          </a:bodyPr>
          <a:lstStyle/>
          <a:p>
            <a:pPr algn="l">
              <a:defRPr sz="2600" b="1" i="0">
                <a:solidFill>
                  <a:srgbClr val="14284F"/>
                </a:solidFill>
                <a:latin typeface="Georgia"/>
              </a:defRPr>
            </a:pPr>
            <a:r>
              <a:t>258</a:t>
            </a:r>
          </a:p>
        </p:txBody>
      </p:sp>
      <p:sp>
        <p:nvSpPr>
          <p:cNvPr id="17" name="TextBox 16"/>
          <p:cNvSpPr txBox="1"/>
          <p:nvPr/>
        </p:nvSpPr>
        <p:spPr>
          <a:xfrm>
            <a:off x="3511296" y="4142231"/>
            <a:ext cx="2404872" cy="274320"/>
          </a:xfrm>
          <a:prstGeom prst="rect">
            <a:avLst/>
          </a:prstGeom>
          <a:noFill/>
        </p:spPr>
        <p:txBody>
          <a:bodyPr wrap="square" lIns="0" rIns="0" tIns="0" bIns="0">
            <a:spAutoFit/>
          </a:bodyPr>
          <a:lstStyle/>
          <a:p>
            <a:pPr algn="l">
              <a:defRPr sz="780" b="0" i="1">
                <a:solidFill>
                  <a:srgbClr val="6E6E6E"/>
                </a:solidFill>
                <a:latin typeface="Calibri"/>
              </a:defRPr>
            </a:pPr>
            <a:r>
              <a:t>label columns, not data</a:t>
            </a:r>
          </a:p>
        </p:txBody>
      </p:sp>
      <p:sp>
        <p:nvSpPr>
          <p:cNvPr id="18" name="Rectangle 17"/>
          <p:cNvSpPr/>
          <p:nvPr/>
        </p:nvSpPr>
        <p:spPr>
          <a:xfrm>
            <a:off x="6227064" y="3246120"/>
            <a:ext cx="2697480" cy="12801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3246120"/>
            <a:ext cx="26974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3429000"/>
            <a:ext cx="2404872" cy="237744"/>
          </a:xfrm>
          <a:prstGeom prst="rect">
            <a:avLst/>
          </a:prstGeom>
          <a:noFill/>
        </p:spPr>
        <p:txBody>
          <a:bodyPr wrap="square" lIns="0" rIns="0" tIns="0" bIns="0">
            <a:spAutoFit/>
          </a:bodyPr>
          <a:lstStyle/>
          <a:p>
            <a:pPr algn="l">
              <a:defRPr sz="780" b="1" i="0">
                <a:solidFill>
                  <a:srgbClr val="4682B4"/>
                </a:solidFill>
                <a:latin typeface="Calibri"/>
              </a:defRPr>
            </a:pPr>
            <a:r>
              <a:t>COLUMNS FULLY POPULATED</a:t>
            </a:r>
          </a:p>
        </p:txBody>
      </p:sp>
      <p:sp>
        <p:nvSpPr>
          <p:cNvPr id="21" name="TextBox 20"/>
          <p:cNvSpPr txBox="1"/>
          <p:nvPr/>
        </p:nvSpPr>
        <p:spPr>
          <a:xfrm>
            <a:off x="6373368" y="3703320"/>
            <a:ext cx="2404872" cy="566928"/>
          </a:xfrm>
          <a:prstGeom prst="rect">
            <a:avLst/>
          </a:prstGeom>
          <a:noFill/>
        </p:spPr>
        <p:txBody>
          <a:bodyPr wrap="square" lIns="0" rIns="0" tIns="0" bIns="0">
            <a:spAutoFit/>
          </a:bodyPr>
          <a:lstStyle/>
          <a:p>
            <a:pPr algn="l">
              <a:defRPr sz="2600" b="1" i="0">
                <a:solidFill>
                  <a:srgbClr val="14284F"/>
                </a:solidFill>
                <a:latin typeface="Georgia"/>
              </a:defRPr>
            </a:pPr>
            <a:r>
              <a:t>8</a:t>
            </a:r>
          </a:p>
        </p:txBody>
      </p:sp>
      <p:sp>
        <p:nvSpPr>
          <p:cNvPr id="22" name="TextBox 21"/>
          <p:cNvSpPr txBox="1"/>
          <p:nvPr/>
        </p:nvSpPr>
        <p:spPr>
          <a:xfrm>
            <a:off x="6373368" y="4142231"/>
            <a:ext cx="2404872" cy="274320"/>
          </a:xfrm>
          <a:prstGeom prst="rect">
            <a:avLst/>
          </a:prstGeom>
          <a:noFill/>
        </p:spPr>
        <p:txBody>
          <a:bodyPr wrap="square" lIns="0" rIns="0" tIns="0" bIns="0">
            <a:spAutoFit/>
          </a:bodyPr>
          <a:lstStyle/>
          <a:p>
            <a:pPr algn="l">
              <a:defRPr sz="780" b="0" i="1">
                <a:solidFill>
                  <a:srgbClr val="6E6E6E"/>
                </a:solidFill>
                <a:latin typeface="Calibri"/>
              </a:defRPr>
            </a:pPr>
            <a:r>
              <a:t>of 330 survivors</a:t>
            </a:r>
          </a:p>
        </p:txBody>
      </p:sp>
      <p:sp>
        <p:nvSpPr>
          <p:cNvPr id="23" name="Rectangle 22"/>
          <p:cNvSpPr/>
          <p:nvPr/>
        </p:nvSpPr>
        <p:spPr>
          <a:xfrm>
            <a:off x="9089136" y="3246120"/>
            <a:ext cx="2697480" cy="12801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89136" y="3246120"/>
            <a:ext cx="26974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3429000"/>
            <a:ext cx="2404872" cy="237744"/>
          </a:xfrm>
          <a:prstGeom prst="rect">
            <a:avLst/>
          </a:prstGeom>
          <a:noFill/>
        </p:spPr>
        <p:txBody>
          <a:bodyPr wrap="square" lIns="0" rIns="0" tIns="0" bIns="0">
            <a:spAutoFit/>
          </a:bodyPr>
          <a:lstStyle/>
          <a:p>
            <a:pPr algn="l">
              <a:defRPr sz="780" b="1" i="0">
                <a:solidFill>
                  <a:srgbClr val="4682B4"/>
                </a:solidFill>
                <a:latin typeface="Calibri"/>
              </a:defRPr>
            </a:pPr>
            <a:r>
              <a:t>DUPLICATE ROWS</a:t>
            </a:r>
          </a:p>
        </p:txBody>
      </p:sp>
      <p:sp>
        <p:nvSpPr>
          <p:cNvPr id="26" name="TextBox 25"/>
          <p:cNvSpPr txBox="1"/>
          <p:nvPr/>
        </p:nvSpPr>
        <p:spPr>
          <a:xfrm>
            <a:off x="9235440" y="3703320"/>
            <a:ext cx="2404872" cy="566928"/>
          </a:xfrm>
          <a:prstGeom prst="rect">
            <a:avLst/>
          </a:prstGeom>
          <a:noFill/>
        </p:spPr>
        <p:txBody>
          <a:bodyPr wrap="square" lIns="0" rIns="0" tIns="0" bIns="0">
            <a:spAutoFit/>
          </a:bodyPr>
          <a:lstStyle/>
          <a:p>
            <a:pPr algn="l">
              <a:defRPr sz="2600" b="1" i="0">
                <a:solidFill>
                  <a:srgbClr val="14284F"/>
                </a:solidFill>
                <a:latin typeface="Georgia"/>
              </a:defRPr>
            </a:pPr>
            <a:r>
              <a:t>0</a:t>
            </a:r>
          </a:p>
        </p:txBody>
      </p:sp>
      <p:sp>
        <p:nvSpPr>
          <p:cNvPr id="27" name="TextBox 26"/>
          <p:cNvSpPr txBox="1"/>
          <p:nvPr/>
        </p:nvSpPr>
        <p:spPr>
          <a:xfrm>
            <a:off x="9235440" y="4142231"/>
            <a:ext cx="2404872" cy="274320"/>
          </a:xfrm>
          <a:prstGeom prst="rect">
            <a:avLst/>
          </a:prstGeom>
          <a:noFill/>
        </p:spPr>
        <p:txBody>
          <a:bodyPr wrap="square" lIns="0" rIns="0" tIns="0" bIns="0">
            <a:spAutoFit/>
          </a:bodyPr>
          <a:lstStyle/>
          <a:p>
            <a:pPr algn="l">
              <a:defRPr sz="780" b="0" i="1">
                <a:solidFill>
                  <a:srgbClr val="6E6E6E"/>
                </a:solidFill>
                <a:latin typeface="Calibri"/>
              </a:defRPr>
            </a:pPr>
            <a:r>
              <a:t>extract is clean on this axis</a:t>
            </a:r>
          </a:p>
        </p:txBody>
      </p:sp>
      <p:sp>
        <p:nvSpPr>
          <p:cNvPr id="28" name="Rectangle 27"/>
          <p:cNvSpPr/>
          <p:nvPr/>
        </p:nvSpPr>
        <p:spPr>
          <a:xfrm>
            <a:off x="502920" y="4754880"/>
            <a:ext cx="11185855" cy="713232"/>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754880"/>
            <a:ext cx="50292" cy="71323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4873752"/>
            <a:ext cx="10774375" cy="530352"/>
          </a:xfrm>
          <a:prstGeom prst="rect">
            <a:avLst/>
          </a:prstGeom>
          <a:noFill/>
        </p:spPr>
        <p:txBody>
          <a:bodyPr wrap="square" lIns="0" rIns="0" tIns="0" bIns="0">
            <a:spAutoFit/>
          </a:bodyPr>
          <a:lstStyle/>
          <a:p>
            <a:pPr algn="l">
              <a:defRPr sz="1050" b="0" i="0">
                <a:solidFill>
                  <a:srgbClr val="212121"/>
                </a:solidFill>
                <a:latin typeface="Calibri"/>
              </a:defRPr>
            </a:pPr>
            <a:r>
              <a:t>Two-thirds of the schema is noise. The vendor emits a fixed superset of columns for every fund regardless of strategy, so sparsity here is a schema artefact, not a GP failure — which is why fill rates must be computed after this reduction, not before.</a:t>
            </a:r>
          </a:p>
        </p:txBody>
      </p:sp>
      <p:sp>
        <p:nvSpPr>
          <p:cNvPr id="31" name="Rectangle 3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58,160 rows × 837 columns raw extract</a:t>
            </a:r>
          </a:p>
        </p:txBody>
      </p:sp>
      <p:sp>
        <p:nvSpPr>
          <p:cNvPr id="33" name="TextBox 3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2 — CLASSIFY SOURCE ASSET</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One column, three different kinds of thing</a:t>
            </a:r>
          </a:p>
        </p:txBody>
      </p:sp>
      <p:sp>
        <p:nvSpPr>
          <p:cNvPr id="7" name="TextBox 6"/>
          <p:cNvSpPr txBox="1"/>
          <p:nvPr/>
        </p:nvSpPr>
        <p:spPr>
          <a:xfrm>
            <a:off x="502920" y="1170432"/>
            <a:ext cx="11155680" cy="329184"/>
          </a:xfrm>
          <a:prstGeom prst="rect">
            <a:avLst/>
          </a:prstGeom>
          <a:noFill/>
        </p:spPr>
        <p:txBody>
          <a:bodyPr wrap="square" lIns="0" rIns="0" tIns="0" bIns="0">
            <a:spAutoFit/>
          </a:bodyPr>
          <a:lstStyle/>
          <a:p>
            <a:pPr algn="l">
              <a:defRPr sz="1100" b="0" i="0">
                <a:solidFill>
                  <a:srgbClr val="6E6E6E"/>
                </a:solidFill>
                <a:latin typeface="Calibri"/>
              </a:defRPr>
            </a:pPr>
            <a:r>
              <a:t>The vendor puts every line of a GP schedule into Source Asset. Scoring and entity resolution need different subsets of it.</a:t>
            </a:r>
          </a:p>
        </p:txBody>
      </p:sp>
      <p:sp>
        <p:nvSpPr>
          <p:cNvPr id="8" name="Rectangle 7"/>
          <p:cNvSpPr/>
          <p:nvPr/>
        </p:nvSpPr>
        <p:spPr>
          <a:xfrm>
            <a:off x="502920" y="1627632"/>
            <a:ext cx="22860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96212"/>
            <a:ext cx="2103120" cy="347472"/>
          </a:xfrm>
          <a:prstGeom prst="rect">
            <a:avLst/>
          </a:prstGeom>
          <a:noFill/>
        </p:spPr>
        <p:txBody>
          <a:bodyPr wrap="square" lIns="0" rIns="0" tIns="0" bIns="0">
            <a:spAutoFit/>
          </a:bodyPr>
          <a:lstStyle/>
          <a:p>
            <a:pPr algn="l">
              <a:defRPr sz="850" b="1" i="0">
                <a:solidFill>
                  <a:srgbClr val="FFFFFF"/>
                </a:solidFill>
                <a:latin typeface="Calibri"/>
              </a:defRPr>
            </a:pPr>
            <a:r>
              <a:t>Class</a:t>
            </a:r>
          </a:p>
        </p:txBody>
      </p:sp>
      <p:sp>
        <p:nvSpPr>
          <p:cNvPr id="10" name="Rectangle 9"/>
          <p:cNvSpPr/>
          <p:nvPr/>
        </p:nvSpPr>
        <p:spPr>
          <a:xfrm>
            <a:off x="2788920" y="1627632"/>
            <a:ext cx="448056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696212"/>
            <a:ext cx="4297680" cy="347472"/>
          </a:xfrm>
          <a:prstGeom prst="rect">
            <a:avLst/>
          </a:prstGeom>
          <a:noFill/>
        </p:spPr>
        <p:txBody>
          <a:bodyPr wrap="square" lIns="0" rIns="0" tIns="0" bIns="0">
            <a:spAutoFit/>
          </a:bodyPr>
          <a:lstStyle/>
          <a:p>
            <a:pPr algn="l">
              <a:defRPr sz="850" b="1" i="0">
                <a:solidFill>
                  <a:srgbClr val="FFFFFF"/>
                </a:solidFill>
                <a:latin typeface="Calibri"/>
              </a:defRPr>
            </a:pPr>
            <a:r>
              <a:t>Example</a:t>
            </a:r>
          </a:p>
        </p:txBody>
      </p:sp>
      <p:sp>
        <p:nvSpPr>
          <p:cNvPr id="12" name="Rectangle 11"/>
          <p:cNvSpPr/>
          <p:nvPr/>
        </p:nvSpPr>
        <p:spPr>
          <a:xfrm>
            <a:off x="7269480" y="1627632"/>
            <a:ext cx="13716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1696212"/>
            <a:ext cx="1188720" cy="347472"/>
          </a:xfrm>
          <a:prstGeom prst="rect">
            <a:avLst/>
          </a:prstGeom>
          <a:noFill/>
        </p:spPr>
        <p:txBody>
          <a:bodyPr wrap="square" lIns="0" rIns="0" tIns="0" bIns="0">
            <a:spAutoFit/>
          </a:bodyPr>
          <a:lstStyle/>
          <a:p>
            <a:pPr algn="l">
              <a:defRPr sz="850" b="1" i="0">
                <a:solidFill>
                  <a:srgbClr val="FFFFFF"/>
                </a:solidFill>
                <a:latin typeface="Calibri"/>
              </a:defRPr>
            </a:pPr>
            <a:r>
              <a:t>Rows</a:t>
            </a:r>
          </a:p>
        </p:txBody>
      </p:sp>
      <p:sp>
        <p:nvSpPr>
          <p:cNvPr id="14" name="Rectangle 13"/>
          <p:cNvSpPr/>
          <p:nvPr/>
        </p:nvSpPr>
        <p:spPr>
          <a:xfrm>
            <a:off x="8641080" y="1627632"/>
            <a:ext cx="13716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19" y="1696212"/>
            <a:ext cx="1188720" cy="347472"/>
          </a:xfrm>
          <a:prstGeom prst="rect">
            <a:avLst/>
          </a:prstGeom>
          <a:noFill/>
        </p:spPr>
        <p:txBody>
          <a:bodyPr wrap="square" lIns="0" rIns="0" tIns="0" bIns="0">
            <a:spAutoFit/>
          </a:bodyPr>
          <a:lstStyle/>
          <a:p>
            <a:pPr algn="l">
              <a:defRPr sz="850" b="1" i="0">
                <a:solidFill>
                  <a:srgbClr val="FFFFFF"/>
                </a:solidFill>
                <a:latin typeface="Calibri"/>
              </a:defRPr>
            </a:pPr>
            <a:r>
              <a:t>Score it</a:t>
            </a:r>
          </a:p>
        </p:txBody>
      </p:sp>
      <p:sp>
        <p:nvSpPr>
          <p:cNvPr id="16" name="Rectangle 15"/>
          <p:cNvSpPr/>
          <p:nvPr/>
        </p:nvSpPr>
        <p:spPr>
          <a:xfrm>
            <a:off x="10012680" y="1627632"/>
            <a:ext cx="164592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04119" y="1696212"/>
            <a:ext cx="1463040" cy="347472"/>
          </a:xfrm>
          <a:prstGeom prst="rect">
            <a:avLst/>
          </a:prstGeom>
          <a:noFill/>
        </p:spPr>
        <p:txBody>
          <a:bodyPr wrap="square" lIns="0" rIns="0" tIns="0" bIns="0">
            <a:spAutoFit/>
          </a:bodyPr>
          <a:lstStyle/>
          <a:p>
            <a:pPr algn="l">
              <a:defRPr sz="850" b="1" i="0">
                <a:solidFill>
                  <a:srgbClr val="FFFFFF"/>
                </a:solidFill>
                <a:latin typeface="Calibri"/>
              </a:defRPr>
            </a:pPr>
            <a:r>
              <a:t>Resolve it</a:t>
            </a:r>
          </a:p>
        </p:txBody>
      </p:sp>
      <p:sp>
        <p:nvSpPr>
          <p:cNvPr id="18" name="Rectangle 17"/>
          <p:cNvSpPr/>
          <p:nvPr/>
        </p:nvSpPr>
        <p:spPr>
          <a:xfrm>
            <a:off x="502920" y="1975104"/>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039112"/>
            <a:ext cx="2103120" cy="347472"/>
          </a:xfrm>
          <a:prstGeom prst="rect">
            <a:avLst/>
          </a:prstGeom>
          <a:noFill/>
        </p:spPr>
        <p:txBody>
          <a:bodyPr wrap="square" lIns="0" rIns="0" tIns="0" bIns="0">
            <a:spAutoFit/>
          </a:bodyPr>
          <a:lstStyle/>
          <a:p>
            <a:pPr algn="l">
              <a:defRPr sz="950" b="1" i="0">
                <a:solidFill>
                  <a:srgbClr val="212121"/>
                </a:solidFill>
                <a:latin typeface="Calibri"/>
              </a:defRPr>
            </a:pPr>
            <a:r>
              <a:t>holding</a:t>
            </a:r>
          </a:p>
        </p:txBody>
      </p:sp>
      <p:sp>
        <p:nvSpPr>
          <p:cNvPr id="20" name="Rectangle 19"/>
          <p:cNvSpPr/>
          <p:nvPr/>
        </p:nvSpPr>
        <p:spPr>
          <a:xfrm>
            <a:off x="2788920" y="1975104"/>
            <a:ext cx="448056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2039112"/>
            <a:ext cx="4297680" cy="347472"/>
          </a:xfrm>
          <a:prstGeom prst="rect">
            <a:avLst/>
          </a:prstGeom>
          <a:noFill/>
        </p:spPr>
        <p:txBody>
          <a:bodyPr wrap="square" lIns="0" rIns="0" tIns="0" bIns="0">
            <a:spAutoFit/>
          </a:bodyPr>
          <a:lstStyle/>
          <a:p>
            <a:pPr algn="l">
              <a:defRPr sz="950" b="0" i="0">
                <a:solidFill>
                  <a:srgbClr val="212121"/>
                </a:solidFill>
                <a:latin typeface="Calibri"/>
              </a:defRPr>
            </a:pPr>
            <a:r>
              <a:t>Stripe · Valar Co-Invest 13 LP (Qonto)</a:t>
            </a:r>
          </a:p>
        </p:txBody>
      </p:sp>
      <p:sp>
        <p:nvSpPr>
          <p:cNvPr id="22" name="Rectangle 21"/>
          <p:cNvSpPr/>
          <p:nvPr/>
        </p:nvSpPr>
        <p:spPr>
          <a:xfrm>
            <a:off x="7269480" y="1975104"/>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0920" y="2039112"/>
            <a:ext cx="1188720" cy="347472"/>
          </a:xfrm>
          <a:prstGeom prst="rect">
            <a:avLst/>
          </a:prstGeom>
          <a:noFill/>
        </p:spPr>
        <p:txBody>
          <a:bodyPr wrap="square" lIns="0" rIns="0" tIns="0" bIns="0">
            <a:spAutoFit/>
          </a:bodyPr>
          <a:lstStyle/>
          <a:p>
            <a:pPr algn="l">
              <a:defRPr sz="950" b="0" i="0">
                <a:solidFill>
                  <a:srgbClr val="212121"/>
                </a:solidFill>
                <a:latin typeface="Calibri"/>
              </a:defRPr>
            </a:pPr>
            <a:r>
              <a:t>51,770</a:t>
            </a:r>
          </a:p>
        </p:txBody>
      </p:sp>
      <p:sp>
        <p:nvSpPr>
          <p:cNvPr id="24" name="Rectangle 23"/>
          <p:cNvSpPr/>
          <p:nvPr/>
        </p:nvSpPr>
        <p:spPr>
          <a:xfrm>
            <a:off x="8641080" y="1975104"/>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2519" y="2039112"/>
            <a:ext cx="1188720" cy="347472"/>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26" name="Rectangle 25"/>
          <p:cNvSpPr/>
          <p:nvPr/>
        </p:nvSpPr>
        <p:spPr>
          <a:xfrm>
            <a:off x="10012680" y="1975104"/>
            <a:ext cx="164592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04119" y="2039112"/>
            <a:ext cx="1463040" cy="347472"/>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28" name="Rectangle 27"/>
          <p:cNvSpPr/>
          <p:nvPr/>
        </p:nvSpPr>
        <p:spPr>
          <a:xfrm>
            <a:off x="502920" y="2322576"/>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386584"/>
            <a:ext cx="2103120" cy="347472"/>
          </a:xfrm>
          <a:prstGeom prst="rect">
            <a:avLst/>
          </a:prstGeom>
          <a:noFill/>
        </p:spPr>
        <p:txBody>
          <a:bodyPr wrap="square" lIns="0" rIns="0" tIns="0" bIns="0">
            <a:spAutoFit/>
          </a:bodyPr>
          <a:lstStyle/>
          <a:p>
            <a:pPr algn="l">
              <a:defRPr sz="950" b="1" i="0">
                <a:solidFill>
                  <a:srgbClr val="212121"/>
                </a:solidFill>
                <a:latin typeface="Calibri"/>
              </a:defRPr>
            </a:pPr>
            <a:r>
              <a:t>unnamed_aggregate</a:t>
            </a:r>
          </a:p>
        </p:txBody>
      </p:sp>
      <p:sp>
        <p:nvSpPr>
          <p:cNvPr id="30" name="Rectangle 29"/>
          <p:cNvSpPr/>
          <p:nvPr/>
        </p:nvSpPr>
        <p:spPr>
          <a:xfrm>
            <a:off x="2788920" y="2322576"/>
            <a:ext cx="44805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80360" y="2386584"/>
            <a:ext cx="4297680" cy="347472"/>
          </a:xfrm>
          <a:prstGeom prst="rect">
            <a:avLst/>
          </a:prstGeom>
          <a:noFill/>
        </p:spPr>
        <p:txBody>
          <a:bodyPr wrap="square" lIns="0" rIns="0" tIns="0" bIns="0">
            <a:spAutoFit/>
          </a:bodyPr>
          <a:lstStyle/>
          <a:p>
            <a:pPr algn="l">
              <a:defRPr sz="950" b="0" i="0">
                <a:solidFill>
                  <a:srgbClr val="212121"/>
                </a:solidFill>
                <a:latin typeface="Calibri"/>
              </a:defRPr>
            </a:pPr>
            <a:r>
              <a:t>Other Investments · Seed Investments</a:t>
            </a:r>
          </a:p>
        </p:txBody>
      </p:sp>
      <p:sp>
        <p:nvSpPr>
          <p:cNvPr id="32" name="Rectangle 31"/>
          <p:cNvSpPr/>
          <p:nvPr/>
        </p:nvSpPr>
        <p:spPr>
          <a:xfrm>
            <a:off x="7269480" y="2322576"/>
            <a:ext cx="13716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0920" y="2386584"/>
            <a:ext cx="1188720" cy="347472"/>
          </a:xfrm>
          <a:prstGeom prst="rect">
            <a:avLst/>
          </a:prstGeom>
          <a:noFill/>
        </p:spPr>
        <p:txBody>
          <a:bodyPr wrap="square" lIns="0" rIns="0" tIns="0" bIns="0">
            <a:spAutoFit/>
          </a:bodyPr>
          <a:lstStyle/>
          <a:p>
            <a:pPr algn="l">
              <a:defRPr sz="950" b="0" i="0">
                <a:solidFill>
                  <a:srgbClr val="212121"/>
                </a:solidFill>
                <a:latin typeface="Calibri"/>
              </a:defRPr>
            </a:pPr>
            <a:r>
              <a:t>278</a:t>
            </a:r>
          </a:p>
        </p:txBody>
      </p:sp>
      <p:sp>
        <p:nvSpPr>
          <p:cNvPr id="34" name="Rectangle 33"/>
          <p:cNvSpPr/>
          <p:nvPr/>
        </p:nvSpPr>
        <p:spPr>
          <a:xfrm>
            <a:off x="8641080" y="2322576"/>
            <a:ext cx="13716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32519" y="2386584"/>
            <a:ext cx="1188720" cy="347472"/>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36" name="Rectangle 35"/>
          <p:cNvSpPr/>
          <p:nvPr/>
        </p:nvSpPr>
        <p:spPr>
          <a:xfrm>
            <a:off x="10012680" y="2322576"/>
            <a:ext cx="16459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4119" y="2386584"/>
            <a:ext cx="146304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38" name="Rectangle 37"/>
          <p:cNvSpPr/>
          <p:nvPr/>
        </p:nvSpPr>
        <p:spPr>
          <a:xfrm>
            <a:off x="502920" y="2670048"/>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2734056"/>
            <a:ext cx="2103120" cy="347472"/>
          </a:xfrm>
          <a:prstGeom prst="rect">
            <a:avLst/>
          </a:prstGeom>
          <a:noFill/>
        </p:spPr>
        <p:txBody>
          <a:bodyPr wrap="square" lIns="0" rIns="0" tIns="0" bIns="0">
            <a:spAutoFit/>
          </a:bodyPr>
          <a:lstStyle/>
          <a:p>
            <a:pPr algn="l">
              <a:defRPr sz="950" b="1" i="0">
                <a:solidFill>
                  <a:srgbClr val="212121"/>
                </a:solidFill>
                <a:latin typeface="Calibri"/>
              </a:defRPr>
            </a:pPr>
            <a:r>
              <a:t>balance_sheet</a:t>
            </a:r>
          </a:p>
        </p:txBody>
      </p:sp>
      <p:sp>
        <p:nvSpPr>
          <p:cNvPr id="40" name="Rectangle 39"/>
          <p:cNvSpPr/>
          <p:nvPr/>
        </p:nvSpPr>
        <p:spPr>
          <a:xfrm>
            <a:off x="2788920" y="2670048"/>
            <a:ext cx="448056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0360" y="2734056"/>
            <a:ext cx="4297680" cy="347472"/>
          </a:xfrm>
          <a:prstGeom prst="rect">
            <a:avLst/>
          </a:prstGeom>
          <a:noFill/>
        </p:spPr>
        <p:txBody>
          <a:bodyPr wrap="square" lIns="0" rIns="0" tIns="0" bIns="0">
            <a:spAutoFit/>
          </a:bodyPr>
          <a:lstStyle/>
          <a:p>
            <a:pPr algn="l">
              <a:defRPr sz="950" b="0" i="0">
                <a:solidFill>
                  <a:srgbClr val="212121"/>
                </a:solidFill>
                <a:latin typeface="Calibri"/>
              </a:defRPr>
            </a:pPr>
            <a:r>
              <a:t>Non-Investment Assets — Cash</a:t>
            </a:r>
          </a:p>
        </p:txBody>
      </p:sp>
      <p:sp>
        <p:nvSpPr>
          <p:cNvPr id="42" name="Rectangle 41"/>
          <p:cNvSpPr/>
          <p:nvPr/>
        </p:nvSpPr>
        <p:spPr>
          <a:xfrm>
            <a:off x="7269480" y="2670048"/>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60920" y="2734056"/>
            <a:ext cx="1188720" cy="347472"/>
          </a:xfrm>
          <a:prstGeom prst="rect">
            <a:avLst/>
          </a:prstGeom>
          <a:noFill/>
        </p:spPr>
        <p:txBody>
          <a:bodyPr wrap="square" lIns="0" rIns="0" tIns="0" bIns="0">
            <a:spAutoFit/>
          </a:bodyPr>
          <a:lstStyle/>
          <a:p>
            <a:pPr algn="l">
              <a:defRPr sz="950" b="0" i="0">
                <a:solidFill>
                  <a:srgbClr val="212121"/>
                </a:solidFill>
                <a:latin typeface="Calibri"/>
              </a:defRPr>
            </a:pPr>
            <a:r>
              <a:t>5,518</a:t>
            </a:r>
          </a:p>
        </p:txBody>
      </p:sp>
      <p:sp>
        <p:nvSpPr>
          <p:cNvPr id="44" name="Rectangle 43"/>
          <p:cNvSpPr/>
          <p:nvPr/>
        </p:nvSpPr>
        <p:spPr>
          <a:xfrm>
            <a:off x="8641080" y="2670048"/>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32519" y="2734056"/>
            <a:ext cx="118872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46" name="Rectangle 45"/>
          <p:cNvSpPr/>
          <p:nvPr/>
        </p:nvSpPr>
        <p:spPr>
          <a:xfrm>
            <a:off x="10012680" y="2670048"/>
            <a:ext cx="164592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04119" y="2734056"/>
            <a:ext cx="146304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48" name="Rectangle 47"/>
          <p:cNvSpPr/>
          <p:nvPr/>
        </p:nvSpPr>
        <p:spPr>
          <a:xfrm>
            <a:off x="502920" y="3017520"/>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081528"/>
            <a:ext cx="2103120" cy="347472"/>
          </a:xfrm>
          <a:prstGeom prst="rect">
            <a:avLst/>
          </a:prstGeom>
          <a:noFill/>
        </p:spPr>
        <p:txBody>
          <a:bodyPr wrap="square" lIns="0" rIns="0" tIns="0" bIns="0">
            <a:spAutoFit/>
          </a:bodyPr>
          <a:lstStyle/>
          <a:p>
            <a:pPr algn="l">
              <a:defRPr sz="950" b="1" i="0">
                <a:solidFill>
                  <a:srgbClr val="212121"/>
                </a:solidFill>
                <a:latin typeface="Calibri"/>
              </a:defRPr>
            </a:pPr>
            <a:r>
              <a:t>accounting_entry</a:t>
            </a:r>
          </a:p>
        </p:txBody>
      </p:sp>
      <p:sp>
        <p:nvSpPr>
          <p:cNvPr id="50" name="Rectangle 49"/>
          <p:cNvSpPr/>
          <p:nvPr/>
        </p:nvSpPr>
        <p:spPr>
          <a:xfrm>
            <a:off x="2788920" y="3017520"/>
            <a:ext cx="448056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80360" y="3081528"/>
            <a:ext cx="4297680" cy="347472"/>
          </a:xfrm>
          <a:prstGeom prst="rect">
            <a:avLst/>
          </a:prstGeom>
          <a:noFill/>
        </p:spPr>
        <p:txBody>
          <a:bodyPr wrap="square" lIns="0" rIns="0" tIns="0" bIns="0">
            <a:spAutoFit/>
          </a:bodyPr>
          <a:lstStyle/>
          <a:p>
            <a:pPr algn="l">
              <a:defRPr sz="950" b="0" i="0">
                <a:solidFill>
                  <a:srgbClr val="212121"/>
                </a:solidFill>
                <a:latin typeface="Calibri"/>
              </a:defRPr>
            </a:pPr>
            <a:r>
              <a:t>Quarterly Unrealized Gain/Loss</a:t>
            </a:r>
          </a:p>
        </p:txBody>
      </p:sp>
      <p:sp>
        <p:nvSpPr>
          <p:cNvPr id="52" name="Rectangle 51"/>
          <p:cNvSpPr/>
          <p:nvPr/>
        </p:nvSpPr>
        <p:spPr>
          <a:xfrm>
            <a:off x="7269480" y="3017520"/>
            <a:ext cx="13716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60920" y="3081528"/>
            <a:ext cx="1188720" cy="347472"/>
          </a:xfrm>
          <a:prstGeom prst="rect">
            <a:avLst/>
          </a:prstGeom>
          <a:noFill/>
        </p:spPr>
        <p:txBody>
          <a:bodyPr wrap="square" lIns="0" rIns="0" tIns="0" bIns="0">
            <a:spAutoFit/>
          </a:bodyPr>
          <a:lstStyle/>
          <a:p>
            <a:pPr algn="l">
              <a:defRPr sz="950" b="0" i="0">
                <a:solidFill>
                  <a:srgbClr val="212121"/>
                </a:solidFill>
                <a:latin typeface="Calibri"/>
              </a:defRPr>
            </a:pPr>
            <a:r>
              <a:t>577</a:t>
            </a:r>
          </a:p>
        </p:txBody>
      </p:sp>
      <p:sp>
        <p:nvSpPr>
          <p:cNvPr id="54" name="Rectangle 53"/>
          <p:cNvSpPr/>
          <p:nvPr/>
        </p:nvSpPr>
        <p:spPr>
          <a:xfrm>
            <a:off x="8641080" y="3017520"/>
            <a:ext cx="13716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32519" y="3081528"/>
            <a:ext cx="118872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56" name="Rectangle 55"/>
          <p:cNvSpPr/>
          <p:nvPr/>
        </p:nvSpPr>
        <p:spPr>
          <a:xfrm>
            <a:off x="10012680" y="3017520"/>
            <a:ext cx="164592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104119" y="3081528"/>
            <a:ext cx="146304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58" name="Rectangle 57"/>
          <p:cNvSpPr/>
          <p:nvPr/>
        </p:nvSpPr>
        <p:spPr>
          <a:xfrm>
            <a:off x="502920" y="3364992"/>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3429000"/>
            <a:ext cx="2103120" cy="347472"/>
          </a:xfrm>
          <a:prstGeom prst="rect">
            <a:avLst/>
          </a:prstGeom>
          <a:noFill/>
        </p:spPr>
        <p:txBody>
          <a:bodyPr wrap="square" lIns="0" rIns="0" tIns="0" bIns="0">
            <a:spAutoFit/>
          </a:bodyPr>
          <a:lstStyle/>
          <a:p>
            <a:pPr algn="l">
              <a:defRPr sz="950" b="1" i="0">
                <a:solidFill>
                  <a:srgbClr val="212121"/>
                </a:solidFill>
                <a:latin typeface="Calibri"/>
              </a:defRPr>
            </a:pPr>
            <a:r>
              <a:t>subtotal</a:t>
            </a:r>
          </a:p>
        </p:txBody>
      </p:sp>
      <p:sp>
        <p:nvSpPr>
          <p:cNvPr id="60" name="Rectangle 59"/>
          <p:cNvSpPr/>
          <p:nvPr/>
        </p:nvSpPr>
        <p:spPr>
          <a:xfrm>
            <a:off x="2788920" y="3364992"/>
            <a:ext cx="448056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80360" y="3429000"/>
            <a:ext cx="4297680" cy="347472"/>
          </a:xfrm>
          <a:prstGeom prst="rect">
            <a:avLst/>
          </a:prstGeom>
          <a:noFill/>
        </p:spPr>
        <p:txBody>
          <a:bodyPr wrap="square" lIns="0" rIns="0" tIns="0" bIns="0">
            <a:spAutoFit/>
          </a:bodyPr>
          <a:lstStyle/>
          <a:p>
            <a:pPr algn="l">
              <a:defRPr sz="950" b="0" i="0">
                <a:solidFill>
                  <a:srgbClr val="212121"/>
                </a:solidFill>
                <a:latin typeface="Calibri"/>
              </a:defRPr>
            </a:pPr>
            <a:r>
              <a:t>Subtotal Private Investments</a:t>
            </a:r>
          </a:p>
        </p:txBody>
      </p:sp>
      <p:sp>
        <p:nvSpPr>
          <p:cNvPr id="62" name="Rectangle 61"/>
          <p:cNvSpPr/>
          <p:nvPr/>
        </p:nvSpPr>
        <p:spPr>
          <a:xfrm>
            <a:off x="7269480" y="3364992"/>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60920" y="3429000"/>
            <a:ext cx="1188720" cy="347472"/>
          </a:xfrm>
          <a:prstGeom prst="rect">
            <a:avLst/>
          </a:prstGeom>
          <a:noFill/>
        </p:spPr>
        <p:txBody>
          <a:bodyPr wrap="square" lIns="0" rIns="0" tIns="0" bIns="0">
            <a:spAutoFit/>
          </a:bodyPr>
          <a:lstStyle/>
          <a:p>
            <a:pPr algn="l">
              <a:defRPr sz="950" b="0" i="0">
                <a:solidFill>
                  <a:srgbClr val="212121"/>
                </a:solidFill>
                <a:latin typeface="Calibri"/>
              </a:defRPr>
            </a:pPr>
            <a:r>
              <a:t>17</a:t>
            </a:r>
          </a:p>
        </p:txBody>
      </p:sp>
      <p:sp>
        <p:nvSpPr>
          <p:cNvPr id="64" name="Rectangle 63"/>
          <p:cNvSpPr/>
          <p:nvPr/>
        </p:nvSpPr>
        <p:spPr>
          <a:xfrm>
            <a:off x="8641080" y="3364992"/>
            <a:ext cx="13716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732519" y="3429000"/>
            <a:ext cx="118872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66" name="Rectangle 65"/>
          <p:cNvSpPr/>
          <p:nvPr/>
        </p:nvSpPr>
        <p:spPr>
          <a:xfrm>
            <a:off x="10012680" y="3364992"/>
            <a:ext cx="164592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104119" y="3429000"/>
            <a:ext cx="1463040" cy="347472"/>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68" name="Rectangle 67"/>
          <p:cNvSpPr/>
          <p:nvPr/>
        </p:nvSpPr>
        <p:spPr>
          <a:xfrm>
            <a:off x="502920" y="3977639"/>
            <a:ext cx="5486400" cy="160020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3232" y="4169663"/>
            <a:ext cx="5029200" cy="1280160"/>
          </a:xfrm>
          <a:prstGeom prst="rect">
            <a:avLst/>
          </a:prstGeom>
          <a:noFill/>
        </p:spPr>
        <p:txBody>
          <a:bodyPr wrap="square" lIns="0" rIns="0" tIns="0" bIns="0">
            <a:spAutoFit/>
          </a:bodyPr>
          <a:lstStyle/>
          <a:p>
            <a:pPr algn="l">
              <a:spcAft>
                <a:spcPts val="500"/>
              </a:spcAft>
              <a:defRPr sz="950" b="0" i="0">
                <a:solidFill>
                  <a:srgbClr val="212121"/>
                </a:solidFill>
                <a:latin typeface="Calibri"/>
              </a:defRPr>
            </a:pPr>
            <a:r>
              <a:t>WHAT THE OLD FILTER MISSED</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It matched only the Non-Investment prefix. 594 rows of journal entries arriving without that prefix stayed in the population — including a singular "Non-Investment Asset - Cash" the regex did not cover.</a:t>
            </a:r>
          </a:p>
        </p:txBody>
      </p:sp>
      <p:sp>
        <p:nvSpPr>
          <p:cNvPr id="70" name="Rectangle 69"/>
          <p:cNvSpPr/>
          <p:nvPr/>
        </p:nvSpPr>
        <p:spPr>
          <a:xfrm>
            <a:off x="6199632" y="3977639"/>
            <a:ext cx="5486400" cy="160020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99632" y="3977639"/>
            <a:ext cx="50292" cy="16002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28232" y="4169663"/>
            <a:ext cx="5029200" cy="1280160"/>
          </a:xfrm>
          <a:prstGeom prst="rect">
            <a:avLst/>
          </a:prstGeom>
          <a:noFill/>
        </p:spPr>
        <p:txBody>
          <a:bodyPr wrap="square" lIns="0" rIns="0" tIns="0" bIns="0">
            <a:spAutoFit/>
          </a:bodyPr>
          <a:lstStyle/>
          <a:p>
            <a:pPr algn="l">
              <a:spcAft>
                <a:spcPts val="500"/>
              </a:spcAft>
              <a:defRPr sz="950" b="0" i="0">
                <a:solidFill>
                  <a:srgbClr val="212121"/>
                </a:solidFill>
                <a:latin typeface="Calibri"/>
              </a:defRPr>
            </a:pPr>
            <a:r>
              <a:t>WHY AGGREGATES ARE SPLIT OUT</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"Other Investments" is real exposure and belongs in a score, but it is not an entity. Counting it as a company puts work in the resolution queue that can never be completed.</a:t>
            </a:r>
          </a:p>
        </p:txBody>
      </p:sp>
      <p:sp>
        <p:nvSpPr>
          <p:cNvPr id="73" name="Rectangle 72"/>
          <p:cNvSpPr/>
          <p:nvPr/>
        </p:nvSpPr>
        <p:spPr>
          <a:xfrm>
            <a:off x="502920" y="5687568"/>
            <a:ext cx="11185855" cy="566928"/>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02920" y="5687568"/>
            <a:ext cx="50292"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3232" y="5806440"/>
            <a:ext cx="10774375" cy="384048"/>
          </a:xfrm>
          <a:prstGeom prst="rect">
            <a:avLst/>
          </a:prstGeom>
          <a:noFill/>
        </p:spPr>
        <p:txBody>
          <a:bodyPr wrap="square" lIns="0" rIns="0" tIns="0" bIns="0">
            <a:spAutoFit/>
          </a:bodyPr>
          <a:lstStyle/>
          <a:p>
            <a:pPr algn="l">
              <a:defRPr sz="1050" b="0" i="0">
                <a:solidFill>
                  <a:srgbClr val="212121"/>
                </a:solidFill>
                <a:latin typeface="Calibri"/>
              </a:defRPr>
            </a:pPr>
            <a:r>
              <a:t>Matching is anchored to the whole string, not substrings: the book contains real companies called Itz Cash, Keeper Tax Inc. and Gamma Labs (dba Column Tax). SPV and co-invest vehicles are kept as holdings.</a:t>
            </a:r>
          </a:p>
        </p:txBody>
      </p:sp>
      <p:sp>
        <p:nvSpPr>
          <p:cNvPr id="76" name="Rectangle 75"/>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57 regression tests lock this behaviour</a:t>
            </a:r>
          </a:p>
        </p:txBody>
      </p:sp>
      <p:sp>
        <p:nvSpPr>
          <p:cNvPr id="78" name="TextBox 77"/>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FINDINGS</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Headline results</a:t>
            </a:r>
          </a:p>
        </p:txBody>
      </p:sp>
      <p:sp>
        <p:nvSpPr>
          <p:cNvPr id="7" name="Rectangle 6"/>
          <p:cNvSpPr/>
          <p:nvPr/>
        </p:nvSpPr>
        <p:spPr>
          <a:xfrm>
            <a:off x="50292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PORTFOLIO COMPLETENESS</a:t>
            </a:r>
          </a:p>
        </p:txBody>
      </p:sp>
      <p:sp>
        <p:nvSpPr>
          <p:cNvPr id="10" name="TextBox 9"/>
          <p:cNvSpPr txBox="1"/>
          <p:nvPr/>
        </p:nvSpPr>
        <p:spPr>
          <a:xfrm>
            <a:off x="64922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90.6%</a:t>
            </a:r>
          </a:p>
        </p:txBody>
      </p:sp>
      <p:sp>
        <p:nvSpPr>
          <p:cNvPr id="11" name="TextBox 10"/>
          <p:cNvSpPr txBox="1"/>
          <p:nvPr/>
        </p:nvSpPr>
        <p:spPr>
          <a:xfrm>
            <a:off x="64922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mean across 385 funds</a:t>
            </a:r>
          </a:p>
        </p:txBody>
      </p:sp>
      <p:sp>
        <p:nvSpPr>
          <p:cNvPr id="12" name="Rectangle 11"/>
          <p:cNvSpPr/>
          <p:nvPr/>
        </p:nvSpPr>
        <p:spPr>
          <a:xfrm>
            <a:off x="429768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FUNDS AT 100%</a:t>
            </a:r>
          </a:p>
        </p:txBody>
      </p:sp>
      <p:sp>
        <p:nvSpPr>
          <p:cNvPr id="15" name="TextBox 14"/>
          <p:cNvSpPr txBox="1"/>
          <p:nvPr/>
        </p:nvSpPr>
        <p:spPr>
          <a:xfrm>
            <a:off x="444398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118</a:t>
            </a:r>
          </a:p>
        </p:txBody>
      </p:sp>
      <p:sp>
        <p:nvSpPr>
          <p:cNvPr id="16" name="TextBox 15"/>
          <p:cNvSpPr txBox="1"/>
          <p:nvPr/>
        </p:nvSpPr>
        <p:spPr>
          <a:xfrm>
            <a:off x="444398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30.6% of the book</a:t>
            </a:r>
          </a:p>
        </p:txBody>
      </p:sp>
      <p:sp>
        <p:nvSpPr>
          <p:cNvPr id="17" name="Rectangle 16"/>
          <p:cNvSpPr/>
          <p:nvPr/>
        </p:nvSpPr>
        <p:spPr>
          <a:xfrm>
            <a:off x="809244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FUNDS BELOW −2Σ</a:t>
            </a:r>
          </a:p>
        </p:txBody>
      </p:sp>
      <p:sp>
        <p:nvSpPr>
          <p:cNvPr id="20" name="TextBox 19"/>
          <p:cNvSpPr txBox="1"/>
          <p:nvPr/>
        </p:nvSpPr>
        <p:spPr>
          <a:xfrm>
            <a:off x="8238744" y="1691640"/>
            <a:ext cx="3319272" cy="566928"/>
          </a:xfrm>
          <a:prstGeom prst="rect">
            <a:avLst/>
          </a:prstGeom>
          <a:noFill/>
        </p:spPr>
        <p:txBody>
          <a:bodyPr wrap="square" lIns="0" rIns="0" tIns="0" bIns="0">
            <a:spAutoFit/>
          </a:bodyPr>
          <a:lstStyle/>
          <a:p>
            <a:pPr algn="l">
              <a:defRPr sz="2600" b="1" i="0">
                <a:solidFill>
                  <a:srgbClr val="B03A2E"/>
                </a:solidFill>
                <a:latin typeface="Georgia"/>
              </a:defRPr>
            </a:pPr>
            <a:r>
              <a:t>19</a:t>
            </a:r>
          </a:p>
        </p:txBody>
      </p:sp>
      <p:sp>
        <p:nvSpPr>
          <p:cNvPr id="21" name="TextBox 20"/>
          <p:cNvSpPr txBox="1"/>
          <p:nvPr/>
        </p:nvSpPr>
        <p:spPr>
          <a:xfrm>
            <a:off x="823874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none above +2σ</a:t>
            </a:r>
          </a:p>
        </p:txBody>
      </p:sp>
      <p:sp>
        <p:nvSpPr>
          <p:cNvPr id="22" name="Rectangle 21"/>
          <p:cNvSpPr/>
          <p:nvPr/>
        </p:nvSpPr>
        <p:spPr>
          <a:xfrm>
            <a:off x="502920" y="28346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28346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3017520"/>
            <a:ext cx="3319272" cy="237744"/>
          </a:xfrm>
          <a:prstGeom prst="rect">
            <a:avLst/>
          </a:prstGeom>
          <a:noFill/>
        </p:spPr>
        <p:txBody>
          <a:bodyPr wrap="square" lIns="0" rIns="0" tIns="0" bIns="0">
            <a:spAutoFit/>
          </a:bodyPr>
          <a:lstStyle/>
          <a:p>
            <a:pPr algn="l">
              <a:defRPr sz="780" b="1" i="0">
                <a:solidFill>
                  <a:srgbClr val="4682B4"/>
                </a:solidFill>
                <a:latin typeface="Calibri"/>
              </a:defRPr>
            </a:pPr>
            <a:r>
              <a:t>MANAGERS BELOW 85%</a:t>
            </a:r>
          </a:p>
        </p:txBody>
      </p:sp>
      <p:sp>
        <p:nvSpPr>
          <p:cNvPr id="25" name="TextBox 24"/>
          <p:cNvSpPr txBox="1"/>
          <p:nvPr/>
        </p:nvSpPr>
        <p:spPr>
          <a:xfrm>
            <a:off x="649224" y="3291840"/>
            <a:ext cx="3319272" cy="566928"/>
          </a:xfrm>
          <a:prstGeom prst="rect">
            <a:avLst/>
          </a:prstGeom>
          <a:noFill/>
        </p:spPr>
        <p:txBody>
          <a:bodyPr wrap="square" lIns="0" rIns="0" tIns="0" bIns="0">
            <a:spAutoFit/>
          </a:bodyPr>
          <a:lstStyle/>
          <a:p>
            <a:pPr algn="l">
              <a:defRPr sz="2600" b="1" i="0">
                <a:solidFill>
                  <a:srgbClr val="B03A2E"/>
                </a:solidFill>
                <a:latin typeface="Georgia"/>
              </a:defRPr>
            </a:pPr>
            <a:r>
              <a:t>14</a:t>
            </a:r>
          </a:p>
        </p:txBody>
      </p:sp>
      <p:sp>
        <p:nvSpPr>
          <p:cNvPr id="26" name="TextBox 25"/>
          <p:cNvSpPr txBox="1"/>
          <p:nvPr/>
        </p:nvSpPr>
        <p:spPr>
          <a:xfrm>
            <a:off x="649224" y="3867912"/>
            <a:ext cx="3319272" cy="274320"/>
          </a:xfrm>
          <a:prstGeom prst="rect">
            <a:avLst/>
          </a:prstGeom>
          <a:noFill/>
        </p:spPr>
        <p:txBody>
          <a:bodyPr wrap="square" lIns="0" rIns="0" tIns="0" bIns="0">
            <a:spAutoFit/>
          </a:bodyPr>
          <a:lstStyle/>
          <a:p>
            <a:pPr algn="l">
              <a:defRPr sz="780" b="0" i="1">
                <a:solidFill>
                  <a:srgbClr val="6E6E6E"/>
                </a:solidFill>
                <a:latin typeface="Calibri"/>
              </a:defRPr>
            </a:pPr>
            <a:r>
              <a:t>of 87 scored</a:t>
            </a:r>
          </a:p>
        </p:txBody>
      </p:sp>
      <p:sp>
        <p:nvSpPr>
          <p:cNvPr id="27" name="Rectangle 26"/>
          <p:cNvSpPr/>
          <p:nvPr/>
        </p:nvSpPr>
        <p:spPr>
          <a:xfrm>
            <a:off x="4297680" y="28346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28346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43984" y="3017520"/>
            <a:ext cx="3319272" cy="237744"/>
          </a:xfrm>
          <a:prstGeom prst="rect">
            <a:avLst/>
          </a:prstGeom>
          <a:noFill/>
        </p:spPr>
        <p:txBody>
          <a:bodyPr wrap="square" lIns="0" rIns="0" tIns="0" bIns="0">
            <a:spAutoFit/>
          </a:bodyPr>
          <a:lstStyle/>
          <a:p>
            <a:pPr algn="l">
              <a:defRPr sz="780" b="1" i="0">
                <a:solidFill>
                  <a:srgbClr val="4682B4"/>
                </a:solidFill>
                <a:latin typeface="Calibri"/>
              </a:defRPr>
            </a:pPr>
            <a:r>
              <a:t>CROSS-FUND COMPANIES</a:t>
            </a:r>
          </a:p>
        </p:txBody>
      </p:sp>
      <p:sp>
        <p:nvSpPr>
          <p:cNvPr id="30" name="TextBox 29"/>
          <p:cNvSpPr txBox="1"/>
          <p:nvPr/>
        </p:nvSpPr>
        <p:spPr>
          <a:xfrm>
            <a:off x="4443984" y="3291840"/>
            <a:ext cx="3319272" cy="566928"/>
          </a:xfrm>
          <a:prstGeom prst="rect">
            <a:avLst/>
          </a:prstGeom>
          <a:noFill/>
        </p:spPr>
        <p:txBody>
          <a:bodyPr wrap="square" lIns="0" rIns="0" tIns="0" bIns="0">
            <a:spAutoFit/>
          </a:bodyPr>
          <a:lstStyle/>
          <a:p>
            <a:pPr algn="l">
              <a:defRPr sz="2600" b="1" i="0">
                <a:solidFill>
                  <a:srgbClr val="B8860B"/>
                </a:solidFill>
                <a:latin typeface="Georgia"/>
              </a:defRPr>
            </a:pPr>
            <a:r>
              <a:t>1,107</a:t>
            </a:r>
          </a:p>
        </p:txBody>
      </p:sp>
      <p:sp>
        <p:nvSpPr>
          <p:cNvPr id="31" name="TextBox 30"/>
          <p:cNvSpPr txBox="1"/>
          <p:nvPr/>
        </p:nvSpPr>
        <p:spPr>
          <a:xfrm>
            <a:off x="4443984" y="3867912"/>
            <a:ext cx="3319272" cy="274320"/>
          </a:xfrm>
          <a:prstGeom prst="rect">
            <a:avLst/>
          </a:prstGeom>
          <a:noFill/>
        </p:spPr>
        <p:txBody>
          <a:bodyPr wrap="square" lIns="0" rIns="0" tIns="0" bIns="0">
            <a:spAutoFit/>
          </a:bodyPr>
          <a:lstStyle/>
          <a:p>
            <a:pPr algn="l">
              <a:defRPr sz="780" b="0" i="1">
                <a:solidFill>
                  <a:srgbClr val="6E6E6E"/>
                </a:solidFill>
                <a:latin typeface="Calibri"/>
              </a:defRPr>
            </a:pPr>
            <a:r>
              <a:t>entity-resolution scope</a:t>
            </a:r>
          </a:p>
        </p:txBody>
      </p:sp>
      <p:sp>
        <p:nvSpPr>
          <p:cNvPr id="32" name="Rectangle 31"/>
          <p:cNvSpPr/>
          <p:nvPr/>
        </p:nvSpPr>
        <p:spPr>
          <a:xfrm>
            <a:off x="8092440" y="28346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92440" y="28346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8744" y="3017520"/>
            <a:ext cx="3319272" cy="237744"/>
          </a:xfrm>
          <a:prstGeom prst="rect">
            <a:avLst/>
          </a:prstGeom>
          <a:noFill/>
        </p:spPr>
        <p:txBody>
          <a:bodyPr wrap="square" lIns="0" rIns="0" tIns="0" bIns="0">
            <a:spAutoFit/>
          </a:bodyPr>
          <a:lstStyle/>
          <a:p>
            <a:pPr algn="l">
              <a:defRPr sz="780" b="1" i="0">
                <a:solidFill>
                  <a:srgbClr val="4682B4"/>
                </a:solidFill>
                <a:latin typeface="Calibri"/>
              </a:defRPr>
            </a:pPr>
            <a:r>
              <a:t>FLAGGED RECORDS</a:t>
            </a:r>
          </a:p>
        </p:txBody>
      </p:sp>
      <p:sp>
        <p:nvSpPr>
          <p:cNvPr id="35" name="TextBox 34"/>
          <p:cNvSpPr txBox="1"/>
          <p:nvPr/>
        </p:nvSpPr>
        <p:spPr>
          <a:xfrm>
            <a:off x="8238744" y="3291840"/>
            <a:ext cx="3319272" cy="566928"/>
          </a:xfrm>
          <a:prstGeom prst="rect">
            <a:avLst/>
          </a:prstGeom>
          <a:noFill/>
        </p:spPr>
        <p:txBody>
          <a:bodyPr wrap="square" lIns="0" rIns="0" tIns="0" bIns="0">
            <a:spAutoFit/>
          </a:bodyPr>
          <a:lstStyle/>
          <a:p>
            <a:pPr algn="l">
              <a:defRPr sz="2600" b="1" i="0">
                <a:solidFill>
                  <a:srgbClr val="B8860B"/>
                </a:solidFill>
                <a:latin typeface="Georgia"/>
              </a:defRPr>
            </a:pPr>
            <a:r>
              <a:t>13,176</a:t>
            </a:r>
          </a:p>
        </p:txBody>
      </p:sp>
      <p:sp>
        <p:nvSpPr>
          <p:cNvPr id="36" name="TextBox 35"/>
          <p:cNvSpPr txBox="1"/>
          <p:nvPr/>
        </p:nvSpPr>
        <p:spPr>
          <a:xfrm>
            <a:off x="8238744" y="3867912"/>
            <a:ext cx="3319272" cy="274320"/>
          </a:xfrm>
          <a:prstGeom prst="rect">
            <a:avLst/>
          </a:prstGeom>
          <a:noFill/>
        </p:spPr>
        <p:txBody>
          <a:bodyPr wrap="square" lIns="0" rIns="0" tIns="0" bIns="0">
            <a:spAutoFit/>
          </a:bodyPr>
          <a:lstStyle/>
          <a:p>
            <a:pPr algn="l">
              <a:defRPr sz="780" b="0" i="1">
                <a:solidFill>
                  <a:srgbClr val="6E6E6E"/>
                </a:solidFill>
                <a:latin typeface="Calibri"/>
              </a:defRPr>
            </a:pPr>
            <a:r>
              <a:t>ready for GP follow-up</a:t>
            </a:r>
          </a:p>
        </p:txBody>
      </p:sp>
      <p:sp>
        <p:nvSpPr>
          <p:cNvPr id="37" name="Rectangle 36"/>
          <p:cNvSpPr/>
          <p:nvPr/>
        </p:nvSpPr>
        <p:spPr>
          <a:xfrm>
            <a:off x="502920" y="4526280"/>
            <a:ext cx="11185855" cy="86868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4526280"/>
            <a:ext cx="50292" cy="8686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4645152"/>
            <a:ext cx="10774375" cy="685800"/>
          </a:xfrm>
          <a:prstGeom prst="rect">
            <a:avLst/>
          </a:prstGeom>
          <a:noFill/>
        </p:spPr>
        <p:txBody>
          <a:bodyPr wrap="square" lIns="0" rIns="0" tIns="0" bIns="0">
            <a:spAutoFit/>
          </a:bodyPr>
          <a:lstStyle/>
          <a:p>
            <a:pPr algn="l">
              <a:defRPr sz="1050" b="0" i="0">
                <a:solidFill>
                  <a:srgbClr val="212121"/>
                </a:solidFill>
                <a:latin typeface="Calibri"/>
              </a:defRPr>
            </a:pPr>
            <a:r>
              <a:t>One number hides the story. 90.6% average completeness looks healthy, but the distribution is one-tailed and the variance sits inside managers, not between them — the next eleven slides take that apart.</a:t>
            </a:r>
          </a:p>
        </p:txBody>
      </p:sp>
      <p:sp>
        <p:nvSpPr>
          <p:cNvPr id="40" name="Rectangle 39"/>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All figures computed on 52,048 scorable rows</a:t>
            </a:r>
          </a:p>
        </p:txBody>
      </p:sp>
      <p:sp>
        <p:nvSpPr>
          <p:cNvPr id="42" name="TextBox 41"/>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3 — SCORE BY FIELD</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Completeness is not uniform across field families</a:t>
            </a:r>
          </a:p>
        </p:txBody>
      </p:sp>
      <p:pic>
        <p:nvPicPr>
          <p:cNvPr id="7" name="Picture 6" descr="field_by_category.png"/>
          <p:cNvPicPr>
            <a:picLocks noChangeAspect="1"/>
          </p:cNvPicPr>
          <p:nvPr/>
        </p:nvPicPr>
        <p:blipFill>
          <a:blip r:embed="rId2"/>
          <a:stretch>
            <a:fillRect/>
          </a:stretch>
        </p:blipFill>
        <p:spPr>
          <a:xfrm>
            <a:off x="685800" y="1282620"/>
            <a:ext cx="10820095" cy="3844704"/>
          </a:xfrm>
          <a:prstGeom prst="rect">
            <a:avLst/>
          </a:prstGeom>
        </p:spPr>
      </p:pic>
      <p:sp>
        <p:nvSpPr>
          <p:cNvPr id="8" name="Rectangle 7"/>
          <p:cNvSpPr/>
          <p:nvPr/>
        </p:nvSpPr>
        <p:spPr>
          <a:xfrm>
            <a:off x="502920" y="5367528"/>
            <a:ext cx="11185855" cy="86868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367528"/>
            <a:ext cx="50292" cy="8686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486400"/>
            <a:ext cx="10774375" cy="685800"/>
          </a:xfrm>
          <a:prstGeom prst="rect">
            <a:avLst/>
          </a:prstGeom>
          <a:noFill/>
        </p:spPr>
        <p:txBody>
          <a:bodyPr wrap="square" lIns="0" rIns="0" tIns="0" bIns="0">
            <a:spAutoFit/>
          </a:bodyPr>
          <a:lstStyle/>
          <a:p>
            <a:pPr algn="l">
              <a:defRPr sz="1050" b="0" i="0">
                <a:solidFill>
                  <a:srgbClr val="212121"/>
                </a:solidFill>
                <a:latin typeface="Calibri"/>
              </a:defRPr>
            </a:pPr>
            <a:r>
              <a:t>Identity and classification fields are effectively complete. Financial fields cluster in the low-80s. Returns and ownership fields collapse — and that collapse is the single largest analytical constraint in the dataset.</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Gold line = 85% threshold  ·  red bars below 50%</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FINDING 1</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The returns cliff</a:t>
            </a:r>
          </a:p>
        </p:txBody>
      </p:sp>
      <p:sp>
        <p:nvSpPr>
          <p:cNvPr id="7" name="TextBox 6"/>
          <p:cNvSpPr txBox="1"/>
          <p:nvPr/>
        </p:nvSpPr>
        <p:spPr>
          <a:xfrm>
            <a:off x="502920" y="1188720"/>
            <a:ext cx="11155680" cy="365760"/>
          </a:xfrm>
          <a:prstGeom prst="rect">
            <a:avLst/>
          </a:prstGeom>
          <a:noFill/>
        </p:spPr>
        <p:txBody>
          <a:bodyPr wrap="square" lIns="0" rIns="0" tIns="0" bIns="0">
            <a:spAutoFit/>
          </a:bodyPr>
          <a:lstStyle/>
          <a:p>
            <a:pPr algn="l">
              <a:defRPr sz="1200" b="0" i="0">
                <a:solidFill>
                  <a:srgbClr val="6E6E6E"/>
                </a:solidFill>
                <a:latin typeface="Calibri"/>
              </a:defRPr>
            </a:pPr>
            <a:r>
              <a:t>Gross-level return metrics are broadly reported. Net-level metrics are effectively absent.</a:t>
            </a:r>
          </a:p>
        </p:txBody>
      </p:sp>
      <p:sp>
        <p:nvSpPr>
          <p:cNvPr id="8" name="Rectangle 7"/>
          <p:cNvSpPr/>
          <p:nvPr/>
        </p:nvSpPr>
        <p:spPr>
          <a:xfrm>
            <a:off x="502920" y="1737360"/>
            <a:ext cx="329184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05939"/>
            <a:ext cx="3108960" cy="310896"/>
          </a:xfrm>
          <a:prstGeom prst="rect">
            <a:avLst/>
          </a:prstGeom>
          <a:noFill/>
        </p:spPr>
        <p:txBody>
          <a:bodyPr wrap="square" lIns="0" rIns="0" tIns="0" bIns="0">
            <a:spAutoFit/>
          </a:bodyPr>
          <a:lstStyle/>
          <a:p>
            <a:pPr algn="l">
              <a:defRPr sz="850" b="1" i="0">
                <a:solidFill>
                  <a:srgbClr val="FFFFFF"/>
                </a:solidFill>
                <a:latin typeface="Calibri"/>
              </a:defRPr>
            </a:pPr>
            <a:r>
              <a:t>Return metric</a:t>
            </a:r>
          </a:p>
        </p:txBody>
      </p:sp>
      <p:sp>
        <p:nvSpPr>
          <p:cNvPr id="10" name="Rectangle 9"/>
          <p:cNvSpPr/>
          <p:nvPr/>
        </p:nvSpPr>
        <p:spPr>
          <a:xfrm>
            <a:off x="3794760" y="1737360"/>
            <a:ext cx="201168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6200" y="1805939"/>
            <a:ext cx="1828800" cy="310896"/>
          </a:xfrm>
          <a:prstGeom prst="rect">
            <a:avLst/>
          </a:prstGeom>
          <a:noFill/>
        </p:spPr>
        <p:txBody>
          <a:bodyPr wrap="square" lIns="0" rIns="0" tIns="0" bIns="0">
            <a:spAutoFit/>
          </a:bodyPr>
          <a:lstStyle/>
          <a:p>
            <a:pPr algn="l">
              <a:defRPr sz="850" b="1" i="0">
                <a:solidFill>
                  <a:srgbClr val="FFFFFF"/>
                </a:solidFill>
                <a:latin typeface="Calibri"/>
              </a:defRPr>
            </a:pPr>
            <a:r>
              <a:t>Fill rate</a:t>
            </a:r>
          </a:p>
        </p:txBody>
      </p:sp>
      <p:sp>
        <p:nvSpPr>
          <p:cNvPr id="12" name="Rectangle 11"/>
          <p:cNvSpPr/>
          <p:nvPr/>
        </p:nvSpPr>
        <p:spPr>
          <a:xfrm>
            <a:off x="5806440" y="1737360"/>
            <a:ext cx="164592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7880" y="1805939"/>
            <a:ext cx="1463040" cy="310896"/>
          </a:xfrm>
          <a:prstGeom prst="rect">
            <a:avLst/>
          </a:prstGeom>
          <a:noFill/>
        </p:spPr>
        <p:txBody>
          <a:bodyPr wrap="square" lIns="0" rIns="0" tIns="0" bIns="0">
            <a:spAutoFit/>
          </a:bodyPr>
          <a:lstStyle/>
          <a:p>
            <a:pPr algn="l">
              <a:defRPr sz="850" b="1" i="0">
                <a:solidFill>
                  <a:srgbClr val="FFFFFF"/>
                </a:solidFill>
                <a:latin typeface="Calibri"/>
              </a:defRPr>
            </a:pPr>
            <a:r>
              <a:t>Usable?</a:t>
            </a:r>
          </a:p>
        </p:txBody>
      </p:sp>
      <p:sp>
        <p:nvSpPr>
          <p:cNvPr id="14" name="Rectangle 13"/>
          <p:cNvSpPr/>
          <p:nvPr/>
        </p:nvSpPr>
        <p:spPr>
          <a:xfrm>
            <a:off x="502920" y="2048255"/>
            <a:ext cx="32918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12263"/>
            <a:ext cx="3108960" cy="310896"/>
          </a:xfrm>
          <a:prstGeom prst="rect">
            <a:avLst/>
          </a:prstGeom>
          <a:noFill/>
        </p:spPr>
        <p:txBody>
          <a:bodyPr wrap="square" lIns="0" rIns="0" tIns="0" bIns="0">
            <a:spAutoFit/>
          </a:bodyPr>
          <a:lstStyle/>
          <a:p>
            <a:pPr algn="l">
              <a:defRPr sz="950" b="1" i="0">
                <a:solidFill>
                  <a:srgbClr val="212121"/>
                </a:solidFill>
                <a:latin typeface="Calibri"/>
              </a:defRPr>
            </a:pPr>
            <a:r>
              <a:t>Gross TVPI</a:t>
            </a:r>
          </a:p>
        </p:txBody>
      </p:sp>
      <p:sp>
        <p:nvSpPr>
          <p:cNvPr id="16" name="Rectangle 15"/>
          <p:cNvSpPr/>
          <p:nvPr/>
        </p:nvSpPr>
        <p:spPr>
          <a:xfrm>
            <a:off x="3794760" y="2048255"/>
            <a:ext cx="20116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86200" y="2112263"/>
            <a:ext cx="1828800" cy="310896"/>
          </a:xfrm>
          <a:prstGeom prst="rect">
            <a:avLst/>
          </a:prstGeom>
          <a:noFill/>
        </p:spPr>
        <p:txBody>
          <a:bodyPr wrap="square" lIns="0" rIns="0" tIns="0" bIns="0">
            <a:spAutoFit/>
          </a:bodyPr>
          <a:lstStyle/>
          <a:p>
            <a:pPr algn="l">
              <a:defRPr sz="950" b="0" i="0">
                <a:solidFill>
                  <a:srgbClr val="212121"/>
                </a:solidFill>
                <a:latin typeface="Calibri"/>
              </a:defRPr>
            </a:pPr>
            <a:r>
              <a:t>79.1%</a:t>
            </a:r>
          </a:p>
        </p:txBody>
      </p:sp>
      <p:sp>
        <p:nvSpPr>
          <p:cNvPr id="18" name="Rectangle 17"/>
          <p:cNvSpPr/>
          <p:nvPr/>
        </p:nvSpPr>
        <p:spPr>
          <a:xfrm>
            <a:off x="5806440" y="2048255"/>
            <a:ext cx="1645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112263"/>
            <a:ext cx="1463040" cy="310896"/>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20" name="Rectangle 19"/>
          <p:cNvSpPr/>
          <p:nvPr/>
        </p:nvSpPr>
        <p:spPr>
          <a:xfrm>
            <a:off x="502920" y="2359151"/>
            <a:ext cx="32918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423159"/>
            <a:ext cx="3108960" cy="310896"/>
          </a:xfrm>
          <a:prstGeom prst="rect">
            <a:avLst/>
          </a:prstGeom>
          <a:noFill/>
        </p:spPr>
        <p:txBody>
          <a:bodyPr wrap="square" lIns="0" rIns="0" tIns="0" bIns="0">
            <a:spAutoFit/>
          </a:bodyPr>
          <a:lstStyle/>
          <a:p>
            <a:pPr algn="l">
              <a:defRPr sz="950" b="1" i="0">
                <a:solidFill>
                  <a:srgbClr val="212121"/>
                </a:solidFill>
                <a:latin typeface="Calibri"/>
              </a:defRPr>
            </a:pPr>
            <a:r>
              <a:t>RVPI</a:t>
            </a:r>
          </a:p>
        </p:txBody>
      </p:sp>
      <p:sp>
        <p:nvSpPr>
          <p:cNvPr id="22" name="Rectangle 21"/>
          <p:cNvSpPr/>
          <p:nvPr/>
        </p:nvSpPr>
        <p:spPr>
          <a:xfrm>
            <a:off x="3794760" y="2359151"/>
            <a:ext cx="20116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2423159"/>
            <a:ext cx="1828800" cy="310896"/>
          </a:xfrm>
          <a:prstGeom prst="rect">
            <a:avLst/>
          </a:prstGeom>
          <a:noFill/>
        </p:spPr>
        <p:txBody>
          <a:bodyPr wrap="square" lIns="0" rIns="0" tIns="0" bIns="0">
            <a:spAutoFit/>
          </a:bodyPr>
          <a:lstStyle/>
          <a:p>
            <a:pPr algn="l">
              <a:defRPr sz="950" b="0" i="0">
                <a:solidFill>
                  <a:srgbClr val="212121"/>
                </a:solidFill>
                <a:latin typeface="Calibri"/>
              </a:defRPr>
            </a:pPr>
            <a:r>
              <a:t>78.6%</a:t>
            </a:r>
          </a:p>
        </p:txBody>
      </p:sp>
      <p:sp>
        <p:nvSpPr>
          <p:cNvPr id="24" name="Rectangle 23"/>
          <p:cNvSpPr/>
          <p:nvPr/>
        </p:nvSpPr>
        <p:spPr>
          <a:xfrm>
            <a:off x="5806440" y="2359151"/>
            <a:ext cx="1645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2423159"/>
            <a:ext cx="1463040" cy="310896"/>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26" name="Rectangle 25"/>
          <p:cNvSpPr/>
          <p:nvPr/>
        </p:nvSpPr>
        <p:spPr>
          <a:xfrm>
            <a:off x="502920" y="2670048"/>
            <a:ext cx="32918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2734056"/>
            <a:ext cx="3108960" cy="310896"/>
          </a:xfrm>
          <a:prstGeom prst="rect">
            <a:avLst/>
          </a:prstGeom>
          <a:noFill/>
        </p:spPr>
        <p:txBody>
          <a:bodyPr wrap="square" lIns="0" rIns="0" tIns="0" bIns="0">
            <a:spAutoFit/>
          </a:bodyPr>
          <a:lstStyle/>
          <a:p>
            <a:pPr algn="l">
              <a:defRPr sz="950" b="1" i="0">
                <a:solidFill>
                  <a:srgbClr val="212121"/>
                </a:solidFill>
                <a:latin typeface="Calibri"/>
              </a:defRPr>
            </a:pPr>
            <a:r>
              <a:t>DPI</a:t>
            </a:r>
          </a:p>
        </p:txBody>
      </p:sp>
      <p:sp>
        <p:nvSpPr>
          <p:cNvPr id="28" name="Rectangle 27"/>
          <p:cNvSpPr/>
          <p:nvPr/>
        </p:nvSpPr>
        <p:spPr>
          <a:xfrm>
            <a:off x="3794760" y="2670048"/>
            <a:ext cx="20116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86200" y="2734056"/>
            <a:ext cx="1828800" cy="310896"/>
          </a:xfrm>
          <a:prstGeom prst="rect">
            <a:avLst/>
          </a:prstGeom>
          <a:noFill/>
        </p:spPr>
        <p:txBody>
          <a:bodyPr wrap="square" lIns="0" rIns="0" tIns="0" bIns="0">
            <a:spAutoFit/>
          </a:bodyPr>
          <a:lstStyle/>
          <a:p>
            <a:pPr algn="l">
              <a:defRPr sz="950" b="0" i="0">
                <a:solidFill>
                  <a:srgbClr val="212121"/>
                </a:solidFill>
                <a:latin typeface="Calibri"/>
              </a:defRPr>
            </a:pPr>
            <a:r>
              <a:t>78.2%</a:t>
            </a:r>
          </a:p>
        </p:txBody>
      </p:sp>
      <p:sp>
        <p:nvSpPr>
          <p:cNvPr id="30" name="Rectangle 29"/>
          <p:cNvSpPr/>
          <p:nvPr/>
        </p:nvSpPr>
        <p:spPr>
          <a:xfrm>
            <a:off x="5806440" y="2670048"/>
            <a:ext cx="1645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97880" y="2734056"/>
            <a:ext cx="1463040" cy="310896"/>
          </a:xfrm>
          <a:prstGeom prst="rect">
            <a:avLst/>
          </a:prstGeom>
          <a:noFill/>
        </p:spPr>
        <p:txBody>
          <a:bodyPr wrap="square" lIns="0" rIns="0" tIns="0" bIns="0">
            <a:spAutoFit/>
          </a:bodyPr>
          <a:lstStyle/>
          <a:p>
            <a:pPr algn="l">
              <a:defRPr sz="950" b="0" i="0">
                <a:solidFill>
                  <a:srgbClr val="212121"/>
                </a:solidFill>
                <a:latin typeface="Calibri"/>
              </a:defRPr>
            </a:pPr>
            <a:r>
              <a:t>Yes</a:t>
            </a:r>
          </a:p>
        </p:txBody>
      </p:sp>
      <p:sp>
        <p:nvSpPr>
          <p:cNvPr id="32" name="Rectangle 31"/>
          <p:cNvSpPr/>
          <p:nvPr/>
        </p:nvSpPr>
        <p:spPr>
          <a:xfrm>
            <a:off x="502920" y="2980944"/>
            <a:ext cx="32918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044951"/>
            <a:ext cx="3108960" cy="310896"/>
          </a:xfrm>
          <a:prstGeom prst="rect">
            <a:avLst/>
          </a:prstGeom>
          <a:noFill/>
        </p:spPr>
        <p:txBody>
          <a:bodyPr wrap="square" lIns="0" rIns="0" tIns="0" bIns="0">
            <a:spAutoFit/>
          </a:bodyPr>
          <a:lstStyle/>
          <a:p>
            <a:pPr algn="l">
              <a:defRPr sz="950" b="1" i="0">
                <a:solidFill>
                  <a:srgbClr val="212121"/>
                </a:solidFill>
                <a:latin typeface="Calibri"/>
              </a:defRPr>
            </a:pPr>
            <a:r>
              <a:t>Gross IRR</a:t>
            </a:r>
          </a:p>
        </p:txBody>
      </p:sp>
      <p:sp>
        <p:nvSpPr>
          <p:cNvPr id="34" name="Rectangle 33"/>
          <p:cNvSpPr/>
          <p:nvPr/>
        </p:nvSpPr>
        <p:spPr>
          <a:xfrm>
            <a:off x="3794760" y="2980944"/>
            <a:ext cx="20116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6200" y="3044951"/>
            <a:ext cx="1828800" cy="310896"/>
          </a:xfrm>
          <a:prstGeom prst="rect">
            <a:avLst/>
          </a:prstGeom>
          <a:noFill/>
        </p:spPr>
        <p:txBody>
          <a:bodyPr wrap="square" lIns="0" rIns="0" tIns="0" bIns="0">
            <a:spAutoFit/>
          </a:bodyPr>
          <a:lstStyle/>
          <a:p>
            <a:pPr algn="l">
              <a:defRPr sz="950" b="0" i="0">
                <a:solidFill>
                  <a:srgbClr val="212121"/>
                </a:solidFill>
                <a:latin typeface="Calibri"/>
              </a:defRPr>
            </a:pPr>
            <a:r>
              <a:t>11.5%</a:t>
            </a:r>
          </a:p>
        </p:txBody>
      </p:sp>
      <p:sp>
        <p:nvSpPr>
          <p:cNvPr id="36" name="Rectangle 35"/>
          <p:cNvSpPr/>
          <p:nvPr/>
        </p:nvSpPr>
        <p:spPr>
          <a:xfrm>
            <a:off x="5806440" y="2980944"/>
            <a:ext cx="1645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7880" y="3044951"/>
            <a:ext cx="1463040" cy="310896"/>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38" name="Rectangle 37"/>
          <p:cNvSpPr/>
          <p:nvPr/>
        </p:nvSpPr>
        <p:spPr>
          <a:xfrm>
            <a:off x="502920" y="3291839"/>
            <a:ext cx="32918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3355847"/>
            <a:ext cx="3108960" cy="310896"/>
          </a:xfrm>
          <a:prstGeom prst="rect">
            <a:avLst/>
          </a:prstGeom>
          <a:noFill/>
        </p:spPr>
        <p:txBody>
          <a:bodyPr wrap="square" lIns="0" rIns="0" tIns="0" bIns="0">
            <a:spAutoFit/>
          </a:bodyPr>
          <a:lstStyle/>
          <a:p>
            <a:pPr algn="l">
              <a:defRPr sz="950" b="1" i="0">
                <a:solidFill>
                  <a:srgbClr val="212121"/>
                </a:solidFill>
                <a:latin typeface="Calibri"/>
              </a:defRPr>
            </a:pPr>
            <a:r>
              <a:t>Net TVPI</a:t>
            </a:r>
          </a:p>
        </p:txBody>
      </p:sp>
      <p:sp>
        <p:nvSpPr>
          <p:cNvPr id="40" name="Rectangle 39"/>
          <p:cNvSpPr/>
          <p:nvPr/>
        </p:nvSpPr>
        <p:spPr>
          <a:xfrm>
            <a:off x="3794760" y="3291839"/>
            <a:ext cx="20116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86200" y="3355847"/>
            <a:ext cx="1828800" cy="310896"/>
          </a:xfrm>
          <a:prstGeom prst="rect">
            <a:avLst/>
          </a:prstGeom>
          <a:noFill/>
        </p:spPr>
        <p:txBody>
          <a:bodyPr wrap="square" lIns="0" rIns="0" tIns="0" bIns="0">
            <a:spAutoFit/>
          </a:bodyPr>
          <a:lstStyle/>
          <a:p>
            <a:pPr algn="l">
              <a:defRPr sz="950" b="0" i="0">
                <a:solidFill>
                  <a:srgbClr val="212121"/>
                </a:solidFill>
                <a:latin typeface="Calibri"/>
              </a:defRPr>
            </a:pPr>
            <a:r>
              <a:t>1.3%</a:t>
            </a:r>
          </a:p>
        </p:txBody>
      </p:sp>
      <p:sp>
        <p:nvSpPr>
          <p:cNvPr id="42" name="Rectangle 41"/>
          <p:cNvSpPr/>
          <p:nvPr/>
        </p:nvSpPr>
        <p:spPr>
          <a:xfrm>
            <a:off x="5806440" y="3291839"/>
            <a:ext cx="1645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7880" y="3355847"/>
            <a:ext cx="1463040" cy="310896"/>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44" name="Rectangle 43"/>
          <p:cNvSpPr/>
          <p:nvPr/>
        </p:nvSpPr>
        <p:spPr>
          <a:xfrm>
            <a:off x="502920" y="3602736"/>
            <a:ext cx="32918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3666744"/>
            <a:ext cx="3108960" cy="310896"/>
          </a:xfrm>
          <a:prstGeom prst="rect">
            <a:avLst/>
          </a:prstGeom>
          <a:noFill/>
        </p:spPr>
        <p:txBody>
          <a:bodyPr wrap="square" lIns="0" rIns="0" tIns="0" bIns="0">
            <a:spAutoFit/>
          </a:bodyPr>
          <a:lstStyle/>
          <a:p>
            <a:pPr algn="l">
              <a:defRPr sz="950" b="1" i="0">
                <a:solidFill>
                  <a:srgbClr val="212121"/>
                </a:solidFill>
                <a:latin typeface="Calibri"/>
              </a:defRPr>
            </a:pPr>
            <a:r>
              <a:t>Net IRR</a:t>
            </a:r>
          </a:p>
        </p:txBody>
      </p:sp>
      <p:sp>
        <p:nvSpPr>
          <p:cNvPr id="46" name="Rectangle 45"/>
          <p:cNvSpPr/>
          <p:nvPr/>
        </p:nvSpPr>
        <p:spPr>
          <a:xfrm>
            <a:off x="3794760" y="3602736"/>
            <a:ext cx="20116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6200" y="3666744"/>
            <a:ext cx="1828800" cy="310896"/>
          </a:xfrm>
          <a:prstGeom prst="rect">
            <a:avLst/>
          </a:prstGeom>
          <a:noFill/>
        </p:spPr>
        <p:txBody>
          <a:bodyPr wrap="square" lIns="0" rIns="0" tIns="0" bIns="0">
            <a:spAutoFit/>
          </a:bodyPr>
          <a:lstStyle/>
          <a:p>
            <a:pPr algn="l">
              <a:defRPr sz="950" b="0" i="0">
                <a:solidFill>
                  <a:srgbClr val="212121"/>
                </a:solidFill>
                <a:latin typeface="Calibri"/>
              </a:defRPr>
            </a:pPr>
            <a:r>
              <a:t>1.2%</a:t>
            </a:r>
          </a:p>
        </p:txBody>
      </p:sp>
      <p:sp>
        <p:nvSpPr>
          <p:cNvPr id="48" name="Rectangle 47"/>
          <p:cNvSpPr/>
          <p:nvPr/>
        </p:nvSpPr>
        <p:spPr>
          <a:xfrm>
            <a:off x="5806440" y="3602736"/>
            <a:ext cx="1645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97880" y="3666744"/>
            <a:ext cx="1463040" cy="310896"/>
          </a:xfrm>
          <a:prstGeom prst="rect">
            <a:avLst/>
          </a:prstGeom>
          <a:noFill/>
        </p:spPr>
        <p:txBody>
          <a:bodyPr wrap="square" lIns="0" rIns="0" tIns="0" bIns="0">
            <a:spAutoFit/>
          </a:bodyPr>
          <a:lstStyle/>
          <a:p>
            <a:pPr algn="l">
              <a:defRPr sz="950" b="0" i="0">
                <a:solidFill>
                  <a:srgbClr val="B03A2E"/>
                </a:solidFill>
                <a:latin typeface="Calibri"/>
              </a:defRPr>
            </a:pPr>
            <a:r>
              <a:t>No</a:t>
            </a:r>
          </a:p>
        </p:txBody>
      </p:sp>
      <p:sp>
        <p:nvSpPr>
          <p:cNvPr id="50" name="Rectangle 49"/>
          <p:cNvSpPr/>
          <p:nvPr/>
        </p:nvSpPr>
        <p:spPr>
          <a:xfrm>
            <a:off x="7680960" y="1737360"/>
            <a:ext cx="4005072" cy="219456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680960" y="1737360"/>
            <a:ext cx="50292" cy="21945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09560" y="1938528"/>
            <a:ext cx="3566160" cy="1828800"/>
          </a:xfrm>
          <a:prstGeom prst="rect">
            <a:avLst/>
          </a:prstGeom>
          <a:noFill/>
        </p:spPr>
        <p:txBody>
          <a:bodyPr wrap="square" lIns="0" rIns="0" tIns="0" bIns="0">
            <a:spAutoFit/>
          </a:bodyPr>
          <a:lstStyle/>
          <a:p>
            <a:pPr algn="l">
              <a:spcAft>
                <a:spcPts val="500"/>
              </a:spcAft>
              <a:defRPr sz="950" b="0" i="0">
                <a:solidFill>
                  <a:srgbClr val="212121"/>
                </a:solidFill>
                <a:latin typeface="Calibri"/>
              </a:defRPr>
            </a:pPr>
            <a:r>
              <a:t>WHY THE GAP IS STRUCTURAL</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Net returns are fund-level figures net of fees, carry and expenses. They belong on the capital account statement, not the schedule of investments the vendor parses.</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This is an extraction-scope gap, not a GP reporting failure.</a:t>
            </a:r>
          </a:p>
        </p:txBody>
      </p:sp>
      <p:sp>
        <p:nvSpPr>
          <p:cNvPr id="53" name="Rectangle 52"/>
          <p:cNvSpPr/>
          <p:nvPr/>
        </p:nvSpPr>
        <p:spPr>
          <a:xfrm>
            <a:off x="502920" y="4114800"/>
            <a:ext cx="11183112" cy="137160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4315968"/>
            <a:ext cx="10698480" cy="1097280"/>
          </a:xfrm>
          <a:prstGeom prst="rect">
            <a:avLst/>
          </a:prstGeom>
          <a:noFill/>
        </p:spPr>
        <p:txBody>
          <a:bodyPr wrap="square" lIns="0" rIns="0" tIns="0" bIns="0">
            <a:spAutoFit/>
          </a:bodyPr>
          <a:lstStyle/>
          <a:p>
            <a:pPr algn="l">
              <a:spcAft>
                <a:spcPts val="600"/>
              </a:spcAft>
              <a:defRPr sz="1050" b="0" i="0">
                <a:solidFill>
                  <a:srgbClr val="212121"/>
                </a:solidFill>
                <a:latin typeface="Calibri"/>
              </a:defRPr>
            </a:pPr>
            <a:r>
              <a:t>CONSEQUENCE FOR THE INVESTMENT OFFICE</a:t>
            </a:r>
          </a:p>
          <a:p>
            <a:pPr algn="l">
              <a:spcAft>
                <a:spcPts val="600"/>
              </a:spcAft>
              <a:defRPr sz="1050" b="0" i="0">
                <a:solidFill>
                  <a:srgbClr val="212121"/>
                </a:solidFill>
                <a:latin typeface="Calibri"/>
              </a:defRPr>
            </a:pPr>
          </a:p>
          <a:p>
            <a:pPr algn="l">
              <a:spcAft>
                <a:spcPts val="600"/>
              </a:spcAft>
              <a:defRPr sz="1050" b="0" i="0">
                <a:solidFill>
                  <a:srgbClr val="212121"/>
                </a:solidFill>
                <a:latin typeface="Calibri"/>
              </a:defRPr>
            </a:pPr>
            <a:r>
              <a:t>Any net-of-fee performance analysis cannot be sourced from this extract at holding level. Either the capital account reports enter the extraction scope in Phase 2, or net performance stays a fund-accounting output and the holdings CSV is used strictly for gross, position-level work. This should be an explicit decision, not a discovery made mid-analysis.</a:t>
            </a:r>
          </a:p>
        </p:txBody>
      </p:sp>
      <p:sp>
        <p:nvSpPr>
          <p:cNvPr id="55" name="Rectangle 54"/>
          <p:cNvSpPr/>
          <p:nvPr/>
        </p:nvSpPr>
        <p:spPr>
          <a:xfrm>
            <a:off x="502920" y="5623560"/>
            <a:ext cx="11185855" cy="64008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2920" y="5623560"/>
            <a:ext cx="50292" cy="6400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3232" y="5742432"/>
            <a:ext cx="10774375" cy="457199"/>
          </a:xfrm>
          <a:prstGeom prst="rect">
            <a:avLst/>
          </a:prstGeom>
          <a:noFill/>
        </p:spPr>
        <p:txBody>
          <a:bodyPr wrap="square" lIns="0" rIns="0" tIns="0" bIns="0">
            <a:spAutoFit/>
          </a:bodyPr>
          <a:lstStyle/>
          <a:p>
            <a:pPr algn="l">
              <a:defRPr sz="1050" b="0" i="0">
                <a:solidFill>
                  <a:srgbClr val="212121"/>
                </a:solidFill>
                <a:latin typeface="Calibri"/>
              </a:defRPr>
            </a:pPr>
            <a:r>
              <a:t>Recommendation: confirm with the vendor whether capital account statements are in extraction scope before any net-return workstream is committed.</a:t>
            </a:r>
          </a:p>
        </p:txBody>
      </p:sp>
      <p:sp>
        <p:nvSpPr>
          <p:cNvPr id="58" name="Rectangle 57"/>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Dates are similarly thin: Exit Date 6.9%, Initial Investment Date 41.1%</a:t>
            </a:r>
          </a:p>
        </p:txBody>
      </p:sp>
      <p:sp>
        <p:nvSpPr>
          <p:cNvPr id="60" name="TextBox 59"/>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FINDING 2</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Deal Status — the field the brief singles out</a:t>
            </a:r>
          </a:p>
        </p:txBody>
      </p:sp>
      <p:pic>
        <p:nvPicPr>
          <p:cNvPr id="7" name="Picture 6" descr="deal_status_mix.png"/>
          <p:cNvPicPr>
            <a:picLocks noChangeAspect="1"/>
          </p:cNvPicPr>
          <p:nvPr/>
        </p:nvPicPr>
        <p:blipFill>
          <a:blip r:embed="rId2"/>
          <a:stretch>
            <a:fillRect/>
          </a:stretch>
        </p:blipFill>
        <p:spPr>
          <a:xfrm>
            <a:off x="685800" y="1299558"/>
            <a:ext cx="10820095" cy="3810827"/>
          </a:xfrm>
          <a:prstGeom prst="rect">
            <a:avLst/>
          </a:prstGeom>
        </p:spPr>
      </p:pic>
      <p:sp>
        <p:nvSpPr>
          <p:cNvPr id="8" name="Rectangle 7"/>
          <p:cNvSpPr/>
          <p:nvPr/>
        </p:nvSpPr>
        <p:spPr>
          <a:xfrm>
            <a:off x="502920" y="5367528"/>
            <a:ext cx="11185855" cy="86868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367528"/>
            <a:ext cx="50292" cy="8686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486400"/>
            <a:ext cx="10774375" cy="685800"/>
          </a:xfrm>
          <a:prstGeom prst="rect">
            <a:avLst/>
          </a:prstGeom>
          <a:noFill/>
        </p:spPr>
        <p:txBody>
          <a:bodyPr wrap="square" lIns="0" rIns="0" tIns="0" bIns="0">
            <a:spAutoFit/>
          </a:bodyPr>
          <a:lstStyle/>
          <a:p>
            <a:pPr algn="l">
              <a:defRPr sz="1050" b="0" i="0">
                <a:solidFill>
                  <a:srgbClr val="212121"/>
                </a:solidFill>
                <a:latin typeface="Calibri"/>
              </a:defRPr>
            </a:pPr>
            <a:r>
              <a:t>The brief flags Deal Status as a field that should always carry a value. It is 88.6% filled: 6,639 rows carry no lifecycle marker at all. Those rows cannot be routed to either the current-portfolio view or the realisations view, so they drop silently out of both.</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Vocabulary is clean — no typos or inconsistent labels across 52,048 rows</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3 — FIELD-LEVEL DISTRIBUTION</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Systematic gaps versus scattered gaps</a:t>
            </a:r>
          </a:p>
        </p:txBody>
      </p:sp>
      <p:sp>
        <p:nvSpPr>
          <p:cNvPr id="7" name="TextBox 6"/>
          <p:cNvSpPr txBox="1"/>
          <p:nvPr/>
        </p:nvSpPr>
        <p:spPr>
          <a:xfrm>
            <a:off x="502920" y="1188720"/>
            <a:ext cx="11155680" cy="365760"/>
          </a:xfrm>
          <a:prstGeom prst="rect">
            <a:avLst/>
          </a:prstGeom>
          <a:noFill/>
        </p:spPr>
        <p:txBody>
          <a:bodyPr wrap="square" lIns="0" rIns="0" tIns="0" bIns="0">
            <a:spAutoFit/>
          </a:bodyPr>
          <a:lstStyle/>
          <a:p>
            <a:pPr algn="l">
              <a:defRPr sz="1100" b="0" i="0">
                <a:solidFill>
                  <a:srgbClr val="6E6E6E"/>
                </a:solidFill>
                <a:latin typeface="Calibri"/>
              </a:defRPr>
            </a:pPr>
            <a:r>
              <a:t>A field 90% complete everywhere is a data problem. A field 100% complete in some funds and 0% in others is a policy choice. Counting funds at zero separates the two.</a:t>
            </a:r>
          </a:p>
        </p:txBody>
      </p:sp>
      <p:sp>
        <p:nvSpPr>
          <p:cNvPr id="8" name="Rectangle 7"/>
          <p:cNvSpPr/>
          <p:nvPr/>
        </p:nvSpPr>
        <p:spPr>
          <a:xfrm>
            <a:off x="502920" y="1783080"/>
            <a:ext cx="393192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51660"/>
            <a:ext cx="3749039" cy="310896"/>
          </a:xfrm>
          <a:prstGeom prst="rect">
            <a:avLst/>
          </a:prstGeom>
          <a:noFill/>
        </p:spPr>
        <p:txBody>
          <a:bodyPr wrap="square" lIns="0" rIns="0" tIns="0" bIns="0">
            <a:spAutoFit/>
          </a:bodyPr>
          <a:lstStyle/>
          <a:p>
            <a:pPr algn="l">
              <a:defRPr sz="850" b="1" i="0">
                <a:solidFill>
                  <a:srgbClr val="FFFFFF"/>
                </a:solidFill>
                <a:latin typeface="Calibri"/>
              </a:defRPr>
            </a:pPr>
            <a:r>
              <a:t>Mandatory field</a:t>
            </a:r>
          </a:p>
        </p:txBody>
      </p:sp>
      <p:sp>
        <p:nvSpPr>
          <p:cNvPr id="10" name="Rectangle 9"/>
          <p:cNvSpPr/>
          <p:nvPr/>
        </p:nvSpPr>
        <p:spPr>
          <a:xfrm>
            <a:off x="4434840" y="1783080"/>
            <a:ext cx="237744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851660"/>
            <a:ext cx="2194560" cy="310896"/>
          </a:xfrm>
          <a:prstGeom prst="rect">
            <a:avLst/>
          </a:prstGeom>
          <a:noFill/>
        </p:spPr>
        <p:txBody>
          <a:bodyPr wrap="square" lIns="0" rIns="0" tIns="0" bIns="0">
            <a:spAutoFit/>
          </a:bodyPr>
          <a:lstStyle/>
          <a:p>
            <a:pPr algn="l">
              <a:defRPr sz="850" b="1" i="0">
                <a:solidFill>
                  <a:srgbClr val="FFFFFF"/>
                </a:solidFill>
                <a:latin typeface="Calibri"/>
              </a:defRPr>
            </a:pPr>
            <a:r>
              <a:t>Funds at 0% fill</a:t>
            </a:r>
          </a:p>
        </p:txBody>
      </p:sp>
      <p:sp>
        <p:nvSpPr>
          <p:cNvPr id="12" name="Rectangle 11"/>
          <p:cNvSpPr/>
          <p:nvPr/>
        </p:nvSpPr>
        <p:spPr>
          <a:xfrm>
            <a:off x="6812279" y="1783080"/>
            <a:ext cx="484632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19" y="1851660"/>
            <a:ext cx="4663440" cy="310896"/>
          </a:xfrm>
          <a:prstGeom prst="rect">
            <a:avLst/>
          </a:prstGeom>
          <a:noFill/>
        </p:spPr>
        <p:txBody>
          <a:bodyPr wrap="square" lIns="0" rIns="0" tIns="0" bIns="0">
            <a:spAutoFit/>
          </a:bodyPr>
          <a:lstStyle/>
          <a:p>
            <a:pPr algn="l">
              <a:defRPr sz="850" b="1" i="0">
                <a:solidFill>
                  <a:srgbClr val="FFFFFF"/>
                </a:solidFill>
                <a:latin typeface="Calibri"/>
              </a:defRPr>
            </a:pPr>
            <a:r>
              <a:t>Reading</a:t>
            </a:r>
          </a:p>
        </p:txBody>
      </p:sp>
      <p:sp>
        <p:nvSpPr>
          <p:cNvPr id="14" name="Rectangle 13"/>
          <p:cNvSpPr/>
          <p:nvPr/>
        </p:nvSpPr>
        <p:spPr>
          <a:xfrm>
            <a:off x="502920" y="2093976"/>
            <a:ext cx="3931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157984"/>
            <a:ext cx="3749039" cy="310896"/>
          </a:xfrm>
          <a:prstGeom prst="rect">
            <a:avLst/>
          </a:prstGeom>
          <a:noFill/>
        </p:spPr>
        <p:txBody>
          <a:bodyPr wrap="square" lIns="0" rIns="0" tIns="0" bIns="0">
            <a:spAutoFit/>
          </a:bodyPr>
          <a:lstStyle/>
          <a:p>
            <a:pPr algn="l">
              <a:defRPr sz="950" b="1" i="0">
                <a:solidFill>
                  <a:srgbClr val="212121"/>
                </a:solidFill>
                <a:latin typeface="Calibri"/>
              </a:defRPr>
            </a:pPr>
            <a:r>
              <a:t>Sector</a:t>
            </a:r>
          </a:p>
        </p:txBody>
      </p:sp>
      <p:sp>
        <p:nvSpPr>
          <p:cNvPr id="16" name="Rectangle 15"/>
          <p:cNvSpPr/>
          <p:nvPr/>
        </p:nvSpPr>
        <p:spPr>
          <a:xfrm>
            <a:off x="4434840" y="2093976"/>
            <a:ext cx="23774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79" y="2157984"/>
            <a:ext cx="2194560" cy="310896"/>
          </a:xfrm>
          <a:prstGeom prst="rect">
            <a:avLst/>
          </a:prstGeom>
          <a:noFill/>
        </p:spPr>
        <p:txBody>
          <a:bodyPr wrap="square" lIns="0" rIns="0" tIns="0" bIns="0">
            <a:spAutoFit/>
          </a:bodyPr>
          <a:lstStyle/>
          <a:p>
            <a:pPr algn="l">
              <a:defRPr sz="950" b="0" i="0">
                <a:solidFill>
                  <a:srgbClr val="212121"/>
                </a:solidFill>
                <a:latin typeface="Calibri"/>
              </a:defRPr>
            </a:pPr>
            <a:r>
              <a:t>0</a:t>
            </a:r>
          </a:p>
        </p:txBody>
      </p:sp>
      <p:sp>
        <p:nvSpPr>
          <p:cNvPr id="18" name="Rectangle 17"/>
          <p:cNvSpPr/>
          <p:nvPr/>
        </p:nvSpPr>
        <p:spPr>
          <a:xfrm>
            <a:off x="6812279" y="2093976"/>
            <a:ext cx="48463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3719" y="2157984"/>
            <a:ext cx="4663440" cy="310896"/>
          </a:xfrm>
          <a:prstGeom prst="rect">
            <a:avLst/>
          </a:prstGeom>
          <a:noFill/>
        </p:spPr>
        <p:txBody>
          <a:bodyPr wrap="square" lIns="0" rIns="0" tIns="0" bIns="0">
            <a:spAutoFit/>
          </a:bodyPr>
          <a:lstStyle/>
          <a:p>
            <a:pPr algn="l">
              <a:defRPr sz="950" b="0" i="0">
                <a:solidFill>
                  <a:srgbClr val="212121"/>
                </a:solidFill>
                <a:latin typeface="Calibri"/>
              </a:defRPr>
            </a:pPr>
            <a:r>
              <a:t>Universal — no fund omits it</a:t>
            </a:r>
          </a:p>
        </p:txBody>
      </p:sp>
      <p:sp>
        <p:nvSpPr>
          <p:cNvPr id="20" name="Rectangle 19"/>
          <p:cNvSpPr/>
          <p:nvPr/>
        </p:nvSpPr>
        <p:spPr>
          <a:xfrm>
            <a:off x="502920" y="2404872"/>
            <a:ext cx="3931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468879"/>
            <a:ext cx="3749039" cy="310896"/>
          </a:xfrm>
          <a:prstGeom prst="rect">
            <a:avLst/>
          </a:prstGeom>
          <a:noFill/>
        </p:spPr>
        <p:txBody>
          <a:bodyPr wrap="square" lIns="0" rIns="0" tIns="0" bIns="0">
            <a:spAutoFit/>
          </a:bodyPr>
          <a:lstStyle/>
          <a:p>
            <a:pPr algn="l">
              <a:defRPr sz="950" b="1" i="0">
                <a:solidFill>
                  <a:srgbClr val="212121"/>
                </a:solidFill>
                <a:latin typeface="Calibri"/>
              </a:defRPr>
            </a:pPr>
            <a:r>
              <a:t>Geographic Focus</a:t>
            </a:r>
          </a:p>
        </p:txBody>
      </p:sp>
      <p:sp>
        <p:nvSpPr>
          <p:cNvPr id="22" name="Rectangle 21"/>
          <p:cNvSpPr/>
          <p:nvPr/>
        </p:nvSpPr>
        <p:spPr>
          <a:xfrm>
            <a:off x="4434840" y="2404872"/>
            <a:ext cx="23774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79" y="2468879"/>
            <a:ext cx="2194560" cy="310896"/>
          </a:xfrm>
          <a:prstGeom prst="rect">
            <a:avLst/>
          </a:prstGeom>
          <a:noFill/>
        </p:spPr>
        <p:txBody>
          <a:bodyPr wrap="square" lIns="0" rIns="0" tIns="0" bIns="0">
            <a:spAutoFit/>
          </a:bodyPr>
          <a:lstStyle/>
          <a:p>
            <a:pPr algn="l">
              <a:defRPr sz="950" b="0" i="0">
                <a:solidFill>
                  <a:srgbClr val="212121"/>
                </a:solidFill>
                <a:latin typeface="Calibri"/>
              </a:defRPr>
            </a:pPr>
            <a:r>
              <a:t>0</a:t>
            </a:r>
          </a:p>
        </p:txBody>
      </p:sp>
      <p:sp>
        <p:nvSpPr>
          <p:cNvPr id="24" name="Rectangle 23"/>
          <p:cNvSpPr/>
          <p:nvPr/>
        </p:nvSpPr>
        <p:spPr>
          <a:xfrm>
            <a:off x="6812279" y="2404872"/>
            <a:ext cx="48463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19" y="2468879"/>
            <a:ext cx="4663440" cy="310896"/>
          </a:xfrm>
          <a:prstGeom prst="rect">
            <a:avLst/>
          </a:prstGeom>
          <a:noFill/>
        </p:spPr>
        <p:txBody>
          <a:bodyPr wrap="square" lIns="0" rIns="0" tIns="0" bIns="0">
            <a:spAutoFit/>
          </a:bodyPr>
          <a:lstStyle/>
          <a:p>
            <a:pPr algn="l">
              <a:defRPr sz="950" b="0" i="0">
                <a:solidFill>
                  <a:srgbClr val="212121"/>
                </a:solidFill>
                <a:latin typeface="Calibri"/>
              </a:defRPr>
            </a:pPr>
            <a:r>
              <a:t>Universal</a:t>
            </a:r>
          </a:p>
        </p:txBody>
      </p:sp>
      <p:sp>
        <p:nvSpPr>
          <p:cNvPr id="26" name="Rectangle 25"/>
          <p:cNvSpPr/>
          <p:nvPr/>
        </p:nvSpPr>
        <p:spPr>
          <a:xfrm>
            <a:off x="502920" y="2715768"/>
            <a:ext cx="3931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2779776"/>
            <a:ext cx="3749039" cy="310896"/>
          </a:xfrm>
          <a:prstGeom prst="rect">
            <a:avLst/>
          </a:prstGeom>
          <a:noFill/>
        </p:spPr>
        <p:txBody>
          <a:bodyPr wrap="square" lIns="0" rIns="0" tIns="0" bIns="0">
            <a:spAutoFit/>
          </a:bodyPr>
          <a:lstStyle/>
          <a:p>
            <a:pPr algn="l">
              <a:defRPr sz="950" b="1" i="0">
                <a:solidFill>
                  <a:srgbClr val="212121"/>
                </a:solidFill>
                <a:latin typeface="Calibri"/>
              </a:defRPr>
            </a:pPr>
            <a:r>
              <a:t>Unrealized Value</a:t>
            </a:r>
          </a:p>
        </p:txBody>
      </p:sp>
      <p:sp>
        <p:nvSpPr>
          <p:cNvPr id="28" name="Rectangle 27"/>
          <p:cNvSpPr/>
          <p:nvPr/>
        </p:nvSpPr>
        <p:spPr>
          <a:xfrm>
            <a:off x="4434840" y="2715768"/>
            <a:ext cx="23774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79" y="2779776"/>
            <a:ext cx="2194560" cy="310896"/>
          </a:xfrm>
          <a:prstGeom prst="rect">
            <a:avLst/>
          </a:prstGeom>
          <a:noFill/>
        </p:spPr>
        <p:txBody>
          <a:bodyPr wrap="square" lIns="0" rIns="0" tIns="0" bIns="0">
            <a:spAutoFit/>
          </a:bodyPr>
          <a:lstStyle/>
          <a:p>
            <a:pPr algn="l">
              <a:defRPr sz="950" b="0" i="0">
                <a:solidFill>
                  <a:srgbClr val="212121"/>
                </a:solidFill>
                <a:latin typeface="Calibri"/>
              </a:defRPr>
            </a:pPr>
            <a:r>
              <a:t>0</a:t>
            </a:r>
          </a:p>
        </p:txBody>
      </p:sp>
      <p:sp>
        <p:nvSpPr>
          <p:cNvPr id="30" name="Rectangle 29"/>
          <p:cNvSpPr/>
          <p:nvPr/>
        </p:nvSpPr>
        <p:spPr>
          <a:xfrm>
            <a:off x="6812279" y="2715768"/>
            <a:ext cx="48463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03719" y="2779776"/>
            <a:ext cx="4663440" cy="310896"/>
          </a:xfrm>
          <a:prstGeom prst="rect">
            <a:avLst/>
          </a:prstGeom>
          <a:noFill/>
        </p:spPr>
        <p:txBody>
          <a:bodyPr wrap="square" lIns="0" rIns="0" tIns="0" bIns="0">
            <a:spAutoFit/>
          </a:bodyPr>
          <a:lstStyle/>
          <a:p>
            <a:pPr algn="l">
              <a:defRPr sz="950" b="0" i="0">
                <a:solidFill>
                  <a:srgbClr val="212121"/>
                </a:solidFill>
                <a:latin typeface="Calibri"/>
              </a:defRPr>
            </a:pPr>
            <a:r>
              <a:t>Universal</a:t>
            </a:r>
          </a:p>
        </p:txBody>
      </p:sp>
      <p:sp>
        <p:nvSpPr>
          <p:cNvPr id="32" name="Rectangle 31"/>
          <p:cNvSpPr/>
          <p:nvPr/>
        </p:nvSpPr>
        <p:spPr>
          <a:xfrm>
            <a:off x="502920" y="3026664"/>
            <a:ext cx="3931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090672"/>
            <a:ext cx="3749039" cy="310896"/>
          </a:xfrm>
          <a:prstGeom prst="rect">
            <a:avLst/>
          </a:prstGeom>
          <a:noFill/>
        </p:spPr>
        <p:txBody>
          <a:bodyPr wrap="square" lIns="0" rIns="0" tIns="0" bIns="0">
            <a:spAutoFit/>
          </a:bodyPr>
          <a:lstStyle/>
          <a:p>
            <a:pPr algn="l">
              <a:defRPr sz="950" b="1" i="0">
                <a:solidFill>
                  <a:srgbClr val="212121"/>
                </a:solidFill>
                <a:latin typeface="Calibri"/>
              </a:defRPr>
            </a:pPr>
            <a:r>
              <a:t>Deal Status</a:t>
            </a:r>
          </a:p>
        </p:txBody>
      </p:sp>
      <p:sp>
        <p:nvSpPr>
          <p:cNvPr id="34" name="Rectangle 33"/>
          <p:cNvSpPr/>
          <p:nvPr/>
        </p:nvSpPr>
        <p:spPr>
          <a:xfrm>
            <a:off x="4434840" y="3026664"/>
            <a:ext cx="23774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79" y="3090672"/>
            <a:ext cx="2194560" cy="310896"/>
          </a:xfrm>
          <a:prstGeom prst="rect">
            <a:avLst/>
          </a:prstGeom>
          <a:noFill/>
        </p:spPr>
        <p:txBody>
          <a:bodyPr wrap="square" lIns="0" rIns="0" tIns="0" bIns="0">
            <a:spAutoFit/>
          </a:bodyPr>
          <a:lstStyle/>
          <a:p>
            <a:pPr algn="l">
              <a:defRPr sz="950" b="0" i="0">
                <a:solidFill>
                  <a:srgbClr val="212121"/>
                </a:solidFill>
                <a:latin typeface="Calibri"/>
              </a:defRPr>
            </a:pPr>
            <a:r>
              <a:t>3</a:t>
            </a:r>
          </a:p>
        </p:txBody>
      </p:sp>
      <p:sp>
        <p:nvSpPr>
          <p:cNvPr id="36" name="Rectangle 35"/>
          <p:cNvSpPr/>
          <p:nvPr/>
        </p:nvSpPr>
        <p:spPr>
          <a:xfrm>
            <a:off x="6812279" y="3026664"/>
            <a:ext cx="48463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03719" y="3090672"/>
            <a:ext cx="4663440" cy="310896"/>
          </a:xfrm>
          <a:prstGeom prst="rect">
            <a:avLst/>
          </a:prstGeom>
          <a:noFill/>
        </p:spPr>
        <p:txBody>
          <a:bodyPr wrap="square" lIns="0" rIns="0" tIns="0" bIns="0">
            <a:spAutoFit/>
          </a:bodyPr>
          <a:lstStyle/>
          <a:p>
            <a:pPr algn="l">
              <a:defRPr sz="950" b="0" i="0">
                <a:solidFill>
                  <a:srgbClr val="212121"/>
                </a:solidFill>
                <a:latin typeface="Calibri"/>
              </a:defRPr>
            </a:pPr>
            <a:r>
              <a:t>Near-universal; 3 funds opt out entirely</a:t>
            </a:r>
          </a:p>
        </p:txBody>
      </p:sp>
      <p:sp>
        <p:nvSpPr>
          <p:cNvPr id="38" name="Rectangle 37"/>
          <p:cNvSpPr/>
          <p:nvPr/>
        </p:nvSpPr>
        <p:spPr>
          <a:xfrm>
            <a:off x="502920" y="3337560"/>
            <a:ext cx="3931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3401568"/>
            <a:ext cx="3749039" cy="310896"/>
          </a:xfrm>
          <a:prstGeom prst="rect">
            <a:avLst/>
          </a:prstGeom>
          <a:noFill/>
        </p:spPr>
        <p:txBody>
          <a:bodyPr wrap="square" lIns="0" rIns="0" tIns="0" bIns="0">
            <a:spAutoFit/>
          </a:bodyPr>
          <a:lstStyle/>
          <a:p>
            <a:pPr algn="l">
              <a:defRPr sz="950" b="1" i="0">
                <a:solidFill>
                  <a:srgbClr val="212121"/>
                </a:solidFill>
                <a:latin typeface="Calibri"/>
              </a:defRPr>
            </a:pPr>
            <a:r>
              <a:t>Current Cost</a:t>
            </a:r>
          </a:p>
        </p:txBody>
      </p:sp>
      <p:sp>
        <p:nvSpPr>
          <p:cNvPr id="40" name="Rectangle 39"/>
          <p:cNvSpPr/>
          <p:nvPr/>
        </p:nvSpPr>
        <p:spPr>
          <a:xfrm>
            <a:off x="4434840" y="3337560"/>
            <a:ext cx="23774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26279" y="3401568"/>
            <a:ext cx="2194560" cy="310896"/>
          </a:xfrm>
          <a:prstGeom prst="rect">
            <a:avLst/>
          </a:prstGeom>
          <a:noFill/>
        </p:spPr>
        <p:txBody>
          <a:bodyPr wrap="square" lIns="0" rIns="0" tIns="0" bIns="0">
            <a:spAutoFit/>
          </a:bodyPr>
          <a:lstStyle/>
          <a:p>
            <a:pPr algn="l">
              <a:defRPr sz="950" b="0" i="0">
                <a:solidFill>
                  <a:srgbClr val="212121"/>
                </a:solidFill>
                <a:latin typeface="Calibri"/>
              </a:defRPr>
            </a:pPr>
            <a:r>
              <a:t>17</a:t>
            </a:r>
          </a:p>
        </p:txBody>
      </p:sp>
      <p:sp>
        <p:nvSpPr>
          <p:cNvPr id="42" name="Rectangle 41"/>
          <p:cNvSpPr/>
          <p:nvPr/>
        </p:nvSpPr>
        <p:spPr>
          <a:xfrm>
            <a:off x="6812279" y="3337560"/>
            <a:ext cx="48463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03719" y="3401568"/>
            <a:ext cx="4663440" cy="310896"/>
          </a:xfrm>
          <a:prstGeom prst="rect">
            <a:avLst/>
          </a:prstGeom>
          <a:noFill/>
        </p:spPr>
        <p:txBody>
          <a:bodyPr wrap="square" lIns="0" rIns="0" tIns="0" bIns="0">
            <a:spAutoFit/>
          </a:bodyPr>
          <a:lstStyle/>
          <a:p>
            <a:pPr algn="l">
              <a:defRPr sz="950" b="0" i="0">
                <a:solidFill>
                  <a:srgbClr val="212121"/>
                </a:solidFill>
                <a:latin typeface="Calibri"/>
              </a:defRPr>
            </a:pPr>
            <a:r>
              <a:t>Small opt-out cohort</a:t>
            </a:r>
          </a:p>
        </p:txBody>
      </p:sp>
      <p:sp>
        <p:nvSpPr>
          <p:cNvPr id="44" name="Rectangle 43"/>
          <p:cNvSpPr/>
          <p:nvPr/>
        </p:nvSpPr>
        <p:spPr>
          <a:xfrm>
            <a:off x="502920" y="3648456"/>
            <a:ext cx="39319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3712464"/>
            <a:ext cx="3749039" cy="310896"/>
          </a:xfrm>
          <a:prstGeom prst="rect">
            <a:avLst/>
          </a:prstGeom>
          <a:noFill/>
        </p:spPr>
        <p:txBody>
          <a:bodyPr wrap="square" lIns="0" rIns="0" tIns="0" bIns="0">
            <a:spAutoFit/>
          </a:bodyPr>
          <a:lstStyle/>
          <a:p>
            <a:pPr algn="l">
              <a:defRPr sz="950" b="1" i="0">
                <a:solidFill>
                  <a:srgbClr val="212121"/>
                </a:solidFill>
                <a:latin typeface="Calibri"/>
              </a:defRPr>
            </a:pPr>
            <a:r>
              <a:t>Total Value</a:t>
            </a:r>
          </a:p>
        </p:txBody>
      </p:sp>
      <p:sp>
        <p:nvSpPr>
          <p:cNvPr id="46" name="Rectangle 45"/>
          <p:cNvSpPr/>
          <p:nvPr/>
        </p:nvSpPr>
        <p:spPr>
          <a:xfrm>
            <a:off x="4434840" y="3648456"/>
            <a:ext cx="23774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79" y="3712464"/>
            <a:ext cx="2194560" cy="310896"/>
          </a:xfrm>
          <a:prstGeom prst="rect">
            <a:avLst/>
          </a:prstGeom>
          <a:noFill/>
        </p:spPr>
        <p:txBody>
          <a:bodyPr wrap="square" lIns="0" rIns="0" tIns="0" bIns="0">
            <a:spAutoFit/>
          </a:bodyPr>
          <a:lstStyle/>
          <a:p>
            <a:pPr algn="l">
              <a:defRPr sz="950" b="0" i="0">
                <a:solidFill>
                  <a:srgbClr val="212121"/>
                </a:solidFill>
                <a:latin typeface="Calibri"/>
              </a:defRPr>
            </a:pPr>
            <a:r>
              <a:t>58</a:t>
            </a:r>
          </a:p>
        </p:txBody>
      </p:sp>
      <p:sp>
        <p:nvSpPr>
          <p:cNvPr id="48" name="Rectangle 47"/>
          <p:cNvSpPr/>
          <p:nvPr/>
        </p:nvSpPr>
        <p:spPr>
          <a:xfrm>
            <a:off x="6812279" y="3648456"/>
            <a:ext cx="484632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03719" y="3712464"/>
            <a:ext cx="4663440" cy="310896"/>
          </a:xfrm>
          <a:prstGeom prst="rect">
            <a:avLst/>
          </a:prstGeom>
          <a:noFill/>
        </p:spPr>
        <p:txBody>
          <a:bodyPr wrap="square" lIns="0" rIns="0" tIns="0" bIns="0">
            <a:spAutoFit/>
          </a:bodyPr>
          <a:lstStyle/>
          <a:p>
            <a:pPr algn="l">
              <a:defRPr sz="950" b="0" i="0">
                <a:solidFill>
                  <a:srgbClr val="B03A2E"/>
                </a:solidFill>
                <a:latin typeface="Calibri"/>
              </a:defRPr>
            </a:pPr>
            <a:r>
              <a:t>Structural — 15% of funds never report it</a:t>
            </a:r>
          </a:p>
        </p:txBody>
      </p:sp>
      <p:sp>
        <p:nvSpPr>
          <p:cNvPr id="50" name="Rectangle 49"/>
          <p:cNvSpPr/>
          <p:nvPr/>
        </p:nvSpPr>
        <p:spPr>
          <a:xfrm>
            <a:off x="502920" y="3959352"/>
            <a:ext cx="39319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4023360"/>
            <a:ext cx="3749039" cy="310896"/>
          </a:xfrm>
          <a:prstGeom prst="rect">
            <a:avLst/>
          </a:prstGeom>
          <a:noFill/>
        </p:spPr>
        <p:txBody>
          <a:bodyPr wrap="square" lIns="0" rIns="0" tIns="0" bIns="0">
            <a:spAutoFit/>
          </a:bodyPr>
          <a:lstStyle/>
          <a:p>
            <a:pPr algn="l">
              <a:defRPr sz="950" b="1" i="0">
                <a:solidFill>
                  <a:srgbClr val="212121"/>
                </a:solidFill>
                <a:latin typeface="Calibri"/>
              </a:defRPr>
            </a:pPr>
            <a:r>
              <a:t>Capital Invested</a:t>
            </a:r>
          </a:p>
        </p:txBody>
      </p:sp>
      <p:sp>
        <p:nvSpPr>
          <p:cNvPr id="52" name="Rectangle 51"/>
          <p:cNvSpPr/>
          <p:nvPr/>
        </p:nvSpPr>
        <p:spPr>
          <a:xfrm>
            <a:off x="4434840" y="3959352"/>
            <a:ext cx="23774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26279" y="4023360"/>
            <a:ext cx="2194560" cy="310896"/>
          </a:xfrm>
          <a:prstGeom prst="rect">
            <a:avLst/>
          </a:prstGeom>
          <a:noFill/>
        </p:spPr>
        <p:txBody>
          <a:bodyPr wrap="square" lIns="0" rIns="0" tIns="0" bIns="0">
            <a:spAutoFit/>
          </a:bodyPr>
          <a:lstStyle/>
          <a:p>
            <a:pPr algn="l">
              <a:defRPr sz="950" b="0" i="0">
                <a:solidFill>
                  <a:srgbClr val="212121"/>
                </a:solidFill>
                <a:latin typeface="Calibri"/>
              </a:defRPr>
            </a:pPr>
            <a:r>
              <a:t>67</a:t>
            </a:r>
          </a:p>
        </p:txBody>
      </p:sp>
      <p:sp>
        <p:nvSpPr>
          <p:cNvPr id="54" name="Rectangle 53"/>
          <p:cNvSpPr/>
          <p:nvPr/>
        </p:nvSpPr>
        <p:spPr>
          <a:xfrm>
            <a:off x="6812279" y="3959352"/>
            <a:ext cx="484632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03719" y="4023360"/>
            <a:ext cx="4663440" cy="310896"/>
          </a:xfrm>
          <a:prstGeom prst="rect">
            <a:avLst/>
          </a:prstGeom>
          <a:noFill/>
        </p:spPr>
        <p:txBody>
          <a:bodyPr wrap="square" lIns="0" rIns="0" tIns="0" bIns="0">
            <a:spAutoFit/>
          </a:bodyPr>
          <a:lstStyle/>
          <a:p>
            <a:pPr algn="l">
              <a:defRPr sz="950" b="0" i="0">
                <a:solidFill>
                  <a:srgbClr val="B03A2E"/>
                </a:solidFill>
                <a:latin typeface="Calibri"/>
              </a:defRPr>
            </a:pPr>
            <a:r>
              <a:t>Structural — 17% of funds never report it</a:t>
            </a:r>
          </a:p>
        </p:txBody>
      </p:sp>
      <p:sp>
        <p:nvSpPr>
          <p:cNvPr id="56" name="Rectangle 55"/>
          <p:cNvSpPr/>
          <p:nvPr/>
        </p:nvSpPr>
        <p:spPr>
          <a:xfrm>
            <a:off x="502920" y="4526280"/>
            <a:ext cx="11185855" cy="96012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02920" y="4526280"/>
            <a:ext cx="50292"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3232" y="4645152"/>
            <a:ext cx="10774375" cy="777240"/>
          </a:xfrm>
          <a:prstGeom prst="rect">
            <a:avLst/>
          </a:prstGeom>
          <a:noFill/>
        </p:spPr>
        <p:txBody>
          <a:bodyPr wrap="square" lIns="0" rIns="0" tIns="0" bIns="0">
            <a:spAutoFit/>
          </a:bodyPr>
          <a:lstStyle/>
          <a:p>
            <a:pPr algn="l">
              <a:defRPr sz="1050" b="0" i="0">
                <a:solidFill>
                  <a:srgbClr val="212121"/>
                </a:solidFill>
                <a:latin typeface="Calibri"/>
              </a:defRPr>
            </a:pPr>
            <a:r>
              <a:t>Capital Invested and Total Value are not degraded fields — they are absent-by-design for a sixth of the book. Chasing individual blank cells here would waste Operations time; the question is which fund types systematically exclude them and whether that is contractually expected.</a:t>
            </a:r>
          </a:p>
        </p:txBody>
      </p:sp>
      <p:sp>
        <p:nvSpPr>
          <p:cNvPr id="59" name="Rectangle 58"/>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Zero-fill counts computed across 385 funds</a:t>
            </a:r>
          </a:p>
        </p:txBody>
      </p:sp>
      <p:sp>
        <p:nvSpPr>
          <p:cNvPr id="61" name="TextBox 60"/>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4 — SCORE BY FUND</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Fund and manager completeness distributions</a:t>
            </a:r>
          </a:p>
        </p:txBody>
      </p:sp>
      <p:pic>
        <p:nvPicPr>
          <p:cNvPr id="7" name="Picture 6" descr="completeness_by_dimension.png"/>
          <p:cNvPicPr>
            <a:picLocks noChangeAspect="1"/>
          </p:cNvPicPr>
          <p:nvPr/>
        </p:nvPicPr>
        <p:blipFill>
          <a:blip r:embed="rId2"/>
          <a:stretch>
            <a:fillRect/>
          </a:stretch>
        </p:blipFill>
        <p:spPr>
          <a:xfrm>
            <a:off x="685800" y="1283937"/>
            <a:ext cx="10820095" cy="3842068"/>
          </a:xfrm>
          <a:prstGeom prst="rect">
            <a:avLst/>
          </a:prstGeom>
        </p:spPr>
      </p:pic>
      <p:sp>
        <p:nvSpPr>
          <p:cNvPr id="8" name="Rectangle 7"/>
          <p:cNvSpPr/>
          <p:nvPr/>
        </p:nvSpPr>
        <p:spPr>
          <a:xfrm>
            <a:off x="502920" y="5367528"/>
            <a:ext cx="11185855" cy="86868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367528"/>
            <a:ext cx="50292" cy="8686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486400"/>
            <a:ext cx="10774375" cy="685800"/>
          </a:xfrm>
          <a:prstGeom prst="rect">
            <a:avLst/>
          </a:prstGeom>
          <a:noFill/>
        </p:spPr>
        <p:txBody>
          <a:bodyPr wrap="square" lIns="0" rIns="0" tIns="0" bIns="0">
            <a:spAutoFit/>
          </a:bodyPr>
          <a:lstStyle/>
          <a:p>
            <a:pPr algn="l">
              <a:defRPr sz="1050" b="0" i="0">
                <a:solidFill>
                  <a:srgbClr val="212121"/>
                </a:solidFill>
                <a:latin typeface="Calibri"/>
              </a:defRPr>
            </a:pPr>
            <a:r>
              <a:t>Both distributions are left-skewed against a hard ceiling at 100%. The mass sits above the 85% line, which means remediation is a tail problem — a small number of named vehicles, not a portfolio-wide programme.</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Left: 385 funds  ·  Right: 87 managers with at least 20 rows</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4 — SCORE BY FUND</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Where the funds sit</a:t>
            </a:r>
          </a:p>
        </p:txBody>
      </p:sp>
      <p:sp>
        <p:nvSpPr>
          <p:cNvPr id="7" name="Rectangle 6"/>
          <p:cNvSpPr/>
          <p:nvPr/>
        </p:nvSpPr>
        <p:spPr>
          <a:xfrm>
            <a:off x="502920" y="1234440"/>
            <a:ext cx="246888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3020"/>
            <a:ext cx="2286000" cy="310896"/>
          </a:xfrm>
          <a:prstGeom prst="rect">
            <a:avLst/>
          </a:prstGeom>
          <a:noFill/>
        </p:spPr>
        <p:txBody>
          <a:bodyPr wrap="square" lIns="0" rIns="0" tIns="0" bIns="0">
            <a:spAutoFit/>
          </a:bodyPr>
          <a:lstStyle/>
          <a:p>
            <a:pPr algn="l">
              <a:defRPr sz="850" b="1" i="0">
                <a:solidFill>
                  <a:srgbClr val="FFFFFF"/>
                </a:solidFill>
                <a:latin typeface="Calibri"/>
              </a:defRPr>
            </a:pPr>
            <a:r>
              <a:t>Completeness band</a:t>
            </a:r>
          </a:p>
        </p:txBody>
      </p:sp>
      <p:sp>
        <p:nvSpPr>
          <p:cNvPr id="9" name="Rectangle 8"/>
          <p:cNvSpPr/>
          <p:nvPr/>
        </p:nvSpPr>
        <p:spPr>
          <a:xfrm>
            <a:off x="2971800" y="1234440"/>
            <a:ext cx="109728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303020"/>
            <a:ext cx="914400" cy="310896"/>
          </a:xfrm>
          <a:prstGeom prst="rect">
            <a:avLst/>
          </a:prstGeom>
          <a:noFill/>
        </p:spPr>
        <p:txBody>
          <a:bodyPr wrap="square" lIns="0" rIns="0" tIns="0" bIns="0">
            <a:spAutoFit/>
          </a:bodyPr>
          <a:lstStyle/>
          <a:p>
            <a:pPr algn="l">
              <a:defRPr sz="850" b="1" i="0">
                <a:solidFill>
                  <a:srgbClr val="FFFFFF"/>
                </a:solidFill>
                <a:latin typeface="Calibri"/>
              </a:defRPr>
            </a:pPr>
            <a:r>
              <a:t>Funds</a:t>
            </a:r>
          </a:p>
        </p:txBody>
      </p:sp>
      <p:sp>
        <p:nvSpPr>
          <p:cNvPr id="11" name="Rectangle 10"/>
          <p:cNvSpPr/>
          <p:nvPr/>
        </p:nvSpPr>
        <p:spPr>
          <a:xfrm>
            <a:off x="4069080" y="1234440"/>
            <a:ext cx="109728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303020"/>
            <a:ext cx="914400" cy="310896"/>
          </a:xfrm>
          <a:prstGeom prst="rect">
            <a:avLst/>
          </a:prstGeom>
          <a:noFill/>
        </p:spPr>
        <p:txBody>
          <a:bodyPr wrap="square" lIns="0" rIns="0" tIns="0" bIns="0">
            <a:spAutoFit/>
          </a:bodyPr>
          <a:lstStyle/>
          <a:p>
            <a:pPr algn="l">
              <a:defRPr sz="850" b="1" i="0">
                <a:solidFill>
                  <a:srgbClr val="FFFFFF"/>
                </a:solidFill>
                <a:latin typeface="Calibri"/>
              </a:defRPr>
            </a:pPr>
            <a:r>
              <a:t>Share</a:t>
            </a:r>
          </a:p>
        </p:txBody>
      </p:sp>
      <p:sp>
        <p:nvSpPr>
          <p:cNvPr id="13" name="Rectangle 12"/>
          <p:cNvSpPr/>
          <p:nvPr/>
        </p:nvSpPr>
        <p:spPr>
          <a:xfrm>
            <a:off x="5166360" y="1234440"/>
            <a:ext cx="1920240" cy="310896"/>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1303020"/>
            <a:ext cx="1737360" cy="310896"/>
          </a:xfrm>
          <a:prstGeom prst="rect">
            <a:avLst/>
          </a:prstGeom>
          <a:noFill/>
        </p:spPr>
        <p:txBody>
          <a:bodyPr wrap="square" lIns="0" rIns="0" tIns="0" bIns="0">
            <a:spAutoFit/>
          </a:bodyPr>
          <a:lstStyle/>
          <a:p>
            <a:pPr algn="l">
              <a:defRPr sz="850" b="1" i="0">
                <a:solidFill>
                  <a:srgbClr val="FFFFFF"/>
                </a:solidFill>
                <a:latin typeface="Calibri"/>
              </a:defRPr>
            </a:pPr>
            <a:r>
              <a:t>Action</a:t>
            </a:r>
          </a:p>
        </p:txBody>
      </p:sp>
      <p:sp>
        <p:nvSpPr>
          <p:cNvPr id="15" name="Rectangle 14"/>
          <p:cNvSpPr/>
          <p:nvPr/>
        </p:nvSpPr>
        <p:spPr>
          <a:xfrm>
            <a:off x="502920" y="1545336"/>
            <a:ext cx="24688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609344"/>
            <a:ext cx="2286000" cy="310896"/>
          </a:xfrm>
          <a:prstGeom prst="rect">
            <a:avLst/>
          </a:prstGeom>
          <a:noFill/>
        </p:spPr>
        <p:txBody>
          <a:bodyPr wrap="square" lIns="0" rIns="0" tIns="0" bIns="0">
            <a:spAutoFit/>
          </a:bodyPr>
          <a:lstStyle/>
          <a:p>
            <a:pPr algn="l">
              <a:defRPr sz="950" b="1" i="0">
                <a:solidFill>
                  <a:srgbClr val="212121"/>
                </a:solidFill>
                <a:latin typeface="Calibri"/>
              </a:defRPr>
            </a:pPr>
            <a:r>
              <a:t>100%</a:t>
            </a:r>
          </a:p>
        </p:txBody>
      </p:sp>
      <p:sp>
        <p:nvSpPr>
          <p:cNvPr id="17" name="Rectangle 16"/>
          <p:cNvSpPr/>
          <p:nvPr/>
        </p:nvSpPr>
        <p:spPr>
          <a:xfrm>
            <a:off x="2971800" y="1545336"/>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63240" y="1609344"/>
            <a:ext cx="914400" cy="310896"/>
          </a:xfrm>
          <a:prstGeom prst="rect">
            <a:avLst/>
          </a:prstGeom>
          <a:noFill/>
        </p:spPr>
        <p:txBody>
          <a:bodyPr wrap="square" lIns="0" rIns="0" tIns="0" bIns="0">
            <a:spAutoFit/>
          </a:bodyPr>
          <a:lstStyle/>
          <a:p>
            <a:pPr algn="l">
              <a:defRPr sz="950" b="0" i="0">
                <a:solidFill>
                  <a:srgbClr val="212121"/>
                </a:solidFill>
                <a:latin typeface="Calibri"/>
              </a:defRPr>
            </a:pPr>
            <a:r>
              <a:t>118</a:t>
            </a:r>
          </a:p>
        </p:txBody>
      </p:sp>
      <p:sp>
        <p:nvSpPr>
          <p:cNvPr id="19" name="Rectangle 18"/>
          <p:cNvSpPr/>
          <p:nvPr/>
        </p:nvSpPr>
        <p:spPr>
          <a:xfrm>
            <a:off x="4069080" y="1545336"/>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0520" y="1609344"/>
            <a:ext cx="914400" cy="310896"/>
          </a:xfrm>
          <a:prstGeom prst="rect">
            <a:avLst/>
          </a:prstGeom>
          <a:noFill/>
        </p:spPr>
        <p:txBody>
          <a:bodyPr wrap="square" lIns="0" rIns="0" tIns="0" bIns="0">
            <a:spAutoFit/>
          </a:bodyPr>
          <a:lstStyle/>
          <a:p>
            <a:pPr algn="l">
              <a:defRPr sz="950" b="0" i="0">
                <a:solidFill>
                  <a:srgbClr val="212121"/>
                </a:solidFill>
                <a:latin typeface="Calibri"/>
              </a:defRPr>
            </a:pPr>
            <a:r>
              <a:t>30.6%</a:t>
            </a:r>
          </a:p>
        </p:txBody>
      </p:sp>
      <p:sp>
        <p:nvSpPr>
          <p:cNvPr id="21" name="Rectangle 20"/>
          <p:cNvSpPr/>
          <p:nvPr/>
        </p:nvSpPr>
        <p:spPr>
          <a:xfrm>
            <a:off x="5166360" y="1545336"/>
            <a:ext cx="19202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1609344"/>
            <a:ext cx="1737360" cy="310896"/>
          </a:xfrm>
          <a:prstGeom prst="rect">
            <a:avLst/>
          </a:prstGeom>
          <a:noFill/>
        </p:spPr>
        <p:txBody>
          <a:bodyPr wrap="square" lIns="0" rIns="0" tIns="0" bIns="0">
            <a:spAutoFit/>
          </a:bodyPr>
          <a:lstStyle/>
          <a:p>
            <a:pPr algn="l">
              <a:defRPr sz="950" b="0" i="0">
                <a:solidFill>
                  <a:srgbClr val="212121"/>
                </a:solidFill>
                <a:latin typeface="Calibri"/>
              </a:defRPr>
            </a:pPr>
            <a:r>
              <a:t>None</a:t>
            </a:r>
          </a:p>
        </p:txBody>
      </p:sp>
      <p:sp>
        <p:nvSpPr>
          <p:cNvPr id="23" name="Rectangle 22"/>
          <p:cNvSpPr/>
          <p:nvPr/>
        </p:nvSpPr>
        <p:spPr>
          <a:xfrm>
            <a:off x="502920" y="1856232"/>
            <a:ext cx="24688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1920240"/>
            <a:ext cx="2286000" cy="310896"/>
          </a:xfrm>
          <a:prstGeom prst="rect">
            <a:avLst/>
          </a:prstGeom>
          <a:noFill/>
        </p:spPr>
        <p:txBody>
          <a:bodyPr wrap="square" lIns="0" rIns="0" tIns="0" bIns="0">
            <a:spAutoFit/>
          </a:bodyPr>
          <a:lstStyle/>
          <a:p>
            <a:pPr algn="l">
              <a:defRPr sz="950" b="1" i="0">
                <a:solidFill>
                  <a:srgbClr val="212121"/>
                </a:solidFill>
                <a:latin typeface="Calibri"/>
              </a:defRPr>
            </a:pPr>
            <a:r>
              <a:t>95–99%</a:t>
            </a:r>
          </a:p>
        </p:txBody>
      </p:sp>
      <p:sp>
        <p:nvSpPr>
          <p:cNvPr id="25" name="Rectangle 24"/>
          <p:cNvSpPr/>
          <p:nvPr/>
        </p:nvSpPr>
        <p:spPr>
          <a:xfrm>
            <a:off x="2971800" y="1856232"/>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40" y="1920240"/>
            <a:ext cx="914400" cy="310896"/>
          </a:xfrm>
          <a:prstGeom prst="rect">
            <a:avLst/>
          </a:prstGeom>
          <a:noFill/>
        </p:spPr>
        <p:txBody>
          <a:bodyPr wrap="square" lIns="0" rIns="0" tIns="0" bIns="0">
            <a:spAutoFit/>
          </a:bodyPr>
          <a:lstStyle/>
          <a:p>
            <a:pPr algn="l">
              <a:defRPr sz="950" b="0" i="0">
                <a:solidFill>
                  <a:srgbClr val="212121"/>
                </a:solidFill>
                <a:latin typeface="Calibri"/>
              </a:defRPr>
            </a:pPr>
            <a:r>
              <a:t>92</a:t>
            </a:r>
          </a:p>
        </p:txBody>
      </p:sp>
      <p:sp>
        <p:nvSpPr>
          <p:cNvPr id="27" name="Rectangle 26"/>
          <p:cNvSpPr/>
          <p:nvPr/>
        </p:nvSpPr>
        <p:spPr>
          <a:xfrm>
            <a:off x="4069080" y="1856232"/>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0520" y="1920240"/>
            <a:ext cx="914400" cy="310896"/>
          </a:xfrm>
          <a:prstGeom prst="rect">
            <a:avLst/>
          </a:prstGeom>
          <a:noFill/>
        </p:spPr>
        <p:txBody>
          <a:bodyPr wrap="square" lIns="0" rIns="0" tIns="0" bIns="0">
            <a:spAutoFit/>
          </a:bodyPr>
          <a:lstStyle/>
          <a:p>
            <a:pPr algn="l">
              <a:defRPr sz="950" b="0" i="0">
                <a:solidFill>
                  <a:srgbClr val="212121"/>
                </a:solidFill>
                <a:latin typeface="Calibri"/>
              </a:defRPr>
            </a:pPr>
            <a:r>
              <a:t>23.9%</a:t>
            </a:r>
          </a:p>
        </p:txBody>
      </p:sp>
      <p:sp>
        <p:nvSpPr>
          <p:cNvPr id="29" name="Rectangle 28"/>
          <p:cNvSpPr/>
          <p:nvPr/>
        </p:nvSpPr>
        <p:spPr>
          <a:xfrm>
            <a:off x="5166360" y="1856232"/>
            <a:ext cx="19202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7800" y="1920240"/>
            <a:ext cx="1737360" cy="310896"/>
          </a:xfrm>
          <a:prstGeom prst="rect">
            <a:avLst/>
          </a:prstGeom>
          <a:noFill/>
        </p:spPr>
        <p:txBody>
          <a:bodyPr wrap="square" lIns="0" rIns="0" tIns="0" bIns="0">
            <a:spAutoFit/>
          </a:bodyPr>
          <a:lstStyle/>
          <a:p>
            <a:pPr algn="l">
              <a:defRPr sz="950" b="0" i="0">
                <a:solidFill>
                  <a:srgbClr val="212121"/>
                </a:solidFill>
                <a:latin typeface="Calibri"/>
              </a:defRPr>
            </a:pPr>
            <a:r>
              <a:t>None</a:t>
            </a:r>
          </a:p>
        </p:txBody>
      </p:sp>
      <p:sp>
        <p:nvSpPr>
          <p:cNvPr id="31" name="Rectangle 30"/>
          <p:cNvSpPr/>
          <p:nvPr/>
        </p:nvSpPr>
        <p:spPr>
          <a:xfrm>
            <a:off x="502920" y="2167128"/>
            <a:ext cx="24688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231136"/>
            <a:ext cx="2286000" cy="310896"/>
          </a:xfrm>
          <a:prstGeom prst="rect">
            <a:avLst/>
          </a:prstGeom>
          <a:noFill/>
        </p:spPr>
        <p:txBody>
          <a:bodyPr wrap="square" lIns="0" rIns="0" tIns="0" bIns="0">
            <a:spAutoFit/>
          </a:bodyPr>
          <a:lstStyle/>
          <a:p>
            <a:pPr algn="l">
              <a:defRPr sz="950" b="1" i="0">
                <a:solidFill>
                  <a:srgbClr val="212121"/>
                </a:solidFill>
                <a:latin typeface="Calibri"/>
              </a:defRPr>
            </a:pPr>
            <a:r>
              <a:t>85–94%</a:t>
            </a:r>
          </a:p>
        </p:txBody>
      </p:sp>
      <p:sp>
        <p:nvSpPr>
          <p:cNvPr id="33" name="Rectangle 32"/>
          <p:cNvSpPr/>
          <p:nvPr/>
        </p:nvSpPr>
        <p:spPr>
          <a:xfrm>
            <a:off x="2971800" y="2167128"/>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63240" y="2231136"/>
            <a:ext cx="914400" cy="310896"/>
          </a:xfrm>
          <a:prstGeom prst="rect">
            <a:avLst/>
          </a:prstGeom>
          <a:noFill/>
        </p:spPr>
        <p:txBody>
          <a:bodyPr wrap="square" lIns="0" rIns="0" tIns="0" bIns="0">
            <a:spAutoFit/>
          </a:bodyPr>
          <a:lstStyle/>
          <a:p>
            <a:pPr algn="l">
              <a:defRPr sz="950" b="0" i="0">
                <a:solidFill>
                  <a:srgbClr val="212121"/>
                </a:solidFill>
                <a:latin typeface="Calibri"/>
              </a:defRPr>
            </a:pPr>
            <a:r>
              <a:t>74</a:t>
            </a:r>
          </a:p>
        </p:txBody>
      </p:sp>
      <p:sp>
        <p:nvSpPr>
          <p:cNvPr id="35" name="Rectangle 34"/>
          <p:cNvSpPr/>
          <p:nvPr/>
        </p:nvSpPr>
        <p:spPr>
          <a:xfrm>
            <a:off x="4069080" y="2167128"/>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60520" y="2231136"/>
            <a:ext cx="914400" cy="310896"/>
          </a:xfrm>
          <a:prstGeom prst="rect">
            <a:avLst/>
          </a:prstGeom>
          <a:noFill/>
        </p:spPr>
        <p:txBody>
          <a:bodyPr wrap="square" lIns="0" rIns="0" tIns="0" bIns="0">
            <a:spAutoFit/>
          </a:bodyPr>
          <a:lstStyle/>
          <a:p>
            <a:pPr algn="l">
              <a:defRPr sz="950" b="0" i="0">
                <a:solidFill>
                  <a:srgbClr val="212121"/>
                </a:solidFill>
                <a:latin typeface="Calibri"/>
              </a:defRPr>
            </a:pPr>
            <a:r>
              <a:t>19.2%</a:t>
            </a:r>
          </a:p>
        </p:txBody>
      </p:sp>
      <p:sp>
        <p:nvSpPr>
          <p:cNvPr id="37" name="Rectangle 36"/>
          <p:cNvSpPr/>
          <p:nvPr/>
        </p:nvSpPr>
        <p:spPr>
          <a:xfrm>
            <a:off x="5166360" y="2167128"/>
            <a:ext cx="19202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57800" y="2231136"/>
            <a:ext cx="1737360" cy="310896"/>
          </a:xfrm>
          <a:prstGeom prst="rect">
            <a:avLst/>
          </a:prstGeom>
          <a:noFill/>
        </p:spPr>
        <p:txBody>
          <a:bodyPr wrap="square" lIns="0" rIns="0" tIns="0" bIns="0">
            <a:spAutoFit/>
          </a:bodyPr>
          <a:lstStyle/>
          <a:p>
            <a:pPr algn="l">
              <a:defRPr sz="950" b="0" i="0">
                <a:solidFill>
                  <a:srgbClr val="212121"/>
                </a:solidFill>
                <a:latin typeface="Calibri"/>
              </a:defRPr>
            </a:pPr>
            <a:r>
              <a:t>Monitor</a:t>
            </a:r>
          </a:p>
        </p:txBody>
      </p:sp>
      <p:sp>
        <p:nvSpPr>
          <p:cNvPr id="39" name="Rectangle 38"/>
          <p:cNvSpPr/>
          <p:nvPr/>
        </p:nvSpPr>
        <p:spPr>
          <a:xfrm>
            <a:off x="502920" y="2478024"/>
            <a:ext cx="24688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2542032"/>
            <a:ext cx="2286000" cy="310896"/>
          </a:xfrm>
          <a:prstGeom prst="rect">
            <a:avLst/>
          </a:prstGeom>
          <a:noFill/>
        </p:spPr>
        <p:txBody>
          <a:bodyPr wrap="square" lIns="0" rIns="0" tIns="0" bIns="0">
            <a:spAutoFit/>
          </a:bodyPr>
          <a:lstStyle/>
          <a:p>
            <a:pPr algn="l">
              <a:defRPr sz="950" b="1" i="0">
                <a:solidFill>
                  <a:srgbClr val="212121"/>
                </a:solidFill>
                <a:latin typeface="Calibri"/>
              </a:defRPr>
            </a:pPr>
            <a:r>
              <a:t>75–84%</a:t>
            </a:r>
          </a:p>
        </p:txBody>
      </p:sp>
      <p:sp>
        <p:nvSpPr>
          <p:cNvPr id="41" name="Rectangle 40"/>
          <p:cNvSpPr/>
          <p:nvPr/>
        </p:nvSpPr>
        <p:spPr>
          <a:xfrm>
            <a:off x="2971800" y="2478024"/>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63240" y="2542032"/>
            <a:ext cx="914400" cy="310896"/>
          </a:xfrm>
          <a:prstGeom prst="rect">
            <a:avLst/>
          </a:prstGeom>
          <a:noFill/>
        </p:spPr>
        <p:txBody>
          <a:bodyPr wrap="square" lIns="0" rIns="0" tIns="0" bIns="0">
            <a:spAutoFit/>
          </a:bodyPr>
          <a:lstStyle/>
          <a:p>
            <a:pPr algn="l">
              <a:defRPr sz="950" b="0" i="0">
                <a:solidFill>
                  <a:srgbClr val="212121"/>
                </a:solidFill>
                <a:latin typeface="Calibri"/>
              </a:defRPr>
            </a:pPr>
            <a:r>
              <a:t>63</a:t>
            </a:r>
          </a:p>
        </p:txBody>
      </p:sp>
      <p:sp>
        <p:nvSpPr>
          <p:cNvPr id="43" name="Rectangle 42"/>
          <p:cNvSpPr/>
          <p:nvPr/>
        </p:nvSpPr>
        <p:spPr>
          <a:xfrm>
            <a:off x="4069080" y="2478024"/>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60520" y="2542032"/>
            <a:ext cx="914400" cy="310896"/>
          </a:xfrm>
          <a:prstGeom prst="rect">
            <a:avLst/>
          </a:prstGeom>
          <a:noFill/>
        </p:spPr>
        <p:txBody>
          <a:bodyPr wrap="square" lIns="0" rIns="0" tIns="0" bIns="0">
            <a:spAutoFit/>
          </a:bodyPr>
          <a:lstStyle/>
          <a:p>
            <a:pPr algn="l">
              <a:defRPr sz="950" b="0" i="0">
                <a:solidFill>
                  <a:srgbClr val="212121"/>
                </a:solidFill>
                <a:latin typeface="Calibri"/>
              </a:defRPr>
            </a:pPr>
            <a:r>
              <a:t>16.4%</a:t>
            </a:r>
          </a:p>
        </p:txBody>
      </p:sp>
      <p:sp>
        <p:nvSpPr>
          <p:cNvPr id="45" name="Rectangle 44"/>
          <p:cNvSpPr/>
          <p:nvPr/>
        </p:nvSpPr>
        <p:spPr>
          <a:xfrm>
            <a:off x="5166360" y="2478024"/>
            <a:ext cx="19202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57800" y="2542032"/>
            <a:ext cx="1737360" cy="310896"/>
          </a:xfrm>
          <a:prstGeom prst="rect">
            <a:avLst/>
          </a:prstGeom>
          <a:noFill/>
        </p:spPr>
        <p:txBody>
          <a:bodyPr wrap="square" lIns="0" rIns="0" tIns="0" bIns="0">
            <a:spAutoFit/>
          </a:bodyPr>
          <a:lstStyle/>
          <a:p>
            <a:pPr algn="l">
              <a:defRPr sz="950" b="0" i="0">
                <a:solidFill>
                  <a:srgbClr val="212121"/>
                </a:solidFill>
                <a:latin typeface="Calibri"/>
              </a:defRPr>
            </a:pPr>
            <a:r>
              <a:t>Review</a:t>
            </a:r>
          </a:p>
        </p:txBody>
      </p:sp>
      <p:sp>
        <p:nvSpPr>
          <p:cNvPr id="47" name="Rectangle 46"/>
          <p:cNvSpPr/>
          <p:nvPr/>
        </p:nvSpPr>
        <p:spPr>
          <a:xfrm>
            <a:off x="502920" y="2788920"/>
            <a:ext cx="24688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852928"/>
            <a:ext cx="2286000" cy="310896"/>
          </a:xfrm>
          <a:prstGeom prst="rect">
            <a:avLst/>
          </a:prstGeom>
          <a:noFill/>
        </p:spPr>
        <p:txBody>
          <a:bodyPr wrap="square" lIns="0" rIns="0" tIns="0" bIns="0">
            <a:spAutoFit/>
          </a:bodyPr>
          <a:lstStyle/>
          <a:p>
            <a:pPr algn="l">
              <a:defRPr sz="950" b="1" i="0">
                <a:solidFill>
                  <a:srgbClr val="212121"/>
                </a:solidFill>
                <a:latin typeface="Calibri"/>
              </a:defRPr>
            </a:pPr>
            <a:r>
              <a:t>50–74%</a:t>
            </a:r>
          </a:p>
        </p:txBody>
      </p:sp>
      <p:sp>
        <p:nvSpPr>
          <p:cNvPr id="49" name="Rectangle 48"/>
          <p:cNvSpPr/>
          <p:nvPr/>
        </p:nvSpPr>
        <p:spPr>
          <a:xfrm>
            <a:off x="2971800" y="2788920"/>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63240" y="2852928"/>
            <a:ext cx="914400" cy="310896"/>
          </a:xfrm>
          <a:prstGeom prst="rect">
            <a:avLst/>
          </a:prstGeom>
          <a:noFill/>
        </p:spPr>
        <p:txBody>
          <a:bodyPr wrap="square" lIns="0" rIns="0" tIns="0" bIns="0">
            <a:spAutoFit/>
          </a:bodyPr>
          <a:lstStyle/>
          <a:p>
            <a:pPr algn="l">
              <a:defRPr sz="950" b="0" i="0">
                <a:solidFill>
                  <a:srgbClr val="212121"/>
                </a:solidFill>
                <a:latin typeface="Calibri"/>
              </a:defRPr>
            </a:pPr>
            <a:r>
              <a:t>35</a:t>
            </a:r>
          </a:p>
        </p:txBody>
      </p:sp>
      <p:sp>
        <p:nvSpPr>
          <p:cNvPr id="51" name="Rectangle 50"/>
          <p:cNvSpPr/>
          <p:nvPr/>
        </p:nvSpPr>
        <p:spPr>
          <a:xfrm>
            <a:off x="4069080" y="2788920"/>
            <a:ext cx="109728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60520" y="2852928"/>
            <a:ext cx="914400" cy="310896"/>
          </a:xfrm>
          <a:prstGeom prst="rect">
            <a:avLst/>
          </a:prstGeom>
          <a:noFill/>
        </p:spPr>
        <p:txBody>
          <a:bodyPr wrap="square" lIns="0" rIns="0" tIns="0" bIns="0">
            <a:spAutoFit/>
          </a:bodyPr>
          <a:lstStyle/>
          <a:p>
            <a:pPr algn="l">
              <a:defRPr sz="950" b="0" i="0">
                <a:solidFill>
                  <a:srgbClr val="212121"/>
                </a:solidFill>
                <a:latin typeface="Calibri"/>
              </a:defRPr>
            </a:pPr>
            <a:r>
              <a:t>9.1%</a:t>
            </a:r>
          </a:p>
        </p:txBody>
      </p:sp>
      <p:sp>
        <p:nvSpPr>
          <p:cNvPr id="53" name="Rectangle 52"/>
          <p:cNvSpPr/>
          <p:nvPr/>
        </p:nvSpPr>
        <p:spPr>
          <a:xfrm>
            <a:off x="5166360" y="2788920"/>
            <a:ext cx="1920240" cy="310896"/>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257800" y="2852928"/>
            <a:ext cx="1737360" cy="310896"/>
          </a:xfrm>
          <a:prstGeom prst="rect">
            <a:avLst/>
          </a:prstGeom>
          <a:noFill/>
        </p:spPr>
        <p:txBody>
          <a:bodyPr wrap="square" lIns="0" rIns="0" tIns="0" bIns="0">
            <a:spAutoFit/>
          </a:bodyPr>
          <a:lstStyle/>
          <a:p>
            <a:pPr algn="l">
              <a:defRPr sz="950" b="0" i="0">
                <a:solidFill>
                  <a:srgbClr val="B03A2E"/>
                </a:solidFill>
                <a:latin typeface="Calibri"/>
              </a:defRPr>
            </a:pPr>
            <a:r>
              <a:t>Escalate</a:t>
            </a:r>
          </a:p>
        </p:txBody>
      </p:sp>
      <p:sp>
        <p:nvSpPr>
          <p:cNvPr id="55" name="Rectangle 54"/>
          <p:cNvSpPr/>
          <p:nvPr/>
        </p:nvSpPr>
        <p:spPr>
          <a:xfrm>
            <a:off x="502920" y="3099816"/>
            <a:ext cx="24688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3163824"/>
            <a:ext cx="2286000" cy="310896"/>
          </a:xfrm>
          <a:prstGeom prst="rect">
            <a:avLst/>
          </a:prstGeom>
          <a:noFill/>
        </p:spPr>
        <p:txBody>
          <a:bodyPr wrap="square" lIns="0" rIns="0" tIns="0" bIns="0">
            <a:spAutoFit/>
          </a:bodyPr>
          <a:lstStyle/>
          <a:p>
            <a:pPr algn="l">
              <a:defRPr sz="950" b="1" i="0">
                <a:solidFill>
                  <a:srgbClr val="212121"/>
                </a:solidFill>
                <a:latin typeface="Calibri"/>
              </a:defRPr>
            </a:pPr>
            <a:r>
              <a:t>Below 50%</a:t>
            </a:r>
          </a:p>
        </p:txBody>
      </p:sp>
      <p:sp>
        <p:nvSpPr>
          <p:cNvPr id="57" name="Rectangle 56"/>
          <p:cNvSpPr/>
          <p:nvPr/>
        </p:nvSpPr>
        <p:spPr>
          <a:xfrm>
            <a:off x="2971800" y="3099816"/>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63240" y="3163824"/>
            <a:ext cx="914400" cy="310896"/>
          </a:xfrm>
          <a:prstGeom prst="rect">
            <a:avLst/>
          </a:prstGeom>
          <a:noFill/>
        </p:spPr>
        <p:txBody>
          <a:bodyPr wrap="square" lIns="0" rIns="0" tIns="0" bIns="0">
            <a:spAutoFit/>
          </a:bodyPr>
          <a:lstStyle/>
          <a:p>
            <a:pPr algn="l">
              <a:defRPr sz="950" b="0" i="0">
                <a:solidFill>
                  <a:srgbClr val="212121"/>
                </a:solidFill>
                <a:latin typeface="Calibri"/>
              </a:defRPr>
            </a:pPr>
            <a:r>
              <a:t>3</a:t>
            </a:r>
          </a:p>
        </p:txBody>
      </p:sp>
      <p:sp>
        <p:nvSpPr>
          <p:cNvPr id="59" name="Rectangle 58"/>
          <p:cNvSpPr/>
          <p:nvPr/>
        </p:nvSpPr>
        <p:spPr>
          <a:xfrm>
            <a:off x="4069080" y="3099816"/>
            <a:ext cx="10972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60520" y="3163824"/>
            <a:ext cx="914400" cy="310896"/>
          </a:xfrm>
          <a:prstGeom prst="rect">
            <a:avLst/>
          </a:prstGeom>
          <a:noFill/>
        </p:spPr>
        <p:txBody>
          <a:bodyPr wrap="square" lIns="0" rIns="0" tIns="0" bIns="0">
            <a:spAutoFit/>
          </a:bodyPr>
          <a:lstStyle/>
          <a:p>
            <a:pPr algn="l">
              <a:defRPr sz="950" b="0" i="0">
                <a:solidFill>
                  <a:srgbClr val="212121"/>
                </a:solidFill>
                <a:latin typeface="Calibri"/>
              </a:defRPr>
            </a:pPr>
            <a:r>
              <a:t>0.8%</a:t>
            </a:r>
          </a:p>
        </p:txBody>
      </p:sp>
      <p:sp>
        <p:nvSpPr>
          <p:cNvPr id="61" name="Rectangle 60"/>
          <p:cNvSpPr/>
          <p:nvPr/>
        </p:nvSpPr>
        <p:spPr>
          <a:xfrm>
            <a:off x="5166360" y="3099816"/>
            <a:ext cx="192024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57800" y="3163824"/>
            <a:ext cx="1737360" cy="310896"/>
          </a:xfrm>
          <a:prstGeom prst="rect">
            <a:avLst/>
          </a:prstGeom>
          <a:noFill/>
        </p:spPr>
        <p:txBody>
          <a:bodyPr wrap="square" lIns="0" rIns="0" tIns="0" bIns="0">
            <a:spAutoFit/>
          </a:bodyPr>
          <a:lstStyle/>
          <a:p>
            <a:pPr algn="l">
              <a:defRPr sz="950" b="0" i="0">
                <a:solidFill>
                  <a:srgbClr val="B03A2E"/>
                </a:solidFill>
                <a:latin typeface="Calibri"/>
              </a:defRPr>
            </a:pPr>
            <a:r>
              <a:t>Escalate</a:t>
            </a:r>
          </a:p>
        </p:txBody>
      </p:sp>
      <p:sp>
        <p:nvSpPr>
          <p:cNvPr id="63" name="Rectangle 62"/>
          <p:cNvSpPr/>
          <p:nvPr/>
        </p:nvSpPr>
        <p:spPr>
          <a:xfrm>
            <a:off x="7315200" y="1234440"/>
            <a:ext cx="4370832" cy="21945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315200" y="1234440"/>
            <a:ext cx="4370832"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525512" y="1463040"/>
            <a:ext cx="3931920" cy="274320"/>
          </a:xfrm>
          <a:prstGeom prst="rect">
            <a:avLst/>
          </a:prstGeom>
          <a:noFill/>
        </p:spPr>
        <p:txBody>
          <a:bodyPr wrap="square" lIns="0" rIns="0" tIns="0" bIns="0">
            <a:spAutoFit/>
          </a:bodyPr>
          <a:lstStyle/>
          <a:p>
            <a:pPr algn="l">
              <a:defRPr sz="900" b="1" i="0">
                <a:solidFill>
                  <a:srgbClr val="4682B4"/>
                </a:solidFill>
                <a:latin typeface="Calibri"/>
              </a:defRPr>
            </a:pPr>
            <a:r>
              <a:t>THE THREE WORST VEHICLES</a:t>
            </a:r>
          </a:p>
        </p:txBody>
      </p:sp>
      <p:sp>
        <p:nvSpPr>
          <p:cNvPr id="66" name="TextBox 65"/>
          <p:cNvSpPr txBox="1"/>
          <p:nvPr/>
        </p:nvSpPr>
        <p:spPr>
          <a:xfrm>
            <a:off x="7525512" y="1828800"/>
            <a:ext cx="3931920" cy="1463040"/>
          </a:xfrm>
          <a:prstGeom prst="rect">
            <a:avLst/>
          </a:prstGeom>
          <a:noFill/>
        </p:spPr>
        <p:txBody>
          <a:bodyPr wrap="square" lIns="0" rIns="0" tIns="0" bIns="0">
            <a:spAutoFit/>
          </a:bodyPr>
          <a:lstStyle/>
          <a:p>
            <a:pPr algn="l">
              <a:spcAft>
                <a:spcPts val="600"/>
              </a:spcAft>
              <a:defRPr sz="1000" b="0" i="0">
                <a:solidFill>
                  <a:srgbClr val="212121"/>
                </a:solidFill>
                <a:latin typeface="Calibri"/>
              </a:defRPr>
            </a:pPr>
            <a:r>
              <a:t>Ab3ea87 — 36.5%   (z = −4.05)</a:t>
            </a:r>
          </a:p>
          <a:p>
            <a:pPr algn="l">
              <a:spcAft>
                <a:spcPts val="600"/>
              </a:spcAft>
              <a:defRPr sz="1000" b="0" i="0">
                <a:solidFill>
                  <a:srgbClr val="212121"/>
                </a:solidFill>
                <a:latin typeface="Calibri"/>
              </a:defRPr>
            </a:pPr>
            <a:r>
              <a:t>Ae7bb35 — 42.3%   (z = −3.62)</a:t>
            </a:r>
          </a:p>
          <a:p>
            <a:pPr algn="l">
              <a:spcAft>
                <a:spcPts val="600"/>
              </a:spcAft>
              <a:defRPr sz="1000" b="0" i="0">
                <a:solidFill>
                  <a:srgbClr val="212121"/>
                </a:solidFill>
                <a:latin typeface="Calibri"/>
              </a:defRPr>
            </a:pPr>
            <a:r>
              <a:t>A80d406 — 47.6%   (z = −3.22)</a:t>
            </a:r>
          </a:p>
          <a:p>
            <a:pPr algn="l">
              <a:spcAft>
                <a:spcPts val="600"/>
              </a:spcAft>
              <a:defRPr sz="1000" b="0" i="0">
                <a:solidFill>
                  <a:srgbClr val="212121"/>
                </a:solidFill>
                <a:latin typeface="Calibri"/>
              </a:defRPr>
            </a:pPr>
          </a:p>
          <a:p>
            <a:pPr algn="l">
              <a:spcAft>
                <a:spcPts val="600"/>
              </a:spcAft>
              <a:defRPr sz="1000" b="0" i="0">
                <a:solidFill>
                  <a:srgbClr val="212121"/>
                </a:solidFill>
                <a:latin typeface="Calibri"/>
              </a:defRPr>
            </a:pPr>
            <a:r>
              <a:t>Each sits more than three standard deviations below the mean.</a:t>
            </a:r>
          </a:p>
        </p:txBody>
      </p:sp>
      <p:sp>
        <p:nvSpPr>
          <p:cNvPr id="67" name="Rectangle 66"/>
          <p:cNvSpPr/>
          <p:nvPr/>
        </p:nvSpPr>
        <p:spPr>
          <a:xfrm>
            <a:off x="7315200" y="3611880"/>
            <a:ext cx="4370832" cy="141732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525512" y="3794760"/>
            <a:ext cx="3931920" cy="1097280"/>
          </a:xfrm>
          <a:prstGeom prst="rect">
            <a:avLst/>
          </a:prstGeom>
          <a:noFill/>
        </p:spPr>
        <p:txBody>
          <a:bodyPr wrap="square" lIns="0" rIns="0" tIns="0" bIns="0">
            <a:spAutoFit/>
          </a:bodyPr>
          <a:lstStyle/>
          <a:p>
            <a:pPr algn="l">
              <a:defRPr sz="1000" b="0" i="0">
                <a:solidFill>
                  <a:srgbClr val="212121"/>
                </a:solidFill>
                <a:latin typeface="Calibri"/>
              </a:defRPr>
            </a:pPr>
            <a:r>
              <a:t>73% of funds already clear the 85% bar. The remediation target is the 38 funds below 75% — a list short enough to work through by name in a single quarter.</a:t>
            </a:r>
          </a:p>
        </p:txBody>
      </p:sp>
      <p:sp>
        <p:nvSpPr>
          <p:cNvPr id="69" name="Rectangle 68"/>
          <p:cNvSpPr/>
          <p:nvPr/>
        </p:nvSpPr>
        <p:spPr>
          <a:xfrm>
            <a:off x="502920" y="5257800"/>
            <a:ext cx="11185855" cy="713232"/>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02920" y="5257800"/>
            <a:ext cx="50292" cy="71323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3232" y="5376672"/>
            <a:ext cx="10774375" cy="530352"/>
          </a:xfrm>
          <a:prstGeom prst="rect">
            <a:avLst/>
          </a:prstGeom>
          <a:noFill/>
        </p:spPr>
        <p:txBody>
          <a:bodyPr wrap="square" lIns="0" rIns="0" tIns="0" bIns="0">
            <a:spAutoFit/>
          </a:bodyPr>
          <a:lstStyle/>
          <a:p>
            <a:pPr algn="l">
              <a:defRPr sz="1050" b="0" i="0">
                <a:solidFill>
                  <a:srgbClr val="212121"/>
                </a:solidFill>
                <a:latin typeface="Calibri"/>
              </a:defRPr>
            </a:pPr>
            <a:r>
              <a:t>Framing for Operations: this is not a data-quality crisis. It is a concentrated tail of 38 named vehicles, of which 3 are severe.</a:t>
            </a:r>
          </a:p>
        </p:txBody>
      </p:sp>
      <p:sp>
        <p:nvSpPr>
          <p:cNvPr id="72" name="Rectangle 71"/>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Bands computed on mandatory-field completeness</a:t>
            </a:r>
          </a:p>
        </p:txBody>
      </p:sp>
      <p:sp>
        <p:nvSpPr>
          <p:cNvPr id="74" name="TextBox 73"/>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4 — OUTLIER DETECTION</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The distribution is one-tailed</a:t>
            </a:r>
          </a:p>
        </p:txBody>
      </p:sp>
      <p:pic>
        <p:nvPicPr>
          <p:cNvPr id="7" name="Picture 6" descr="outliers.png"/>
          <p:cNvPicPr>
            <a:picLocks noChangeAspect="1"/>
          </p:cNvPicPr>
          <p:nvPr/>
        </p:nvPicPr>
        <p:blipFill>
          <a:blip r:embed="rId2"/>
          <a:stretch>
            <a:fillRect/>
          </a:stretch>
        </p:blipFill>
        <p:spPr>
          <a:xfrm>
            <a:off x="1649050" y="1170432"/>
            <a:ext cx="8893595" cy="3977640"/>
          </a:xfrm>
          <a:prstGeom prst="rect">
            <a:avLst/>
          </a:prstGeom>
        </p:spPr>
      </p:pic>
      <p:sp>
        <p:nvSpPr>
          <p:cNvPr id="8" name="Rectangle 7"/>
          <p:cNvSpPr/>
          <p:nvPr/>
        </p:nvSpPr>
        <p:spPr>
          <a:xfrm>
            <a:off x="502920" y="5276088"/>
            <a:ext cx="11185855" cy="96012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276088"/>
            <a:ext cx="50292"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394960"/>
            <a:ext cx="10774375" cy="777240"/>
          </a:xfrm>
          <a:prstGeom prst="rect">
            <a:avLst/>
          </a:prstGeom>
          <a:noFill/>
        </p:spPr>
        <p:txBody>
          <a:bodyPr wrap="square" lIns="0" rIns="0" tIns="0" bIns="0">
            <a:spAutoFit/>
          </a:bodyPr>
          <a:lstStyle/>
          <a:p>
            <a:pPr algn="l">
              <a:defRPr sz="1050" b="0" i="0">
                <a:solidFill>
                  <a:srgbClr val="212121"/>
                </a:solidFill>
                <a:latin typeface="Calibri"/>
              </a:defRPr>
            </a:pPr>
            <a:r>
              <a:t>Nineteen funds fall below minus two sigma; none rise above plus two. That asymmetry is mechanical — completeness is capped at 100%, so excellence cannot be an outlier while failure is unbounded. Nine funds cluster at exactly 57.1%, which is 4 of 7 mandatory fields: the same four, suggesting a shared template rather than nine independent lapses.</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Mean 90.6%  ·  sigma 13.3%</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4 — SIZE VERSUS QUALITY</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Larger funds report better — but size is not the mechanism</a:t>
            </a:r>
          </a:p>
        </p:txBody>
      </p:sp>
      <p:pic>
        <p:nvPicPr>
          <p:cNvPr id="7" name="Picture 6" descr="size_quartile.png"/>
          <p:cNvPicPr>
            <a:picLocks noChangeAspect="1"/>
          </p:cNvPicPr>
          <p:nvPr/>
        </p:nvPicPr>
        <p:blipFill>
          <a:blip r:embed="rId2"/>
          <a:stretch>
            <a:fillRect/>
          </a:stretch>
        </p:blipFill>
        <p:spPr>
          <a:xfrm>
            <a:off x="566928" y="1225296"/>
            <a:ext cx="5532120" cy="2904441"/>
          </a:xfrm>
          <a:prstGeom prst="rect">
            <a:avLst/>
          </a:prstGeom>
        </p:spPr>
      </p:pic>
      <p:pic>
        <p:nvPicPr>
          <p:cNvPr id="8" name="Picture 7" descr="fund_size_vs_quality.png"/>
          <p:cNvPicPr>
            <a:picLocks noChangeAspect="1"/>
          </p:cNvPicPr>
          <p:nvPr/>
        </p:nvPicPr>
        <p:blipFill>
          <a:blip r:embed="rId3"/>
          <a:stretch>
            <a:fillRect/>
          </a:stretch>
        </p:blipFill>
        <p:spPr>
          <a:xfrm>
            <a:off x="6400800" y="1298448"/>
            <a:ext cx="5257800" cy="3121376"/>
          </a:xfrm>
          <a:prstGeom prst="rect">
            <a:avLst/>
          </a:prstGeom>
        </p:spPr>
      </p:pic>
      <p:sp>
        <p:nvSpPr>
          <p:cNvPr id="9" name="Rectangle 8"/>
          <p:cNvSpPr/>
          <p:nvPr/>
        </p:nvSpPr>
        <p:spPr>
          <a:xfrm>
            <a:off x="502920" y="4224528"/>
            <a:ext cx="11185855" cy="105156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4224528"/>
            <a:ext cx="50292" cy="10515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4343400"/>
            <a:ext cx="10774375" cy="868680"/>
          </a:xfrm>
          <a:prstGeom prst="rect">
            <a:avLst/>
          </a:prstGeom>
          <a:noFill/>
        </p:spPr>
        <p:txBody>
          <a:bodyPr wrap="square" lIns="0" rIns="0" tIns="0" bIns="0">
            <a:spAutoFit/>
          </a:bodyPr>
          <a:lstStyle/>
          <a:p>
            <a:pPr algn="l">
              <a:defRPr sz="1050" b="0" i="0">
                <a:solidFill>
                  <a:srgbClr val="212121"/>
                </a:solidFill>
                <a:latin typeface="Calibri"/>
              </a:defRPr>
            </a:pPr>
            <a:r>
              <a:t>Mean completeness climbs monotonically from 77.0% to 97.2% across size quartiles, and dispersion collapses from σ 15.5% to 5.0%. But correlation is only 0.25 and small funds span the full range — several report at 100%. Size proxies for back-office maturity; it does not determine outcomes, so it cannot be used to excuse a small manager.</a:t>
            </a:r>
          </a:p>
        </p:txBody>
      </p:sp>
      <p:sp>
        <p:nvSpPr>
          <p:cNvPr id="12" name="Rectangle 11"/>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Quartiles by summed Total Value  ·  n = 385</a:t>
            </a:r>
          </a:p>
        </p:txBody>
      </p:sp>
      <p:sp>
        <p:nvSpPr>
          <p:cNvPr id="14" name="TextBox 13"/>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5 — SCORE BY MANAGER</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Manager scorecard</a:t>
            </a:r>
          </a:p>
        </p:txBody>
      </p:sp>
      <p:sp>
        <p:nvSpPr>
          <p:cNvPr id="7" name="Rectangle 6"/>
          <p:cNvSpPr/>
          <p:nvPr/>
        </p:nvSpPr>
        <p:spPr>
          <a:xfrm>
            <a:off x="502920" y="123444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MANAGERS SCORED</a:t>
            </a:r>
          </a:p>
        </p:txBody>
      </p:sp>
      <p:sp>
        <p:nvSpPr>
          <p:cNvPr id="10" name="TextBox 9"/>
          <p:cNvSpPr txBox="1"/>
          <p:nvPr/>
        </p:nvSpPr>
        <p:spPr>
          <a:xfrm>
            <a:off x="64922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87</a:t>
            </a:r>
          </a:p>
        </p:txBody>
      </p:sp>
      <p:sp>
        <p:nvSpPr>
          <p:cNvPr id="11" name="TextBox 10"/>
          <p:cNvSpPr txBox="1"/>
          <p:nvPr/>
        </p:nvSpPr>
        <p:spPr>
          <a:xfrm>
            <a:off x="649224" y="2148840"/>
            <a:ext cx="3319272" cy="274320"/>
          </a:xfrm>
          <a:prstGeom prst="rect">
            <a:avLst/>
          </a:prstGeom>
          <a:noFill/>
        </p:spPr>
        <p:txBody>
          <a:bodyPr wrap="square" lIns="0" rIns="0" tIns="0" bIns="0">
            <a:spAutoFit/>
          </a:bodyPr>
          <a:lstStyle/>
          <a:p>
            <a:pPr algn="l">
              <a:defRPr sz="780" b="0" i="1">
                <a:solidFill>
                  <a:srgbClr val="6E6E6E"/>
                </a:solidFill>
                <a:latin typeface="Calibri"/>
              </a:defRPr>
            </a:pPr>
            <a:r>
              <a:t>≥20 rows</a:t>
            </a:r>
          </a:p>
        </p:txBody>
      </p:sp>
      <p:sp>
        <p:nvSpPr>
          <p:cNvPr id="12" name="Rectangle 11"/>
          <p:cNvSpPr/>
          <p:nvPr/>
        </p:nvSpPr>
        <p:spPr>
          <a:xfrm>
            <a:off x="4297680" y="123444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MEAN</a:t>
            </a:r>
          </a:p>
        </p:txBody>
      </p:sp>
      <p:sp>
        <p:nvSpPr>
          <p:cNvPr id="15" name="TextBox 14"/>
          <p:cNvSpPr txBox="1"/>
          <p:nvPr/>
        </p:nvSpPr>
        <p:spPr>
          <a:xfrm>
            <a:off x="444398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89.8%</a:t>
            </a:r>
          </a:p>
        </p:txBody>
      </p:sp>
      <p:sp>
        <p:nvSpPr>
          <p:cNvPr id="16" name="Rectangle 15"/>
          <p:cNvSpPr/>
          <p:nvPr/>
        </p:nvSpPr>
        <p:spPr>
          <a:xfrm>
            <a:off x="8092440" y="123444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MEDIAN</a:t>
            </a:r>
          </a:p>
        </p:txBody>
      </p:sp>
      <p:sp>
        <p:nvSpPr>
          <p:cNvPr id="19" name="TextBox 18"/>
          <p:cNvSpPr txBox="1"/>
          <p:nvPr/>
        </p:nvSpPr>
        <p:spPr>
          <a:xfrm>
            <a:off x="823874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95.1%</a:t>
            </a:r>
          </a:p>
        </p:txBody>
      </p:sp>
      <p:sp>
        <p:nvSpPr>
          <p:cNvPr id="20" name="TextBox 19"/>
          <p:cNvSpPr txBox="1"/>
          <p:nvPr/>
        </p:nvSpPr>
        <p:spPr>
          <a:xfrm>
            <a:off x="8238744" y="2148840"/>
            <a:ext cx="3319272" cy="274320"/>
          </a:xfrm>
          <a:prstGeom prst="rect">
            <a:avLst/>
          </a:prstGeom>
          <a:noFill/>
        </p:spPr>
        <p:txBody>
          <a:bodyPr wrap="square" lIns="0" rIns="0" tIns="0" bIns="0">
            <a:spAutoFit/>
          </a:bodyPr>
          <a:lstStyle/>
          <a:p>
            <a:pPr algn="l">
              <a:defRPr sz="780" b="0" i="1">
                <a:solidFill>
                  <a:srgbClr val="6E6E6E"/>
                </a:solidFill>
                <a:latin typeface="Calibri"/>
              </a:defRPr>
            </a:pPr>
            <a:r>
              <a:t>well above mean</a:t>
            </a:r>
          </a:p>
        </p:txBody>
      </p:sp>
      <p:sp>
        <p:nvSpPr>
          <p:cNvPr id="21" name="Rectangle 20"/>
          <p:cNvSpPr/>
          <p:nvPr/>
        </p:nvSpPr>
        <p:spPr>
          <a:xfrm>
            <a:off x="502920" y="269748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269748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2880360"/>
            <a:ext cx="3319272" cy="237744"/>
          </a:xfrm>
          <a:prstGeom prst="rect">
            <a:avLst/>
          </a:prstGeom>
          <a:noFill/>
        </p:spPr>
        <p:txBody>
          <a:bodyPr wrap="square" lIns="0" rIns="0" tIns="0" bIns="0">
            <a:spAutoFit/>
          </a:bodyPr>
          <a:lstStyle/>
          <a:p>
            <a:pPr algn="l">
              <a:defRPr sz="780" b="1" i="0">
                <a:solidFill>
                  <a:srgbClr val="4682B4"/>
                </a:solidFill>
                <a:latin typeface="Calibri"/>
              </a:defRPr>
            </a:pPr>
            <a:r>
              <a:t>AT 100%</a:t>
            </a:r>
          </a:p>
        </p:txBody>
      </p:sp>
      <p:sp>
        <p:nvSpPr>
          <p:cNvPr id="24" name="TextBox 23"/>
          <p:cNvSpPr txBox="1"/>
          <p:nvPr/>
        </p:nvSpPr>
        <p:spPr>
          <a:xfrm>
            <a:off x="649224" y="3154680"/>
            <a:ext cx="3319272" cy="566928"/>
          </a:xfrm>
          <a:prstGeom prst="rect">
            <a:avLst/>
          </a:prstGeom>
          <a:noFill/>
        </p:spPr>
        <p:txBody>
          <a:bodyPr wrap="square" lIns="0" rIns="0" tIns="0" bIns="0">
            <a:spAutoFit/>
          </a:bodyPr>
          <a:lstStyle/>
          <a:p>
            <a:pPr algn="l">
              <a:defRPr sz="2600" b="1" i="0">
                <a:solidFill>
                  <a:srgbClr val="14284F"/>
                </a:solidFill>
                <a:latin typeface="Georgia"/>
              </a:defRPr>
            </a:pPr>
            <a:r>
              <a:t>10</a:t>
            </a:r>
          </a:p>
        </p:txBody>
      </p:sp>
      <p:sp>
        <p:nvSpPr>
          <p:cNvPr id="25" name="Rectangle 24"/>
          <p:cNvSpPr/>
          <p:nvPr/>
        </p:nvSpPr>
        <p:spPr>
          <a:xfrm>
            <a:off x="4297680" y="269748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0" y="269748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43984" y="2880360"/>
            <a:ext cx="3319272" cy="237744"/>
          </a:xfrm>
          <a:prstGeom prst="rect">
            <a:avLst/>
          </a:prstGeom>
          <a:noFill/>
        </p:spPr>
        <p:txBody>
          <a:bodyPr wrap="square" lIns="0" rIns="0" tIns="0" bIns="0">
            <a:spAutoFit/>
          </a:bodyPr>
          <a:lstStyle/>
          <a:p>
            <a:pPr algn="l">
              <a:defRPr sz="780" b="1" i="0">
                <a:solidFill>
                  <a:srgbClr val="4682B4"/>
                </a:solidFill>
                <a:latin typeface="Calibri"/>
              </a:defRPr>
            </a:pPr>
            <a:r>
              <a:t>BELOW 85%</a:t>
            </a:r>
          </a:p>
        </p:txBody>
      </p:sp>
      <p:sp>
        <p:nvSpPr>
          <p:cNvPr id="28" name="TextBox 27"/>
          <p:cNvSpPr txBox="1"/>
          <p:nvPr/>
        </p:nvSpPr>
        <p:spPr>
          <a:xfrm>
            <a:off x="4443984" y="3154680"/>
            <a:ext cx="3319272" cy="566928"/>
          </a:xfrm>
          <a:prstGeom prst="rect">
            <a:avLst/>
          </a:prstGeom>
          <a:noFill/>
        </p:spPr>
        <p:txBody>
          <a:bodyPr wrap="square" lIns="0" rIns="0" tIns="0" bIns="0">
            <a:spAutoFit/>
          </a:bodyPr>
          <a:lstStyle/>
          <a:p>
            <a:pPr algn="l">
              <a:defRPr sz="2600" b="1" i="0">
                <a:solidFill>
                  <a:srgbClr val="B03A2E"/>
                </a:solidFill>
                <a:latin typeface="Georgia"/>
              </a:defRPr>
            </a:pPr>
            <a:r>
              <a:t>14</a:t>
            </a:r>
          </a:p>
        </p:txBody>
      </p:sp>
      <p:sp>
        <p:nvSpPr>
          <p:cNvPr id="29" name="TextBox 28"/>
          <p:cNvSpPr txBox="1"/>
          <p:nvPr/>
        </p:nvSpPr>
        <p:spPr>
          <a:xfrm>
            <a:off x="4443984" y="3611880"/>
            <a:ext cx="3319272" cy="274320"/>
          </a:xfrm>
          <a:prstGeom prst="rect">
            <a:avLst/>
          </a:prstGeom>
          <a:noFill/>
        </p:spPr>
        <p:txBody>
          <a:bodyPr wrap="square" lIns="0" rIns="0" tIns="0" bIns="0">
            <a:spAutoFit/>
          </a:bodyPr>
          <a:lstStyle/>
          <a:p>
            <a:pPr algn="l">
              <a:defRPr sz="780" b="0" i="1">
                <a:solidFill>
                  <a:srgbClr val="6E6E6E"/>
                </a:solidFill>
                <a:latin typeface="Calibri"/>
              </a:defRPr>
            </a:pPr>
            <a:r>
              <a:t>16.1% of GPs</a:t>
            </a:r>
          </a:p>
        </p:txBody>
      </p:sp>
      <p:sp>
        <p:nvSpPr>
          <p:cNvPr id="30" name="Rectangle 29"/>
          <p:cNvSpPr/>
          <p:nvPr/>
        </p:nvSpPr>
        <p:spPr>
          <a:xfrm>
            <a:off x="8092440" y="2697480"/>
            <a:ext cx="3611880" cy="1298448"/>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269748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8744" y="2880360"/>
            <a:ext cx="3319272" cy="237744"/>
          </a:xfrm>
          <a:prstGeom prst="rect">
            <a:avLst/>
          </a:prstGeom>
          <a:noFill/>
        </p:spPr>
        <p:txBody>
          <a:bodyPr wrap="square" lIns="0" rIns="0" tIns="0" bIns="0">
            <a:spAutoFit/>
          </a:bodyPr>
          <a:lstStyle/>
          <a:p>
            <a:pPr algn="l">
              <a:defRPr sz="780" b="1" i="0">
                <a:solidFill>
                  <a:srgbClr val="4682B4"/>
                </a:solidFill>
                <a:latin typeface="Calibri"/>
              </a:defRPr>
            </a:pPr>
            <a:r>
              <a:t>WORST</a:t>
            </a:r>
          </a:p>
        </p:txBody>
      </p:sp>
      <p:sp>
        <p:nvSpPr>
          <p:cNvPr id="33" name="TextBox 32"/>
          <p:cNvSpPr txBox="1"/>
          <p:nvPr/>
        </p:nvSpPr>
        <p:spPr>
          <a:xfrm>
            <a:off x="8238744" y="3154680"/>
            <a:ext cx="3319272" cy="566928"/>
          </a:xfrm>
          <a:prstGeom prst="rect">
            <a:avLst/>
          </a:prstGeom>
          <a:noFill/>
        </p:spPr>
        <p:txBody>
          <a:bodyPr wrap="square" lIns="0" rIns="0" tIns="0" bIns="0">
            <a:spAutoFit/>
          </a:bodyPr>
          <a:lstStyle/>
          <a:p>
            <a:pPr algn="l">
              <a:defRPr sz="2600" b="1" i="0">
                <a:solidFill>
                  <a:srgbClr val="B03A2E"/>
                </a:solidFill>
                <a:latin typeface="Georgia"/>
              </a:defRPr>
            </a:pPr>
            <a:r>
              <a:t>39.9%</a:t>
            </a:r>
          </a:p>
        </p:txBody>
      </p:sp>
      <p:sp>
        <p:nvSpPr>
          <p:cNvPr id="34" name="TextBox 33"/>
          <p:cNvSpPr txBox="1"/>
          <p:nvPr/>
        </p:nvSpPr>
        <p:spPr>
          <a:xfrm>
            <a:off x="8238744" y="3611880"/>
            <a:ext cx="3319272" cy="274320"/>
          </a:xfrm>
          <a:prstGeom prst="rect">
            <a:avLst/>
          </a:prstGeom>
          <a:noFill/>
        </p:spPr>
        <p:txBody>
          <a:bodyPr wrap="square" lIns="0" rIns="0" tIns="0" bIns="0">
            <a:spAutoFit/>
          </a:bodyPr>
          <a:lstStyle/>
          <a:p>
            <a:pPr algn="l">
              <a:defRPr sz="780" b="0" i="1">
                <a:solidFill>
                  <a:srgbClr val="6E6E6E"/>
                </a:solidFill>
                <a:latin typeface="Calibri"/>
              </a:defRPr>
            </a:pPr>
            <a:r>
              <a:t>manager A5d1a01</a:t>
            </a:r>
          </a:p>
        </p:txBody>
      </p:sp>
      <p:sp>
        <p:nvSpPr>
          <p:cNvPr id="35" name="Rectangle 34"/>
          <p:cNvSpPr/>
          <p:nvPr/>
        </p:nvSpPr>
        <p:spPr>
          <a:xfrm>
            <a:off x="502920" y="4297680"/>
            <a:ext cx="3291840" cy="29260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366260"/>
            <a:ext cx="3108960" cy="292608"/>
          </a:xfrm>
          <a:prstGeom prst="rect">
            <a:avLst/>
          </a:prstGeom>
          <a:noFill/>
        </p:spPr>
        <p:txBody>
          <a:bodyPr wrap="square" lIns="0" rIns="0" tIns="0" bIns="0">
            <a:spAutoFit/>
          </a:bodyPr>
          <a:lstStyle/>
          <a:p>
            <a:pPr algn="l">
              <a:defRPr sz="850" b="1" i="0">
                <a:solidFill>
                  <a:srgbClr val="FFFFFF"/>
                </a:solidFill>
                <a:latin typeface="Calibri"/>
              </a:defRPr>
            </a:pPr>
            <a:r>
              <a:t>Least complete managers</a:t>
            </a:r>
          </a:p>
        </p:txBody>
      </p:sp>
      <p:sp>
        <p:nvSpPr>
          <p:cNvPr id="37" name="Rectangle 36"/>
          <p:cNvSpPr/>
          <p:nvPr/>
        </p:nvSpPr>
        <p:spPr>
          <a:xfrm>
            <a:off x="3794760" y="4297680"/>
            <a:ext cx="1371600" cy="29260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86200" y="4366260"/>
            <a:ext cx="1188720" cy="292608"/>
          </a:xfrm>
          <a:prstGeom prst="rect">
            <a:avLst/>
          </a:prstGeom>
          <a:noFill/>
        </p:spPr>
        <p:txBody>
          <a:bodyPr wrap="square" lIns="0" rIns="0" tIns="0" bIns="0">
            <a:spAutoFit/>
          </a:bodyPr>
          <a:lstStyle/>
          <a:p>
            <a:pPr algn="l">
              <a:defRPr sz="850" b="1" i="0">
                <a:solidFill>
                  <a:srgbClr val="FFFFFF"/>
                </a:solidFill>
                <a:latin typeface="Calibri"/>
              </a:defRPr>
            </a:pPr>
            <a:r>
              <a:t>Rows</a:t>
            </a:r>
          </a:p>
        </p:txBody>
      </p:sp>
      <p:sp>
        <p:nvSpPr>
          <p:cNvPr id="39" name="Rectangle 38"/>
          <p:cNvSpPr/>
          <p:nvPr/>
        </p:nvSpPr>
        <p:spPr>
          <a:xfrm>
            <a:off x="5166360" y="4297680"/>
            <a:ext cx="1371600" cy="29260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57800" y="4366260"/>
            <a:ext cx="1188720" cy="292608"/>
          </a:xfrm>
          <a:prstGeom prst="rect">
            <a:avLst/>
          </a:prstGeom>
          <a:noFill/>
        </p:spPr>
        <p:txBody>
          <a:bodyPr wrap="square" lIns="0" rIns="0" tIns="0" bIns="0">
            <a:spAutoFit/>
          </a:bodyPr>
          <a:lstStyle/>
          <a:p>
            <a:pPr algn="l">
              <a:defRPr sz="850" b="1" i="0">
                <a:solidFill>
                  <a:srgbClr val="FFFFFF"/>
                </a:solidFill>
                <a:latin typeface="Calibri"/>
              </a:defRPr>
            </a:pPr>
            <a:r>
              <a:t>Funds</a:t>
            </a:r>
          </a:p>
        </p:txBody>
      </p:sp>
      <p:sp>
        <p:nvSpPr>
          <p:cNvPr id="41" name="Rectangle 40"/>
          <p:cNvSpPr/>
          <p:nvPr/>
        </p:nvSpPr>
        <p:spPr>
          <a:xfrm>
            <a:off x="6537960" y="4297680"/>
            <a:ext cx="2194560" cy="29260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4366260"/>
            <a:ext cx="2011679" cy="292608"/>
          </a:xfrm>
          <a:prstGeom prst="rect">
            <a:avLst/>
          </a:prstGeom>
          <a:noFill/>
        </p:spPr>
        <p:txBody>
          <a:bodyPr wrap="square" lIns="0" rIns="0" tIns="0" bIns="0">
            <a:spAutoFit/>
          </a:bodyPr>
          <a:lstStyle/>
          <a:p>
            <a:pPr algn="l">
              <a:defRPr sz="850" b="1" i="0">
                <a:solidFill>
                  <a:srgbClr val="FFFFFF"/>
                </a:solidFill>
                <a:latin typeface="Calibri"/>
              </a:defRPr>
            </a:pPr>
            <a:r>
              <a:t>Completeness</a:t>
            </a:r>
          </a:p>
        </p:txBody>
      </p:sp>
      <p:sp>
        <p:nvSpPr>
          <p:cNvPr id="43" name="Rectangle 42"/>
          <p:cNvSpPr/>
          <p:nvPr/>
        </p:nvSpPr>
        <p:spPr>
          <a:xfrm>
            <a:off x="8732520" y="4297680"/>
            <a:ext cx="2926080" cy="29260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23960" y="4366260"/>
            <a:ext cx="2743200" cy="292608"/>
          </a:xfrm>
          <a:prstGeom prst="rect">
            <a:avLst/>
          </a:prstGeom>
          <a:noFill/>
        </p:spPr>
        <p:txBody>
          <a:bodyPr wrap="square" lIns="0" rIns="0" tIns="0" bIns="0">
            <a:spAutoFit/>
          </a:bodyPr>
          <a:lstStyle/>
          <a:p>
            <a:pPr algn="l">
              <a:defRPr sz="850" b="1" i="0">
                <a:solidFill>
                  <a:srgbClr val="FFFFFF"/>
                </a:solidFill>
                <a:latin typeface="Calibri"/>
              </a:defRPr>
            </a:pPr>
            <a:r>
              <a:t>Worst field</a:t>
            </a:r>
          </a:p>
        </p:txBody>
      </p:sp>
      <p:sp>
        <p:nvSpPr>
          <p:cNvPr id="45" name="Rectangle 44"/>
          <p:cNvSpPr/>
          <p:nvPr/>
        </p:nvSpPr>
        <p:spPr>
          <a:xfrm>
            <a:off x="502920" y="4590288"/>
            <a:ext cx="329184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4654296"/>
            <a:ext cx="3108960" cy="292608"/>
          </a:xfrm>
          <a:prstGeom prst="rect">
            <a:avLst/>
          </a:prstGeom>
          <a:noFill/>
        </p:spPr>
        <p:txBody>
          <a:bodyPr wrap="square" lIns="0" rIns="0" tIns="0" bIns="0">
            <a:spAutoFit/>
          </a:bodyPr>
          <a:lstStyle/>
          <a:p>
            <a:pPr algn="l">
              <a:defRPr sz="950" b="1" i="0">
                <a:solidFill>
                  <a:srgbClr val="212121"/>
                </a:solidFill>
                <a:latin typeface="Calibri"/>
              </a:defRPr>
            </a:pPr>
            <a:r>
              <a:t>A5d1a01</a:t>
            </a:r>
          </a:p>
        </p:txBody>
      </p:sp>
      <p:sp>
        <p:nvSpPr>
          <p:cNvPr id="47" name="Rectangle 46"/>
          <p:cNvSpPr/>
          <p:nvPr/>
        </p:nvSpPr>
        <p:spPr>
          <a:xfrm>
            <a:off x="3794760" y="4590288"/>
            <a:ext cx="137160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86200" y="4654296"/>
            <a:ext cx="1188720" cy="292608"/>
          </a:xfrm>
          <a:prstGeom prst="rect">
            <a:avLst/>
          </a:prstGeom>
          <a:noFill/>
        </p:spPr>
        <p:txBody>
          <a:bodyPr wrap="square" lIns="0" rIns="0" tIns="0" bIns="0">
            <a:spAutoFit/>
          </a:bodyPr>
          <a:lstStyle/>
          <a:p>
            <a:pPr algn="l">
              <a:defRPr sz="950" b="0" i="0">
                <a:solidFill>
                  <a:srgbClr val="212121"/>
                </a:solidFill>
                <a:latin typeface="Calibri"/>
              </a:defRPr>
            </a:pPr>
            <a:r>
              <a:t>169</a:t>
            </a:r>
          </a:p>
        </p:txBody>
      </p:sp>
      <p:sp>
        <p:nvSpPr>
          <p:cNvPr id="49" name="Rectangle 48"/>
          <p:cNvSpPr/>
          <p:nvPr/>
        </p:nvSpPr>
        <p:spPr>
          <a:xfrm>
            <a:off x="5166360" y="4590288"/>
            <a:ext cx="137160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57800" y="4654296"/>
            <a:ext cx="1188720" cy="292608"/>
          </a:xfrm>
          <a:prstGeom prst="rect">
            <a:avLst/>
          </a:prstGeom>
          <a:noFill/>
        </p:spPr>
        <p:txBody>
          <a:bodyPr wrap="square" lIns="0" rIns="0" tIns="0" bIns="0">
            <a:spAutoFit/>
          </a:bodyPr>
          <a:lstStyle/>
          <a:p>
            <a:pPr algn="l">
              <a:defRPr sz="950" b="0" i="0">
                <a:solidFill>
                  <a:srgbClr val="212121"/>
                </a:solidFill>
                <a:latin typeface="Calibri"/>
              </a:defRPr>
            </a:pPr>
            <a:r>
              <a:t>2</a:t>
            </a:r>
          </a:p>
        </p:txBody>
      </p:sp>
      <p:sp>
        <p:nvSpPr>
          <p:cNvPr id="51" name="Rectangle 50"/>
          <p:cNvSpPr/>
          <p:nvPr/>
        </p:nvSpPr>
        <p:spPr>
          <a:xfrm>
            <a:off x="6537960" y="4590288"/>
            <a:ext cx="219456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29400" y="4654296"/>
            <a:ext cx="2011679" cy="292608"/>
          </a:xfrm>
          <a:prstGeom prst="rect">
            <a:avLst/>
          </a:prstGeom>
          <a:noFill/>
        </p:spPr>
        <p:txBody>
          <a:bodyPr wrap="square" lIns="0" rIns="0" tIns="0" bIns="0">
            <a:spAutoFit/>
          </a:bodyPr>
          <a:lstStyle/>
          <a:p>
            <a:pPr algn="l">
              <a:defRPr sz="950" b="0" i="0">
                <a:solidFill>
                  <a:srgbClr val="212121"/>
                </a:solidFill>
                <a:latin typeface="Calibri"/>
              </a:defRPr>
            </a:pPr>
            <a:r>
              <a:t>39.9%</a:t>
            </a:r>
          </a:p>
        </p:txBody>
      </p:sp>
      <p:sp>
        <p:nvSpPr>
          <p:cNvPr id="53" name="Rectangle 52"/>
          <p:cNvSpPr/>
          <p:nvPr/>
        </p:nvSpPr>
        <p:spPr>
          <a:xfrm>
            <a:off x="8732520" y="4590288"/>
            <a:ext cx="292608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23960" y="4654296"/>
            <a:ext cx="2743200" cy="292608"/>
          </a:xfrm>
          <a:prstGeom prst="rect">
            <a:avLst/>
          </a:prstGeom>
          <a:noFill/>
        </p:spPr>
        <p:txBody>
          <a:bodyPr wrap="square" lIns="0" rIns="0" tIns="0" bIns="0">
            <a:spAutoFit/>
          </a:bodyPr>
          <a:lstStyle/>
          <a:p>
            <a:pPr algn="l">
              <a:defRPr sz="950" b="0" i="0">
                <a:solidFill>
                  <a:srgbClr val="212121"/>
                </a:solidFill>
                <a:latin typeface="Calibri"/>
              </a:defRPr>
            </a:pPr>
            <a:r>
              <a:t>Deal Status 18.9%</a:t>
            </a:r>
          </a:p>
        </p:txBody>
      </p:sp>
      <p:sp>
        <p:nvSpPr>
          <p:cNvPr id="55" name="Rectangle 54"/>
          <p:cNvSpPr/>
          <p:nvPr/>
        </p:nvSpPr>
        <p:spPr>
          <a:xfrm>
            <a:off x="502920" y="4882896"/>
            <a:ext cx="32918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4946904"/>
            <a:ext cx="3108960" cy="292608"/>
          </a:xfrm>
          <a:prstGeom prst="rect">
            <a:avLst/>
          </a:prstGeom>
          <a:noFill/>
        </p:spPr>
        <p:txBody>
          <a:bodyPr wrap="square" lIns="0" rIns="0" tIns="0" bIns="0">
            <a:spAutoFit/>
          </a:bodyPr>
          <a:lstStyle/>
          <a:p>
            <a:pPr algn="l">
              <a:defRPr sz="950" b="1" i="0">
                <a:solidFill>
                  <a:srgbClr val="212121"/>
                </a:solidFill>
                <a:latin typeface="Calibri"/>
              </a:defRPr>
            </a:pPr>
            <a:r>
              <a:t>A99a662</a:t>
            </a:r>
          </a:p>
        </p:txBody>
      </p:sp>
      <p:sp>
        <p:nvSpPr>
          <p:cNvPr id="57" name="Rectangle 56"/>
          <p:cNvSpPr/>
          <p:nvPr/>
        </p:nvSpPr>
        <p:spPr>
          <a:xfrm>
            <a:off x="3794760" y="4882896"/>
            <a:ext cx="1371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86200" y="4946904"/>
            <a:ext cx="1188720" cy="292608"/>
          </a:xfrm>
          <a:prstGeom prst="rect">
            <a:avLst/>
          </a:prstGeom>
          <a:noFill/>
        </p:spPr>
        <p:txBody>
          <a:bodyPr wrap="square" lIns="0" rIns="0" tIns="0" bIns="0">
            <a:spAutoFit/>
          </a:bodyPr>
          <a:lstStyle/>
          <a:p>
            <a:pPr algn="l">
              <a:defRPr sz="950" b="0" i="0">
                <a:solidFill>
                  <a:srgbClr val="212121"/>
                </a:solidFill>
                <a:latin typeface="Calibri"/>
              </a:defRPr>
            </a:pPr>
            <a:r>
              <a:t>54</a:t>
            </a:r>
          </a:p>
        </p:txBody>
      </p:sp>
      <p:sp>
        <p:nvSpPr>
          <p:cNvPr id="59" name="Rectangle 58"/>
          <p:cNvSpPr/>
          <p:nvPr/>
        </p:nvSpPr>
        <p:spPr>
          <a:xfrm>
            <a:off x="5166360" y="4882896"/>
            <a:ext cx="1371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57800" y="4946904"/>
            <a:ext cx="1188720" cy="292608"/>
          </a:xfrm>
          <a:prstGeom prst="rect">
            <a:avLst/>
          </a:prstGeom>
          <a:noFill/>
        </p:spPr>
        <p:txBody>
          <a:bodyPr wrap="square" lIns="0" rIns="0" tIns="0" bIns="0">
            <a:spAutoFit/>
          </a:bodyPr>
          <a:lstStyle/>
          <a:p>
            <a:pPr algn="l">
              <a:defRPr sz="950" b="0" i="0">
                <a:solidFill>
                  <a:srgbClr val="212121"/>
                </a:solidFill>
                <a:latin typeface="Calibri"/>
              </a:defRPr>
            </a:pPr>
            <a:r>
              <a:t>3</a:t>
            </a:r>
          </a:p>
        </p:txBody>
      </p:sp>
      <p:sp>
        <p:nvSpPr>
          <p:cNvPr id="61" name="Rectangle 60"/>
          <p:cNvSpPr/>
          <p:nvPr/>
        </p:nvSpPr>
        <p:spPr>
          <a:xfrm>
            <a:off x="6537960" y="4882896"/>
            <a:ext cx="21945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29400" y="4946904"/>
            <a:ext cx="2011679" cy="292608"/>
          </a:xfrm>
          <a:prstGeom prst="rect">
            <a:avLst/>
          </a:prstGeom>
          <a:noFill/>
        </p:spPr>
        <p:txBody>
          <a:bodyPr wrap="square" lIns="0" rIns="0" tIns="0" bIns="0">
            <a:spAutoFit/>
          </a:bodyPr>
          <a:lstStyle/>
          <a:p>
            <a:pPr algn="l">
              <a:defRPr sz="950" b="0" i="0">
                <a:solidFill>
                  <a:srgbClr val="212121"/>
                </a:solidFill>
                <a:latin typeface="Calibri"/>
              </a:defRPr>
            </a:pPr>
            <a:r>
              <a:t>56.3%</a:t>
            </a:r>
          </a:p>
        </p:txBody>
      </p:sp>
      <p:sp>
        <p:nvSpPr>
          <p:cNvPr id="63" name="Rectangle 62"/>
          <p:cNvSpPr/>
          <p:nvPr/>
        </p:nvSpPr>
        <p:spPr>
          <a:xfrm>
            <a:off x="8732520" y="4882896"/>
            <a:ext cx="29260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23960" y="4946904"/>
            <a:ext cx="2743200" cy="292608"/>
          </a:xfrm>
          <a:prstGeom prst="rect">
            <a:avLst/>
          </a:prstGeom>
          <a:noFill/>
        </p:spPr>
        <p:txBody>
          <a:bodyPr wrap="square" lIns="0" rIns="0" tIns="0" bIns="0">
            <a:spAutoFit/>
          </a:bodyPr>
          <a:lstStyle/>
          <a:p>
            <a:pPr algn="l">
              <a:defRPr sz="950" b="0" i="0">
                <a:solidFill>
                  <a:srgbClr val="212121"/>
                </a:solidFill>
                <a:latin typeface="Calibri"/>
              </a:defRPr>
            </a:pPr>
            <a:r>
              <a:t>Current Cost 0%</a:t>
            </a:r>
          </a:p>
        </p:txBody>
      </p:sp>
      <p:sp>
        <p:nvSpPr>
          <p:cNvPr id="65" name="Rectangle 64"/>
          <p:cNvSpPr/>
          <p:nvPr/>
        </p:nvSpPr>
        <p:spPr>
          <a:xfrm>
            <a:off x="502920" y="5175504"/>
            <a:ext cx="329184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4360" y="5239512"/>
            <a:ext cx="3108960" cy="292608"/>
          </a:xfrm>
          <a:prstGeom prst="rect">
            <a:avLst/>
          </a:prstGeom>
          <a:noFill/>
        </p:spPr>
        <p:txBody>
          <a:bodyPr wrap="square" lIns="0" rIns="0" tIns="0" bIns="0">
            <a:spAutoFit/>
          </a:bodyPr>
          <a:lstStyle/>
          <a:p>
            <a:pPr algn="l">
              <a:defRPr sz="950" b="1" i="0">
                <a:solidFill>
                  <a:srgbClr val="212121"/>
                </a:solidFill>
                <a:latin typeface="Calibri"/>
              </a:defRPr>
            </a:pPr>
            <a:r>
              <a:t>Aed3782</a:t>
            </a:r>
          </a:p>
        </p:txBody>
      </p:sp>
      <p:sp>
        <p:nvSpPr>
          <p:cNvPr id="67" name="Rectangle 66"/>
          <p:cNvSpPr/>
          <p:nvPr/>
        </p:nvSpPr>
        <p:spPr>
          <a:xfrm>
            <a:off x="3794760" y="5175504"/>
            <a:ext cx="137160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86200" y="5239512"/>
            <a:ext cx="1188720" cy="292608"/>
          </a:xfrm>
          <a:prstGeom prst="rect">
            <a:avLst/>
          </a:prstGeom>
          <a:noFill/>
        </p:spPr>
        <p:txBody>
          <a:bodyPr wrap="square" lIns="0" rIns="0" tIns="0" bIns="0">
            <a:spAutoFit/>
          </a:bodyPr>
          <a:lstStyle/>
          <a:p>
            <a:pPr algn="l">
              <a:defRPr sz="950" b="0" i="0">
                <a:solidFill>
                  <a:srgbClr val="212121"/>
                </a:solidFill>
                <a:latin typeface="Calibri"/>
              </a:defRPr>
            </a:pPr>
            <a:r>
              <a:t>226</a:t>
            </a:r>
          </a:p>
        </p:txBody>
      </p:sp>
      <p:sp>
        <p:nvSpPr>
          <p:cNvPr id="69" name="Rectangle 68"/>
          <p:cNvSpPr/>
          <p:nvPr/>
        </p:nvSpPr>
        <p:spPr>
          <a:xfrm>
            <a:off x="5166360" y="5175504"/>
            <a:ext cx="137160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257800" y="5239512"/>
            <a:ext cx="1188720" cy="292608"/>
          </a:xfrm>
          <a:prstGeom prst="rect">
            <a:avLst/>
          </a:prstGeom>
          <a:noFill/>
        </p:spPr>
        <p:txBody>
          <a:bodyPr wrap="square" lIns="0" rIns="0" tIns="0" bIns="0">
            <a:spAutoFit/>
          </a:bodyPr>
          <a:lstStyle/>
          <a:p>
            <a:pPr algn="l">
              <a:defRPr sz="950" b="0" i="0">
                <a:solidFill>
                  <a:srgbClr val="212121"/>
                </a:solidFill>
                <a:latin typeface="Calibri"/>
              </a:defRPr>
            </a:pPr>
            <a:r>
              <a:t>1</a:t>
            </a:r>
          </a:p>
        </p:txBody>
      </p:sp>
      <p:sp>
        <p:nvSpPr>
          <p:cNvPr id="71" name="Rectangle 70"/>
          <p:cNvSpPr/>
          <p:nvPr/>
        </p:nvSpPr>
        <p:spPr>
          <a:xfrm>
            <a:off x="6537960" y="5175504"/>
            <a:ext cx="219456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29400" y="5239512"/>
            <a:ext cx="2011679" cy="292608"/>
          </a:xfrm>
          <a:prstGeom prst="rect">
            <a:avLst/>
          </a:prstGeom>
          <a:noFill/>
        </p:spPr>
        <p:txBody>
          <a:bodyPr wrap="square" lIns="0" rIns="0" tIns="0" bIns="0">
            <a:spAutoFit/>
          </a:bodyPr>
          <a:lstStyle/>
          <a:p>
            <a:pPr algn="l">
              <a:defRPr sz="950" b="0" i="0">
                <a:solidFill>
                  <a:srgbClr val="212121"/>
                </a:solidFill>
                <a:latin typeface="Calibri"/>
              </a:defRPr>
            </a:pPr>
            <a:r>
              <a:t>57.1%</a:t>
            </a:r>
          </a:p>
        </p:txBody>
      </p:sp>
      <p:sp>
        <p:nvSpPr>
          <p:cNvPr id="73" name="Rectangle 72"/>
          <p:cNvSpPr/>
          <p:nvPr/>
        </p:nvSpPr>
        <p:spPr>
          <a:xfrm>
            <a:off x="8732520" y="5175504"/>
            <a:ext cx="2926080" cy="29260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23960" y="5239512"/>
            <a:ext cx="2743200" cy="292608"/>
          </a:xfrm>
          <a:prstGeom prst="rect">
            <a:avLst/>
          </a:prstGeom>
          <a:noFill/>
        </p:spPr>
        <p:txBody>
          <a:bodyPr wrap="square" lIns="0" rIns="0" tIns="0" bIns="0">
            <a:spAutoFit/>
          </a:bodyPr>
          <a:lstStyle/>
          <a:p>
            <a:pPr algn="l">
              <a:defRPr sz="950" b="0" i="0">
                <a:solidFill>
                  <a:srgbClr val="212121"/>
                </a:solidFill>
                <a:latin typeface="Calibri"/>
              </a:defRPr>
            </a:pPr>
            <a:r>
              <a:t>Current Cost 0%</a:t>
            </a:r>
          </a:p>
        </p:txBody>
      </p:sp>
      <p:sp>
        <p:nvSpPr>
          <p:cNvPr id="75" name="Rectangle 74"/>
          <p:cNvSpPr/>
          <p:nvPr/>
        </p:nvSpPr>
        <p:spPr>
          <a:xfrm>
            <a:off x="502920" y="5468112"/>
            <a:ext cx="32918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94360" y="5532120"/>
            <a:ext cx="3108960" cy="292608"/>
          </a:xfrm>
          <a:prstGeom prst="rect">
            <a:avLst/>
          </a:prstGeom>
          <a:noFill/>
        </p:spPr>
        <p:txBody>
          <a:bodyPr wrap="square" lIns="0" rIns="0" tIns="0" bIns="0">
            <a:spAutoFit/>
          </a:bodyPr>
          <a:lstStyle/>
          <a:p>
            <a:pPr algn="l">
              <a:defRPr sz="950" b="1" i="0">
                <a:solidFill>
                  <a:srgbClr val="212121"/>
                </a:solidFill>
                <a:latin typeface="Calibri"/>
              </a:defRPr>
            </a:pPr>
            <a:r>
              <a:t>A9fbabf</a:t>
            </a:r>
          </a:p>
        </p:txBody>
      </p:sp>
      <p:sp>
        <p:nvSpPr>
          <p:cNvPr id="77" name="Rectangle 76"/>
          <p:cNvSpPr/>
          <p:nvPr/>
        </p:nvSpPr>
        <p:spPr>
          <a:xfrm>
            <a:off x="3794760" y="5468112"/>
            <a:ext cx="1371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886200" y="5532120"/>
            <a:ext cx="1188720" cy="292608"/>
          </a:xfrm>
          <a:prstGeom prst="rect">
            <a:avLst/>
          </a:prstGeom>
          <a:noFill/>
        </p:spPr>
        <p:txBody>
          <a:bodyPr wrap="square" lIns="0" rIns="0" tIns="0" bIns="0">
            <a:spAutoFit/>
          </a:bodyPr>
          <a:lstStyle/>
          <a:p>
            <a:pPr algn="l">
              <a:defRPr sz="950" b="0" i="0">
                <a:solidFill>
                  <a:srgbClr val="212121"/>
                </a:solidFill>
                <a:latin typeface="Calibri"/>
              </a:defRPr>
            </a:pPr>
            <a:r>
              <a:t>173</a:t>
            </a:r>
          </a:p>
        </p:txBody>
      </p:sp>
      <p:sp>
        <p:nvSpPr>
          <p:cNvPr id="79" name="Rectangle 78"/>
          <p:cNvSpPr/>
          <p:nvPr/>
        </p:nvSpPr>
        <p:spPr>
          <a:xfrm>
            <a:off x="5166360" y="5468112"/>
            <a:ext cx="13716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257800" y="5532120"/>
            <a:ext cx="1188720" cy="292608"/>
          </a:xfrm>
          <a:prstGeom prst="rect">
            <a:avLst/>
          </a:prstGeom>
          <a:noFill/>
        </p:spPr>
        <p:txBody>
          <a:bodyPr wrap="square" lIns="0" rIns="0" tIns="0" bIns="0">
            <a:spAutoFit/>
          </a:bodyPr>
          <a:lstStyle/>
          <a:p>
            <a:pPr algn="l">
              <a:defRPr sz="950" b="0" i="0">
                <a:solidFill>
                  <a:srgbClr val="212121"/>
                </a:solidFill>
                <a:latin typeface="Calibri"/>
              </a:defRPr>
            </a:pPr>
            <a:r>
              <a:t>3</a:t>
            </a:r>
          </a:p>
        </p:txBody>
      </p:sp>
      <p:sp>
        <p:nvSpPr>
          <p:cNvPr id="81" name="Rectangle 80"/>
          <p:cNvSpPr/>
          <p:nvPr/>
        </p:nvSpPr>
        <p:spPr>
          <a:xfrm>
            <a:off x="6537960" y="5468112"/>
            <a:ext cx="219456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29400" y="5532120"/>
            <a:ext cx="2011679" cy="292608"/>
          </a:xfrm>
          <a:prstGeom prst="rect">
            <a:avLst/>
          </a:prstGeom>
          <a:noFill/>
        </p:spPr>
        <p:txBody>
          <a:bodyPr wrap="square" lIns="0" rIns="0" tIns="0" bIns="0">
            <a:spAutoFit/>
          </a:bodyPr>
          <a:lstStyle/>
          <a:p>
            <a:pPr algn="l">
              <a:defRPr sz="950" b="0" i="0">
                <a:solidFill>
                  <a:srgbClr val="212121"/>
                </a:solidFill>
                <a:latin typeface="Calibri"/>
              </a:defRPr>
            </a:pPr>
            <a:r>
              <a:t>62.3%</a:t>
            </a:r>
          </a:p>
        </p:txBody>
      </p:sp>
      <p:sp>
        <p:nvSpPr>
          <p:cNvPr id="83" name="Rectangle 82"/>
          <p:cNvSpPr/>
          <p:nvPr/>
        </p:nvSpPr>
        <p:spPr>
          <a:xfrm>
            <a:off x="8732520" y="5468112"/>
            <a:ext cx="292608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23960" y="5532120"/>
            <a:ext cx="2743200" cy="292608"/>
          </a:xfrm>
          <a:prstGeom prst="rect">
            <a:avLst/>
          </a:prstGeom>
          <a:noFill/>
        </p:spPr>
        <p:txBody>
          <a:bodyPr wrap="square" lIns="0" rIns="0" tIns="0" bIns="0">
            <a:spAutoFit/>
          </a:bodyPr>
          <a:lstStyle/>
          <a:p>
            <a:pPr algn="l">
              <a:defRPr sz="950" b="0" i="0">
                <a:solidFill>
                  <a:srgbClr val="212121"/>
                </a:solidFill>
                <a:latin typeface="Calibri"/>
              </a:defRPr>
            </a:pPr>
            <a:r>
              <a:t>Capital Invested 0%</a:t>
            </a:r>
          </a:p>
        </p:txBody>
      </p:sp>
      <p:sp>
        <p:nvSpPr>
          <p:cNvPr id="85" name="Rectangle 84"/>
          <p:cNvSpPr/>
          <p:nvPr/>
        </p:nvSpPr>
        <p:spPr>
          <a:xfrm>
            <a:off x="502920" y="5715000"/>
            <a:ext cx="11185855" cy="566928"/>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02920" y="5715000"/>
            <a:ext cx="50292"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13232" y="5833872"/>
            <a:ext cx="10774375" cy="384048"/>
          </a:xfrm>
          <a:prstGeom prst="rect">
            <a:avLst/>
          </a:prstGeom>
          <a:noFill/>
        </p:spPr>
        <p:txBody>
          <a:bodyPr wrap="square" lIns="0" rIns="0" tIns="0" bIns="0">
            <a:spAutoFit/>
          </a:bodyPr>
          <a:lstStyle/>
          <a:p>
            <a:pPr algn="l">
              <a:defRPr sz="1050" b="0" i="0">
                <a:solidFill>
                  <a:srgbClr val="212121"/>
                </a:solidFill>
                <a:latin typeface="Calibri"/>
              </a:defRPr>
            </a:pPr>
            <a:r>
              <a:t>Median far above mean confirms a small tail dragging the average. Seven of the bottom ten share the same worst field: Capital Invested.</a:t>
            </a:r>
          </a:p>
        </p:txBody>
      </p:sp>
      <p:sp>
        <p:nvSpPr>
          <p:cNvPr id="88" name="Rectangle 87"/>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14 managers with fewer than 20 rows excluded as low-evidence</a:t>
            </a:r>
          </a:p>
        </p:txBody>
      </p:sp>
      <p:sp>
        <p:nvSpPr>
          <p:cNvPr id="90" name="TextBox 89"/>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5 — MANAGER X FIELD</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Which field does each weak manager omit?</a:t>
            </a:r>
          </a:p>
        </p:txBody>
      </p:sp>
      <p:pic>
        <p:nvPicPr>
          <p:cNvPr id="7" name="Picture 6" descr="manager_field_heatmap.png"/>
          <p:cNvPicPr>
            <a:picLocks noChangeAspect="1"/>
          </p:cNvPicPr>
          <p:nvPr/>
        </p:nvPicPr>
        <p:blipFill>
          <a:blip r:embed="rId2"/>
          <a:stretch>
            <a:fillRect/>
          </a:stretch>
        </p:blipFill>
        <p:spPr>
          <a:xfrm>
            <a:off x="3982726" y="1170432"/>
            <a:ext cx="4226242" cy="3977640"/>
          </a:xfrm>
          <a:prstGeom prst="rect">
            <a:avLst/>
          </a:prstGeom>
        </p:spPr>
      </p:pic>
      <p:sp>
        <p:nvSpPr>
          <p:cNvPr id="8" name="Rectangle 7"/>
          <p:cNvSpPr/>
          <p:nvPr/>
        </p:nvSpPr>
        <p:spPr>
          <a:xfrm>
            <a:off x="502920" y="5276088"/>
            <a:ext cx="11185855" cy="96012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276088"/>
            <a:ext cx="50292"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394960"/>
            <a:ext cx="10774375" cy="777240"/>
          </a:xfrm>
          <a:prstGeom prst="rect">
            <a:avLst/>
          </a:prstGeom>
          <a:noFill/>
        </p:spPr>
        <p:txBody>
          <a:bodyPr wrap="square" lIns="0" rIns="0" tIns="0" bIns="0">
            <a:spAutoFit/>
          </a:bodyPr>
          <a:lstStyle/>
          <a:p>
            <a:pPr algn="l">
              <a:defRPr sz="1050" b="0" i="0">
                <a:solidFill>
                  <a:srgbClr val="212121"/>
                </a:solidFill>
                <a:latin typeface="Calibri"/>
              </a:defRPr>
            </a:pPr>
            <a:r>
              <a:t>The gaps are vertical, not diffuse. Sector and Geographic Focus stay green across every weak manager; Capital Invested is red almost everywhere. A manager at 60% overall is not sloppy across the board — they are missing one or two specific fields, which makes the follow-up request a single sentence rather than a data-quality lecture.</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20 least complete managers  ·  red = low fill</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5 — WITHIN-MANAGER VARIANCE</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The most actionable cut in the analysis</a:t>
            </a:r>
          </a:p>
        </p:txBody>
      </p:sp>
      <p:pic>
        <p:nvPicPr>
          <p:cNvPr id="7" name="Picture 6" descr="manager_spread.png"/>
          <p:cNvPicPr>
            <a:picLocks noChangeAspect="1"/>
          </p:cNvPicPr>
          <p:nvPr/>
        </p:nvPicPr>
        <p:blipFill>
          <a:blip r:embed="rId2"/>
          <a:stretch>
            <a:fillRect/>
          </a:stretch>
        </p:blipFill>
        <p:spPr>
          <a:xfrm>
            <a:off x="1850717" y="1170432"/>
            <a:ext cx="8490260" cy="3977640"/>
          </a:xfrm>
          <a:prstGeom prst="rect">
            <a:avLst/>
          </a:prstGeom>
        </p:spPr>
      </p:pic>
      <p:sp>
        <p:nvSpPr>
          <p:cNvPr id="8" name="Rectangle 7"/>
          <p:cNvSpPr/>
          <p:nvPr/>
        </p:nvSpPr>
        <p:spPr>
          <a:xfrm>
            <a:off x="502920" y="5276088"/>
            <a:ext cx="11185855" cy="96012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276088"/>
            <a:ext cx="50292"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394960"/>
            <a:ext cx="10774375" cy="777240"/>
          </a:xfrm>
          <a:prstGeom prst="rect">
            <a:avLst/>
          </a:prstGeom>
          <a:noFill/>
        </p:spPr>
        <p:txBody>
          <a:bodyPr wrap="square" lIns="0" rIns="0" tIns="0" bIns="0">
            <a:spAutoFit/>
          </a:bodyPr>
          <a:lstStyle/>
          <a:p>
            <a:pPr algn="l">
              <a:defRPr sz="1050" b="0" i="0">
                <a:solidFill>
                  <a:srgbClr val="212121"/>
                </a:solidFill>
                <a:latin typeface="Calibri"/>
              </a:defRPr>
            </a:pPr>
            <a:r>
              <a:t>Every manager shown has at least one fund at 100% and another below 72%. Same GP, same reporting quarter, opposite results. The capability plainly exists, so these are fund-level breakdowns to raise about a named vehicle — not manager-level policy conversations. Managers with near-zero spread are the opposite case and need the policy conversation instead.</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Managers with more than one fund  ·  ranked by spread</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3 — CROSS-CUT</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Quality by investment type</a:t>
            </a:r>
          </a:p>
        </p:txBody>
      </p:sp>
      <p:pic>
        <p:nvPicPr>
          <p:cNvPr id="7" name="Picture 6" descr="investment_type.png"/>
          <p:cNvPicPr>
            <a:picLocks noChangeAspect="1"/>
          </p:cNvPicPr>
          <p:nvPr/>
        </p:nvPicPr>
        <p:blipFill>
          <a:blip r:embed="rId2"/>
          <a:stretch>
            <a:fillRect/>
          </a:stretch>
        </p:blipFill>
        <p:spPr>
          <a:xfrm>
            <a:off x="2013213" y="1170432"/>
            <a:ext cx="8165267" cy="4187952"/>
          </a:xfrm>
          <a:prstGeom prst="rect">
            <a:avLst/>
          </a:prstGeom>
        </p:spPr>
      </p:pic>
      <p:sp>
        <p:nvSpPr>
          <p:cNvPr id="8" name="Rectangle 7"/>
          <p:cNvSpPr/>
          <p:nvPr/>
        </p:nvSpPr>
        <p:spPr>
          <a:xfrm>
            <a:off x="502920" y="5486400"/>
            <a:ext cx="11185855" cy="749808"/>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486400"/>
            <a:ext cx="50292" cy="7498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605272"/>
            <a:ext cx="10774375" cy="566927"/>
          </a:xfrm>
          <a:prstGeom prst="rect">
            <a:avLst/>
          </a:prstGeom>
          <a:noFill/>
        </p:spPr>
        <p:txBody>
          <a:bodyPr wrap="square" lIns="0" rIns="0" tIns="0" bIns="0">
            <a:spAutoFit/>
          </a:bodyPr>
          <a:lstStyle/>
          <a:p>
            <a:pPr algn="l">
              <a:defRPr sz="1050" b="0" i="0">
                <a:solidFill>
                  <a:srgbClr val="212121"/>
                </a:solidFill>
                <a:latin typeface="Calibri"/>
              </a:defRPr>
            </a:pPr>
            <a:r>
              <a:t>Equity-style holdings clear the bar comfortably. Real Estate at 83.4% and Natural Resources at 57.1% sit below it — and both are being measured against a mandatory field set built for equity.</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n shown per type  ·  gold line = 85%</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FINDING 3</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Real assets fail an equity-shaped test</a:t>
            </a:r>
          </a:p>
        </p:txBody>
      </p:sp>
      <p:sp>
        <p:nvSpPr>
          <p:cNvPr id="7" name="Rectangle 6"/>
          <p:cNvSpPr/>
          <p:nvPr/>
        </p:nvSpPr>
        <p:spPr>
          <a:xfrm>
            <a:off x="502920" y="1234440"/>
            <a:ext cx="2377440" cy="38404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3020"/>
            <a:ext cx="2194560" cy="384048"/>
          </a:xfrm>
          <a:prstGeom prst="rect">
            <a:avLst/>
          </a:prstGeom>
          <a:noFill/>
        </p:spPr>
        <p:txBody>
          <a:bodyPr wrap="square" lIns="0" rIns="0" tIns="0" bIns="0">
            <a:spAutoFit/>
          </a:bodyPr>
          <a:lstStyle/>
          <a:p>
            <a:pPr algn="l">
              <a:defRPr sz="850" b="1" i="0">
                <a:solidFill>
                  <a:srgbClr val="FFFFFF"/>
                </a:solidFill>
                <a:latin typeface="Calibri"/>
              </a:defRPr>
            </a:pPr>
            <a:r>
              <a:t>Mandatory field</a:t>
            </a:r>
          </a:p>
        </p:txBody>
      </p:sp>
      <p:sp>
        <p:nvSpPr>
          <p:cNvPr id="9" name="Rectangle 8"/>
          <p:cNvSpPr/>
          <p:nvPr/>
        </p:nvSpPr>
        <p:spPr>
          <a:xfrm>
            <a:off x="2880360" y="1234440"/>
            <a:ext cx="3566160" cy="38404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1303020"/>
            <a:ext cx="3383279" cy="384048"/>
          </a:xfrm>
          <a:prstGeom prst="rect">
            <a:avLst/>
          </a:prstGeom>
          <a:noFill/>
        </p:spPr>
        <p:txBody>
          <a:bodyPr wrap="square" lIns="0" rIns="0" tIns="0" bIns="0">
            <a:spAutoFit/>
          </a:bodyPr>
          <a:lstStyle/>
          <a:p>
            <a:pPr algn="l">
              <a:defRPr sz="850" b="1" i="0">
                <a:solidFill>
                  <a:srgbClr val="FFFFFF"/>
                </a:solidFill>
                <a:latin typeface="Calibri"/>
              </a:defRPr>
            </a:pPr>
            <a:r>
              <a:t>Equity meaning</a:t>
            </a:r>
          </a:p>
        </p:txBody>
      </p:sp>
      <p:sp>
        <p:nvSpPr>
          <p:cNvPr id="11" name="Rectangle 10"/>
          <p:cNvSpPr/>
          <p:nvPr/>
        </p:nvSpPr>
        <p:spPr>
          <a:xfrm>
            <a:off x="6446520" y="1234440"/>
            <a:ext cx="5212080" cy="384048"/>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303020"/>
            <a:ext cx="5029200" cy="384048"/>
          </a:xfrm>
          <a:prstGeom prst="rect">
            <a:avLst/>
          </a:prstGeom>
          <a:noFill/>
        </p:spPr>
        <p:txBody>
          <a:bodyPr wrap="square" lIns="0" rIns="0" tIns="0" bIns="0">
            <a:spAutoFit/>
          </a:bodyPr>
          <a:lstStyle/>
          <a:p>
            <a:pPr algn="l">
              <a:defRPr sz="850" b="1" i="0">
                <a:solidFill>
                  <a:srgbClr val="FFFFFF"/>
                </a:solidFill>
                <a:latin typeface="Calibri"/>
              </a:defRPr>
            </a:pPr>
            <a:r>
              <a:t>Real-asset reality</a:t>
            </a:r>
          </a:p>
        </p:txBody>
      </p:sp>
      <p:sp>
        <p:nvSpPr>
          <p:cNvPr id="13" name="Rectangle 12"/>
          <p:cNvSpPr/>
          <p:nvPr/>
        </p:nvSpPr>
        <p:spPr>
          <a:xfrm>
            <a:off x="502920" y="1618488"/>
            <a:ext cx="237744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682496"/>
            <a:ext cx="2194560" cy="384048"/>
          </a:xfrm>
          <a:prstGeom prst="rect">
            <a:avLst/>
          </a:prstGeom>
          <a:noFill/>
        </p:spPr>
        <p:txBody>
          <a:bodyPr wrap="square" lIns="0" rIns="0" tIns="0" bIns="0">
            <a:spAutoFit/>
          </a:bodyPr>
          <a:lstStyle/>
          <a:p>
            <a:pPr algn="l">
              <a:defRPr sz="950" b="1" i="0">
                <a:solidFill>
                  <a:srgbClr val="212121"/>
                </a:solidFill>
                <a:latin typeface="Calibri"/>
              </a:defRPr>
            </a:pPr>
            <a:r>
              <a:t>Deal Status</a:t>
            </a:r>
          </a:p>
        </p:txBody>
      </p:sp>
      <p:sp>
        <p:nvSpPr>
          <p:cNvPr id="15" name="Rectangle 14"/>
          <p:cNvSpPr/>
          <p:nvPr/>
        </p:nvSpPr>
        <p:spPr>
          <a:xfrm>
            <a:off x="2880360" y="1618488"/>
            <a:ext cx="35661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1682496"/>
            <a:ext cx="3383279" cy="384048"/>
          </a:xfrm>
          <a:prstGeom prst="rect">
            <a:avLst/>
          </a:prstGeom>
          <a:noFill/>
        </p:spPr>
        <p:txBody>
          <a:bodyPr wrap="square" lIns="0" rIns="0" tIns="0" bIns="0">
            <a:spAutoFit/>
          </a:bodyPr>
          <a:lstStyle/>
          <a:p>
            <a:pPr algn="l">
              <a:defRPr sz="950" b="0" i="0">
                <a:solidFill>
                  <a:srgbClr val="212121"/>
                </a:solidFill>
                <a:latin typeface="Calibri"/>
              </a:defRPr>
            </a:pPr>
            <a:r>
              <a:t>Current / Exited / Written off</a:t>
            </a:r>
          </a:p>
        </p:txBody>
      </p:sp>
      <p:sp>
        <p:nvSpPr>
          <p:cNvPr id="17" name="Rectangle 16"/>
          <p:cNvSpPr/>
          <p:nvPr/>
        </p:nvSpPr>
        <p:spPr>
          <a:xfrm>
            <a:off x="6446520" y="1618488"/>
            <a:ext cx="521208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682496"/>
            <a:ext cx="5029200" cy="384048"/>
          </a:xfrm>
          <a:prstGeom prst="rect">
            <a:avLst/>
          </a:prstGeom>
          <a:noFill/>
        </p:spPr>
        <p:txBody>
          <a:bodyPr wrap="square" lIns="0" rIns="0" tIns="0" bIns="0">
            <a:spAutoFit/>
          </a:bodyPr>
          <a:lstStyle/>
          <a:p>
            <a:pPr algn="l">
              <a:defRPr sz="950" b="0" i="0">
                <a:solidFill>
                  <a:srgbClr val="212121"/>
                </a:solidFill>
                <a:latin typeface="Calibri"/>
              </a:defRPr>
            </a:pPr>
            <a:r>
              <a:t>A property is held, leased or listed for sale — no exit event</a:t>
            </a:r>
          </a:p>
        </p:txBody>
      </p:sp>
      <p:sp>
        <p:nvSpPr>
          <p:cNvPr id="19" name="Rectangle 18"/>
          <p:cNvSpPr/>
          <p:nvPr/>
        </p:nvSpPr>
        <p:spPr>
          <a:xfrm>
            <a:off x="502920" y="2002536"/>
            <a:ext cx="2377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066543"/>
            <a:ext cx="2194560" cy="384048"/>
          </a:xfrm>
          <a:prstGeom prst="rect">
            <a:avLst/>
          </a:prstGeom>
          <a:noFill/>
        </p:spPr>
        <p:txBody>
          <a:bodyPr wrap="square" lIns="0" rIns="0" tIns="0" bIns="0">
            <a:spAutoFit/>
          </a:bodyPr>
          <a:lstStyle/>
          <a:p>
            <a:pPr algn="l">
              <a:defRPr sz="950" b="1" i="0">
                <a:solidFill>
                  <a:srgbClr val="212121"/>
                </a:solidFill>
                <a:latin typeface="Calibri"/>
              </a:defRPr>
            </a:pPr>
            <a:r>
              <a:t>Current Cost</a:t>
            </a:r>
          </a:p>
        </p:txBody>
      </p:sp>
      <p:sp>
        <p:nvSpPr>
          <p:cNvPr id="21" name="Rectangle 20"/>
          <p:cNvSpPr/>
          <p:nvPr/>
        </p:nvSpPr>
        <p:spPr>
          <a:xfrm>
            <a:off x="2880360" y="2002536"/>
            <a:ext cx="35661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2066543"/>
            <a:ext cx="3383279" cy="384048"/>
          </a:xfrm>
          <a:prstGeom prst="rect">
            <a:avLst/>
          </a:prstGeom>
          <a:noFill/>
        </p:spPr>
        <p:txBody>
          <a:bodyPr wrap="square" lIns="0" rIns="0" tIns="0" bIns="0">
            <a:spAutoFit/>
          </a:bodyPr>
          <a:lstStyle/>
          <a:p>
            <a:pPr algn="l">
              <a:defRPr sz="950" b="0" i="0">
                <a:solidFill>
                  <a:srgbClr val="212121"/>
                </a:solidFill>
                <a:latin typeface="Calibri"/>
              </a:defRPr>
            </a:pPr>
            <a:r>
              <a:t>Entry cost of the position</a:t>
            </a:r>
          </a:p>
        </p:txBody>
      </p:sp>
      <p:sp>
        <p:nvSpPr>
          <p:cNvPr id="23" name="Rectangle 22"/>
          <p:cNvSpPr/>
          <p:nvPr/>
        </p:nvSpPr>
        <p:spPr>
          <a:xfrm>
            <a:off x="6446520" y="2002536"/>
            <a:ext cx="5212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066543"/>
            <a:ext cx="5029200" cy="384048"/>
          </a:xfrm>
          <a:prstGeom prst="rect">
            <a:avLst/>
          </a:prstGeom>
          <a:noFill/>
        </p:spPr>
        <p:txBody>
          <a:bodyPr wrap="square" lIns="0" rIns="0" tIns="0" bIns="0">
            <a:spAutoFit/>
          </a:bodyPr>
          <a:lstStyle/>
          <a:p>
            <a:pPr algn="l">
              <a:defRPr sz="950" b="0" i="0">
                <a:solidFill>
                  <a:srgbClr val="212121"/>
                </a:solidFill>
                <a:latin typeface="Calibri"/>
              </a:defRPr>
            </a:pPr>
            <a:r>
              <a:t>Book value plus capitalised improvements</a:t>
            </a:r>
          </a:p>
        </p:txBody>
      </p:sp>
      <p:sp>
        <p:nvSpPr>
          <p:cNvPr id="25" name="Rectangle 24"/>
          <p:cNvSpPr/>
          <p:nvPr/>
        </p:nvSpPr>
        <p:spPr>
          <a:xfrm>
            <a:off x="502920" y="2386584"/>
            <a:ext cx="237744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450591"/>
            <a:ext cx="2194560" cy="384048"/>
          </a:xfrm>
          <a:prstGeom prst="rect">
            <a:avLst/>
          </a:prstGeom>
          <a:noFill/>
        </p:spPr>
        <p:txBody>
          <a:bodyPr wrap="square" lIns="0" rIns="0" tIns="0" bIns="0">
            <a:spAutoFit/>
          </a:bodyPr>
          <a:lstStyle/>
          <a:p>
            <a:pPr algn="l">
              <a:defRPr sz="950" b="1" i="0">
                <a:solidFill>
                  <a:srgbClr val="212121"/>
                </a:solidFill>
                <a:latin typeface="Calibri"/>
              </a:defRPr>
            </a:pPr>
            <a:r>
              <a:t>Unrealized Value</a:t>
            </a:r>
          </a:p>
        </p:txBody>
      </p:sp>
      <p:sp>
        <p:nvSpPr>
          <p:cNvPr id="27" name="Rectangle 26"/>
          <p:cNvSpPr/>
          <p:nvPr/>
        </p:nvSpPr>
        <p:spPr>
          <a:xfrm>
            <a:off x="2880360" y="2386584"/>
            <a:ext cx="35661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71800" y="2450591"/>
            <a:ext cx="3383279" cy="384048"/>
          </a:xfrm>
          <a:prstGeom prst="rect">
            <a:avLst/>
          </a:prstGeom>
          <a:noFill/>
        </p:spPr>
        <p:txBody>
          <a:bodyPr wrap="square" lIns="0" rIns="0" tIns="0" bIns="0">
            <a:spAutoFit/>
          </a:bodyPr>
          <a:lstStyle/>
          <a:p>
            <a:pPr algn="l">
              <a:defRPr sz="950" b="0" i="0">
                <a:solidFill>
                  <a:srgbClr val="212121"/>
                </a:solidFill>
                <a:latin typeface="Calibri"/>
              </a:defRPr>
            </a:pPr>
            <a:r>
              <a:t>Mark versus cost</a:t>
            </a:r>
          </a:p>
        </p:txBody>
      </p:sp>
      <p:sp>
        <p:nvSpPr>
          <p:cNvPr id="29" name="Rectangle 28"/>
          <p:cNvSpPr/>
          <p:nvPr/>
        </p:nvSpPr>
        <p:spPr>
          <a:xfrm>
            <a:off x="6446520" y="2386584"/>
            <a:ext cx="521208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2450591"/>
            <a:ext cx="5029200" cy="384048"/>
          </a:xfrm>
          <a:prstGeom prst="rect">
            <a:avLst/>
          </a:prstGeom>
          <a:noFill/>
        </p:spPr>
        <p:txBody>
          <a:bodyPr wrap="square" lIns="0" rIns="0" tIns="0" bIns="0">
            <a:spAutoFit/>
          </a:bodyPr>
          <a:lstStyle/>
          <a:p>
            <a:pPr algn="l">
              <a:defRPr sz="950" b="0" i="0">
                <a:solidFill>
                  <a:srgbClr val="212121"/>
                </a:solidFill>
                <a:latin typeface="Calibri"/>
              </a:defRPr>
            </a:pPr>
            <a:r>
              <a:t>Third-party appraisal on its own cycle</a:t>
            </a:r>
          </a:p>
        </p:txBody>
      </p:sp>
      <p:sp>
        <p:nvSpPr>
          <p:cNvPr id="31" name="Rectangle 30"/>
          <p:cNvSpPr/>
          <p:nvPr/>
        </p:nvSpPr>
        <p:spPr>
          <a:xfrm>
            <a:off x="502920" y="2770632"/>
            <a:ext cx="23774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2834640"/>
            <a:ext cx="2194560" cy="384048"/>
          </a:xfrm>
          <a:prstGeom prst="rect">
            <a:avLst/>
          </a:prstGeom>
          <a:noFill/>
        </p:spPr>
        <p:txBody>
          <a:bodyPr wrap="square" lIns="0" rIns="0" tIns="0" bIns="0">
            <a:spAutoFit/>
          </a:bodyPr>
          <a:lstStyle/>
          <a:p>
            <a:pPr algn="l">
              <a:defRPr sz="950" b="1" i="0">
                <a:solidFill>
                  <a:srgbClr val="212121"/>
                </a:solidFill>
                <a:latin typeface="Calibri"/>
              </a:defRPr>
            </a:pPr>
            <a:r>
              <a:t>Capital Invested</a:t>
            </a:r>
          </a:p>
        </p:txBody>
      </p:sp>
      <p:sp>
        <p:nvSpPr>
          <p:cNvPr id="33" name="Rectangle 32"/>
          <p:cNvSpPr/>
          <p:nvPr/>
        </p:nvSpPr>
        <p:spPr>
          <a:xfrm>
            <a:off x="2880360" y="2770632"/>
            <a:ext cx="356616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71800" y="2834640"/>
            <a:ext cx="3383279" cy="384048"/>
          </a:xfrm>
          <a:prstGeom prst="rect">
            <a:avLst/>
          </a:prstGeom>
          <a:noFill/>
        </p:spPr>
        <p:txBody>
          <a:bodyPr wrap="square" lIns="0" rIns="0" tIns="0" bIns="0">
            <a:spAutoFit/>
          </a:bodyPr>
          <a:lstStyle/>
          <a:p>
            <a:pPr algn="l">
              <a:defRPr sz="950" b="0" i="0">
                <a:solidFill>
                  <a:srgbClr val="212121"/>
                </a:solidFill>
                <a:latin typeface="Calibri"/>
              </a:defRPr>
            </a:pPr>
            <a:r>
              <a:t>Staged rounds</a:t>
            </a:r>
          </a:p>
        </p:txBody>
      </p:sp>
      <p:sp>
        <p:nvSpPr>
          <p:cNvPr id="35" name="Rectangle 34"/>
          <p:cNvSpPr/>
          <p:nvPr/>
        </p:nvSpPr>
        <p:spPr>
          <a:xfrm>
            <a:off x="6446520" y="2770632"/>
            <a:ext cx="5212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7960" y="2834640"/>
            <a:ext cx="5029200" cy="384048"/>
          </a:xfrm>
          <a:prstGeom prst="rect">
            <a:avLst/>
          </a:prstGeom>
          <a:noFill/>
        </p:spPr>
        <p:txBody>
          <a:bodyPr wrap="square" lIns="0" rIns="0" tIns="0" bIns="0">
            <a:spAutoFit/>
          </a:bodyPr>
          <a:lstStyle/>
          <a:p>
            <a:pPr algn="l">
              <a:defRPr sz="950" b="0" i="0">
                <a:solidFill>
                  <a:srgbClr val="212121"/>
                </a:solidFill>
                <a:latin typeface="Calibri"/>
              </a:defRPr>
            </a:pPr>
            <a:r>
              <a:t>One purchase, then ongoing capex</a:t>
            </a:r>
          </a:p>
        </p:txBody>
      </p:sp>
      <p:sp>
        <p:nvSpPr>
          <p:cNvPr id="37" name="Rectangle 36"/>
          <p:cNvSpPr/>
          <p:nvPr/>
        </p:nvSpPr>
        <p:spPr>
          <a:xfrm>
            <a:off x="502920" y="3154680"/>
            <a:ext cx="237744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3218688"/>
            <a:ext cx="2194560" cy="384048"/>
          </a:xfrm>
          <a:prstGeom prst="rect">
            <a:avLst/>
          </a:prstGeom>
          <a:noFill/>
        </p:spPr>
        <p:txBody>
          <a:bodyPr wrap="square" lIns="0" rIns="0" tIns="0" bIns="0">
            <a:spAutoFit/>
          </a:bodyPr>
          <a:lstStyle/>
          <a:p>
            <a:pPr algn="l">
              <a:defRPr sz="950" b="1" i="0">
                <a:solidFill>
                  <a:srgbClr val="212121"/>
                </a:solidFill>
                <a:latin typeface="Calibri"/>
              </a:defRPr>
            </a:pPr>
            <a:r>
              <a:t>Sector</a:t>
            </a:r>
          </a:p>
        </p:txBody>
      </p:sp>
      <p:sp>
        <p:nvSpPr>
          <p:cNvPr id="39" name="Rectangle 38"/>
          <p:cNvSpPr/>
          <p:nvPr/>
        </p:nvSpPr>
        <p:spPr>
          <a:xfrm>
            <a:off x="2880360" y="3154680"/>
            <a:ext cx="35661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71800" y="3218688"/>
            <a:ext cx="3383279" cy="384048"/>
          </a:xfrm>
          <a:prstGeom prst="rect">
            <a:avLst/>
          </a:prstGeom>
          <a:noFill/>
        </p:spPr>
        <p:txBody>
          <a:bodyPr wrap="square" lIns="0" rIns="0" tIns="0" bIns="0">
            <a:spAutoFit/>
          </a:bodyPr>
          <a:lstStyle/>
          <a:p>
            <a:pPr algn="l">
              <a:defRPr sz="950" b="0" i="0">
                <a:solidFill>
                  <a:srgbClr val="212121"/>
                </a:solidFill>
                <a:latin typeface="Calibri"/>
              </a:defRPr>
            </a:pPr>
            <a:r>
              <a:t>GICS-style classification</a:t>
            </a:r>
          </a:p>
        </p:txBody>
      </p:sp>
      <p:sp>
        <p:nvSpPr>
          <p:cNvPr id="41" name="Rectangle 40"/>
          <p:cNvSpPr/>
          <p:nvPr/>
        </p:nvSpPr>
        <p:spPr>
          <a:xfrm>
            <a:off x="6446520" y="3154680"/>
            <a:ext cx="521208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37960" y="3218688"/>
            <a:ext cx="5029200" cy="384048"/>
          </a:xfrm>
          <a:prstGeom prst="rect">
            <a:avLst/>
          </a:prstGeom>
          <a:noFill/>
        </p:spPr>
        <p:txBody>
          <a:bodyPr wrap="square" lIns="0" rIns="0" tIns="0" bIns="0">
            <a:spAutoFit/>
          </a:bodyPr>
          <a:lstStyle/>
          <a:p>
            <a:pPr algn="l">
              <a:defRPr sz="950" b="0" i="0">
                <a:solidFill>
                  <a:srgbClr val="212121"/>
                </a:solidFill>
                <a:latin typeface="Calibri"/>
              </a:defRPr>
            </a:pPr>
            <a:r>
              <a:t>Office / retail / industrial taxonomy</a:t>
            </a:r>
          </a:p>
        </p:txBody>
      </p:sp>
      <p:sp>
        <p:nvSpPr>
          <p:cNvPr id="43" name="Rectangle 42"/>
          <p:cNvSpPr/>
          <p:nvPr/>
        </p:nvSpPr>
        <p:spPr>
          <a:xfrm>
            <a:off x="502920" y="3703320"/>
            <a:ext cx="5486400" cy="15087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3232" y="3913632"/>
            <a:ext cx="5029200" cy="1188720"/>
          </a:xfrm>
          <a:prstGeom prst="rect">
            <a:avLst/>
          </a:prstGeom>
          <a:noFill/>
        </p:spPr>
        <p:txBody>
          <a:bodyPr wrap="square" lIns="0" rIns="0" tIns="0" bIns="0">
            <a:spAutoFit/>
          </a:bodyPr>
          <a:lstStyle/>
          <a:p>
            <a:pPr algn="l">
              <a:spcAft>
                <a:spcPts val="500"/>
              </a:spcAft>
              <a:defRPr sz="950" b="0" i="0">
                <a:solidFill>
                  <a:srgbClr val="212121"/>
                </a:solidFill>
                <a:latin typeface="Calibri"/>
              </a:defRPr>
            </a:pPr>
            <a:r>
              <a:t>NATURAL RESOURCES — 6 ROWS</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Lifecycle is exploration → development → production → decline. None of it maps to exit or write-down. Sample is too small to score meaningfully in any case.</a:t>
            </a:r>
          </a:p>
        </p:txBody>
      </p:sp>
      <p:sp>
        <p:nvSpPr>
          <p:cNvPr id="45" name="Rectangle 44"/>
          <p:cNvSpPr/>
          <p:nvPr/>
        </p:nvSpPr>
        <p:spPr>
          <a:xfrm>
            <a:off x="6199632" y="3703320"/>
            <a:ext cx="5486400" cy="150876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99632" y="3703320"/>
            <a:ext cx="50292" cy="15087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3913632"/>
            <a:ext cx="5029200" cy="1188720"/>
          </a:xfrm>
          <a:prstGeom prst="rect">
            <a:avLst/>
          </a:prstGeom>
          <a:noFill/>
        </p:spPr>
        <p:txBody>
          <a:bodyPr wrap="square" lIns="0" rIns="0" tIns="0" bIns="0">
            <a:spAutoFit/>
          </a:bodyPr>
          <a:lstStyle/>
          <a:p>
            <a:pPr algn="l">
              <a:spcAft>
                <a:spcPts val="500"/>
              </a:spcAft>
              <a:defRPr sz="950" b="0" i="0">
                <a:solidFill>
                  <a:srgbClr val="212121"/>
                </a:solidFill>
                <a:latin typeface="Calibri"/>
              </a:defRPr>
            </a:pPr>
            <a:r>
              <a:t>WHAT THIS IS NOT</a:t>
            </a:r>
          </a:p>
          <a:p>
            <a:pPr algn="l">
              <a:spcAft>
                <a:spcPts val="500"/>
              </a:spcAft>
              <a:defRPr sz="950" b="0" i="0">
                <a:solidFill>
                  <a:srgbClr val="212121"/>
                </a:solidFill>
                <a:latin typeface="Calibri"/>
              </a:defRPr>
            </a:pPr>
          </a:p>
          <a:p>
            <a:pPr algn="l">
              <a:spcAft>
                <a:spcPts val="500"/>
              </a:spcAft>
              <a:defRPr sz="950" b="0" i="0">
                <a:solidFill>
                  <a:srgbClr val="212121"/>
                </a:solidFill>
                <a:latin typeface="Calibri"/>
              </a:defRPr>
            </a:pPr>
            <a:r>
              <a:t>This is not evidence that real-asset GPs report poorly. It is evidence that the yardstick was built for a different asset class.</a:t>
            </a:r>
          </a:p>
        </p:txBody>
      </p:sp>
      <p:sp>
        <p:nvSpPr>
          <p:cNvPr id="48" name="Rectangle 47"/>
          <p:cNvSpPr/>
          <p:nvPr/>
        </p:nvSpPr>
        <p:spPr>
          <a:xfrm>
            <a:off x="502920" y="5440680"/>
            <a:ext cx="11185855" cy="658368"/>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5440680"/>
            <a:ext cx="50292" cy="6583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3232" y="5559552"/>
            <a:ext cx="10774375" cy="475488"/>
          </a:xfrm>
          <a:prstGeom prst="rect">
            <a:avLst/>
          </a:prstGeom>
          <a:noFill/>
        </p:spPr>
        <p:txBody>
          <a:bodyPr wrap="square" lIns="0" rIns="0" tIns="0" bIns="0">
            <a:spAutoFit/>
          </a:bodyPr>
          <a:lstStyle/>
          <a:p>
            <a:pPr algn="l">
              <a:defRPr sz="1050" b="0" i="0">
                <a:solidFill>
                  <a:srgbClr val="212121"/>
                </a:solidFill>
                <a:latin typeface="Calibri"/>
              </a:defRPr>
            </a:pPr>
            <a:r>
              <a:t>Recommendation: define an asset-class-specific mandatory set before these managers appear on any remediation list. Scoring them against the current set produces a false positive.</a:t>
            </a:r>
          </a:p>
        </p:txBody>
      </p:sp>
      <p:sp>
        <p:nvSpPr>
          <p:cNvPr id="51" name="Rectangle 5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Real Estate 991 rows  ·  Natural Resources 6 rows</a:t>
            </a:r>
          </a:p>
        </p:txBody>
      </p:sp>
      <p:sp>
        <p:nvSpPr>
          <p:cNvPr id="53" name="TextBox 5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6 — CROSS-CUT</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Portfolio concentration</a:t>
            </a:r>
          </a:p>
        </p:txBody>
      </p:sp>
      <p:pic>
        <p:nvPicPr>
          <p:cNvPr id="7" name="Picture 6" descr="portfolio_concentration.png"/>
          <p:cNvPicPr>
            <a:picLocks noChangeAspect="1"/>
          </p:cNvPicPr>
          <p:nvPr/>
        </p:nvPicPr>
        <p:blipFill>
          <a:blip r:embed="rId2"/>
          <a:stretch>
            <a:fillRect/>
          </a:stretch>
        </p:blipFill>
        <p:spPr>
          <a:xfrm>
            <a:off x="685800" y="1353021"/>
            <a:ext cx="10820095" cy="3795340"/>
          </a:xfrm>
          <a:prstGeom prst="rect">
            <a:avLst/>
          </a:prstGeom>
        </p:spPr>
      </p:pic>
      <p:sp>
        <p:nvSpPr>
          <p:cNvPr id="8" name="Rectangle 7"/>
          <p:cNvSpPr/>
          <p:nvPr/>
        </p:nvSpPr>
        <p:spPr>
          <a:xfrm>
            <a:off x="502920" y="5458968"/>
            <a:ext cx="11185855" cy="77724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458968"/>
            <a:ext cx="50292" cy="77724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577840"/>
            <a:ext cx="10774375" cy="594359"/>
          </a:xfrm>
          <a:prstGeom prst="rect">
            <a:avLst/>
          </a:prstGeom>
          <a:noFill/>
        </p:spPr>
        <p:txBody>
          <a:bodyPr wrap="square" lIns="0" rIns="0" tIns="0" bIns="0">
            <a:spAutoFit/>
          </a:bodyPr>
          <a:lstStyle/>
          <a:p>
            <a:pPr algn="l">
              <a:defRPr sz="1050" b="0" i="0">
                <a:solidFill>
                  <a:srgbClr val="212121"/>
                </a:solidFill>
                <a:latin typeface="Calibri"/>
              </a:defRPr>
            </a:pPr>
            <a:r>
              <a:t>Software and Application Software alone account for 32.5% of holdings; the top five sectors reach 44.6%. Concentration this high means a single sector-taxonomy error propagates across a third of the book.</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Top 15 sectors  ·  top 10 companies by row count</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FINDING 4 — RESOLVED</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The two most-reported "companies" were journal entries</a:t>
            </a:r>
          </a:p>
        </p:txBody>
      </p:sp>
      <p:pic>
        <p:nvPicPr>
          <p:cNvPr id="7" name="Picture 6" descr="hygiene_artifacts.png"/>
          <p:cNvPicPr>
            <a:picLocks noChangeAspect="1"/>
          </p:cNvPicPr>
          <p:nvPr/>
        </p:nvPicPr>
        <p:blipFill>
          <a:blip r:embed="rId2"/>
          <a:stretch>
            <a:fillRect/>
          </a:stretch>
        </p:blipFill>
        <p:spPr>
          <a:xfrm>
            <a:off x="685800" y="1174558"/>
            <a:ext cx="10820095" cy="3877947"/>
          </a:xfrm>
          <a:prstGeom prst="rect">
            <a:avLst/>
          </a:prstGeom>
        </p:spPr>
      </p:pic>
      <p:sp>
        <p:nvSpPr>
          <p:cNvPr id="8" name="Rectangle 7"/>
          <p:cNvSpPr/>
          <p:nvPr/>
        </p:nvSpPr>
        <p:spPr>
          <a:xfrm>
            <a:off x="502920" y="5184648"/>
            <a:ext cx="11185855" cy="105156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184648"/>
            <a:ext cx="50292" cy="10515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303520"/>
            <a:ext cx="10774375" cy="868680"/>
          </a:xfrm>
          <a:prstGeom prst="rect">
            <a:avLst/>
          </a:prstGeom>
          <a:noFill/>
        </p:spPr>
        <p:txBody>
          <a:bodyPr wrap="square" lIns="0" rIns="0" tIns="0" bIns="0">
            <a:spAutoFit/>
          </a:bodyPr>
          <a:lstStyle/>
          <a:p>
            <a:pPr algn="l">
              <a:defRPr sz="1050" b="0" i="0">
                <a:solidFill>
                  <a:srgbClr val="212121"/>
                </a:solidFill>
                <a:latin typeface="Calibri"/>
              </a:defRPr>
            </a:pPr>
            <a:r>
              <a:t>"Quarterly Unrealized Gain/Loss" appeared 334 times across 64 funds and "ASC 740-10 Accrual" 145 times across 26, both sitting in Source Asset as though they were portfolio companies. The classifier now removes 594 such rows, and both entries drop out of the entity resolution queue where they had been the two largest items.</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Detected in the top-20 company frequency table  ·  now excluded</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6 — CROSS-CUT</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Geographic distribution</a:t>
            </a:r>
          </a:p>
        </p:txBody>
      </p:sp>
      <p:pic>
        <p:nvPicPr>
          <p:cNvPr id="7" name="Picture 6" descr="geography.png"/>
          <p:cNvPicPr>
            <a:picLocks noChangeAspect="1"/>
          </p:cNvPicPr>
          <p:nvPr/>
        </p:nvPicPr>
        <p:blipFill>
          <a:blip r:embed="rId2"/>
          <a:stretch>
            <a:fillRect/>
          </a:stretch>
        </p:blipFill>
        <p:spPr>
          <a:xfrm>
            <a:off x="1908600" y="1170432"/>
            <a:ext cx="8374494" cy="4160520"/>
          </a:xfrm>
          <a:prstGeom prst="rect">
            <a:avLst/>
          </a:prstGeom>
        </p:spPr>
      </p:pic>
      <p:sp>
        <p:nvSpPr>
          <p:cNvPr id="8" name="Rectangle 7"/>
          <p:cNvSpPr/>
          <p:nvPr/>
        </p:nvSpPr>
        <p:spPr>
          <a:xfrm>
            <a:off x="502920" y="5458968"/>
            <a:ext cx="11185855" cy="77724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5458968"/>
            <a:ext cx="50292" cy="77724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577840"/>
            <a:ext cx="10774375" cy="594359"/>
          </a:xfrm>
          <a:prstGeom prst="rect">
            <a:avLst/>
          </a:prstGeom>
          <a:noFill/>
        </p:spPr>
        <p:txBody>
          <a:bodyPr wrap="square" lIns="0" rIns="0" tIns="0" bIns="0">
            <a:spAutoFit/>
          </a:bodyPr>
          <a:lstStyle/>
          <a:p>
            <a:pPr algn="l">
              <a:defRPr sz="1050" b="0" i="0">
                <a:solidFill>
                  <a:srgbClr val="212121"/>
                </a:solidFill>
                <a:latin typeface="Calibri"/>
              </a:defRPr>
            </a:pPr>
            <a:r>
              <a:t>Reported completeness reaches 100% in Africa, Peru, Estonia and Nigeria — but each rests on a handful of rows. Small-n geographies should be read as noise, not as reporting excellence.</a:t>
            </a:r>
          </a:p>
        </p:txBody>
      </p:sp>
      <p:sp>
        <p:nvSpPr>
          <p:cNvPr id="11" name="Rectangle 1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Top 10 cover 90.4% of holdings</a:t>
            </a:r>
          </a:p>
        </p:txBody>
      </p:sp>
      <p:sp>
        <p:nvSpPr>
          <p:cNvPr id="13" name="TextBox 1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STEP 6</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Entity resolution — sizing the Phase 2 problem</a:t>
            </a:r>
          </a:p>
        </p:txBody>
      </p:sp>
      <p:sp>
        <p:nvSpPr>
          <p:cNvPr id="7" name="Rectangle 6"/>
          <p:cNvSpPr/>
          <p:nvPr/>
        </p:nvSpPr>
        <p:spPr>
          <a:xfrm>
            <a:off x="50292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RESOLVABLE NAMES</a:t>
            </a:r>
          </a:p>
        </p:txBody>
      </p:sp>
      <p:sp>
        <p:nvSpPr>
          <p:cNvPr id="10" name="TextBox 9"/>
          <p:cNvSpPr txBox="1"/>
          <p:nvPr/>
        </p:nvSpPr>
        <p:spPr>
          <a:xfrm>
            <a:off x="64922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8,633</a:t>
            </a:r>
          </a:p>
        </p:txBody>
      </p:sp>
      <p:sp>
        <p:nvSpPr>
          <p:cNvPr id="11" name="TextBox 10"/>
          <p:cNvSpPr txBox="1"/>
          <p:nvPr/>
        </p:nvSpPr>
        <p:spPr>
          <a:xfrm>
            <a:off x="64922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after classification</a:t>
            </a:r>
          </a:p>
        </p:txBody>
      </p:sp>
      <p:sp>
        <p:nvSpPr>
          <p:cNvPr id="12" name="Rectangle 11"/>
          <p:cNvSpPr/>
          <p:nvPr/>
        </p:nvSpPr>
        <p:spPr>
          <a:xfrm>
            <a:off x="429768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HELD BY MORE THAN ONE FUND</a:t>
            </a:r>
          </a:p>
        </p:txBody>
      </p:sp>
      <p:sp>
        <p:nvSpPr>
          <p:cNvPr id="15" name="TextBox 14"/>
          <p:cNvSpPr txBox="1"/>
          <p:nvPr/>
        </p:nvSpPr>
        <p:spPr>
          <a:xfrm>
            <a:off x="444398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1,107</a:t>
            </a:r>
          </a:p>
        </p:txBody>
      </p:sp>
      <p:sp>
        <p:nvSpPr>
          <p:cNvPr id="16" name="TextBox 15"/>
          <p:cNvSpPr txBox="1"/>
          <p:nvPr/>
        </p:nvSpPr>
        <p:spPr>
          <a:xfrm>
            <a:off x="444398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12.8% of names</a:t>
            </a:r>
          </a:p>
        </p:txBody>
      </p:sp>
      <p:sp>
        <p:nvSpPr>
          <p:cNvPr id="17" name="Rectangle 16"/>
          <p:cNvSpPr/>
          <p:nvPr/>
        </p:nvSpPr>
        <p:spPr>
          <a:xfrm>
            <a:off x="8092440" y="1234440"/>
            <a:ext cx="3611880" cy="141732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234440"/>
            <a:ext cx="361188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417320"/>
            <a:ext cx="3319272" cy="237744"/>
          </a:xfrm>
          <a:prstGeom prst="rect">
            <a:avLst/>
          </a:prstGeom>
          <a:noFill/>
        </p:spPr>
        <p:txBody>
          <a:bodyPr wrap="square" lIns="0" rIns="0" tIns="0" bIns="0">
            <a:spAutoFit/>
          </a:bodyPr>
          <a:lstStyle/>
          <a:p>
            <a:pPr algn="l">
              <a:defRPr sz="780" b="1" i="0">
                <a:solidFill>
                  <a:srgbClr val="4682B4"/>
                </a:solidFill>
                <a:latin typeface="Calibri"/>
              </a:defRPr>
            </a:pPr>
            <a:r>
              <a:t>MEAN APPEARANCES PER NAME</a:t>
            </a:r>
          </a:p>
        </p:txBody>
      </p:sp>
      <p:sp>
        <p:nvSpPr>
          <p:cNvPr id="20" name="TextBox 19"/>
          <p:cNvSpPr txBox="1"/>
          <p:nvPr/>
        </p:nvSpPr>
        <p:spPr>
          <a:xfrm>
            <a:off x="8238744" y="1691640"/>
            <a:ext cx="3319272" cy="566928"/>
          </a:xfrm>
          <a:prstGeom prst="rect">
            <a:avLst/>
          </a:prstGeom>
          <a:noFill/>
        </p:spPr>
        <p:txBody>
          <a:bodyPr wrap="square" lIns="0" rIns="0" tIns="0" bIns="0">
            <a:spAutoFit/>
          </a:bodyPr>
          <a:lstStyle/>
          <a:p>
            <a:pPr algn="l">
              <a:defRPr sz="2600" b="1" i="0">
                <a:solidFill>
                  <a:srgbClr val="14284F"/>
                </a:solidFill>
                <a:latin typeface="Georgia"/>
              </a:defRPr>
            </a:pPr>
            <a:r>
              <a:t>6.0</a:t>
            </a:r>
          </a:p>
        </p:txBody>
      </p:sp>
      <p:sp>
        <p:nvSpPr>
          <p:cNvPr id="21" name="TextBox 20"/>
          <p:cNvSpPr txBox="1"/>
          <p:nvPr/>
        </p:nvSpPr>
        <p:spPr>
          <a:xfrm>
            <a:off x="8238744" y="2267712"/>
            <a:ext cx="3319272" cy="274320"/>
          </a:xfrm>
          <a:prstGeom prst="rect">
            <a:avLst/>
          </a:prstGeom>
          <a:noFill/>
        </p:spPr>
        <p:txBody>
          <a:bodyPr wrap="square" lIns="0" rIns="0" tIns="0" bIns="0">
            <a:spAutoFit/>
          </a:bodyPr>
          <a:lstStyle/>
          <a:p>
            <a:pPr algn="l">
              <a:defRPr sz="780" b="0" i="1">
                <a:solidFill>
                  <a:srgbClr val="6E6E6E"/>
                </a:solidFill>
                <a:latin typeface="Calibri"/>
              </a:defRPr>
            </a:pPr>
            <a:r>
              <a:t>across quarters and funds</a:t>
            </a:r>
          </a:p>
        </p:txBody>
      </p:sp>
      <p:sp>
        <p:nvSpPr>
          <p:cNvPr id="22" name="Rectangle 21"/>
          <p:cNvSpPr/>
          <p:nvPr/>
        </p:nvSpPr>
        <p:spPr>
          <a:xfrm>
            <a:off x="502920" y="2926080"/>
            <a:ext cx="11183112" cy="173736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2926080"/>
            <a:ext cx="11183112"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154680"/>
            <a:ext cx="10698480" cy="1371600"/>
          </a:xfrm>
          <a:prstGeom prst="rect">
            <a:avLst/>
          </a:prstGeom>
          <a:noFill/>
        </p:spPr>
        <p:txBody>
          <a:bodyPr wrap="square" lIns="0" rIns="0" tIns="0" bIns="0">
            <a:spAutoFit/>
          </a:bodyPr>
          <a:lstStyle/>
          <a:p>
            <a:pPr algn="l">
              <a:spcAft>
                <a:spcPts val="500"/>
              </a:spcAft>
              <a:defRPr sz="1050" b="0" i="0">
                <a:solidFill>
                  <a:srgbClr val="212121"/>
                </a:solidFill>
                <a:latin typeface="Calibri"/>
              </a:defRPr>
            </a:pPr>
            <a:r>
              <a:t>WHY THE COUNT OVERSTATES THE COMPANY UNIVERSE</a:t>
            </a:r>
          </a:p>
          <a:p>
            <a:pPr algn="l">
              <a:spcAft>
                <a:spcPts val="500"/>
              </a:spcAft>
              <a:defRPr sz="1050" b="0" i="0">
                <a:solidFill>
                  <a:srgbClr val="212121"/>
                </a:solidFill>
                <a:latin typeface="Calibri"/>
              </a:defRPr>
            </a:pPr>
          </a:p>
          <a:p>
            <a:pPr algn="l">
              <a:spcAft>
                <a:spcPts val="500"/>
              </a:spcAft>
              <a:defRPr sz="1050" b="0" i="0">
                <a:solidFill>
                  <a:srgbClr val="212121"/>
                </a:solidFill>
                <a:latin typeface="Calibri"/>
              </a:defRPr>
            </a:pPr>
            <a:r>
              <a:t>Two funds holding the same business can write it two ways. "Oomnitz" on one schedule of realised gains and "Oomnitza, Inc." on another schedule of investments are the same company — the extract treats them as two.</a:t>
            </a:r>
          </a:p>
          <a:p>
            <a:pPr algn="l">
              <a:spcAft>
                <a:spcPts val="500"/>
              </a:spcAft>
              <a:defRPr sz="1050" b="0" i="0">
                <a:solidFill>
                  <a:srgbClr val="212121"/>
                </a:solidFill>
                <a:latin typeface="Calibri"/>
              </a:defRPr>
            </a:pPr>
          </a:p>
          <a:p>
            <a:pPr algn="l">
              <a:spcAft>
                <a:spcPts val="500"/>
              </a:spcAft>
              <a:defRPr sz="1050" b="0" i="0">
                <a:solidFill>
                  <a:srgbClr val="212121"/>
                </a:solidFill>
                <a:latin typeface="Calibri"/>
              </a:defRPr>
            </a:pPr>
            <a:r>
              <a:t>The 1,107 multi-fund names are the working set: these are the only ones where a naming mismatch can split a single company into several, and the only ones where cross-fund valuation comparison is possible at all. Twenty-seven names were removed from this queue by the classifier, led by the two journal entries on the previous slide.</a:t>
            </a:r>
          </a:p>
        </p:txBody>
      </p:sp>
      <p:sp>
        <p:nvSpPr>
          <p:cNvPr id="25" name="Rectangle 24"/>
          <p:cNvSpPr/>
          <p:nvPr/>
        </p:nvSpPr>
        <p:spPr>
          <a:xfrm>
            <a:off x="502920" y="4892040"/>
            <a:ext cx="11185855" cy="96012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92040"/>
            <a:ext cx="50292"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5010912"/>
            <a:ext cx="10774375" cy="777240"/>
          </a:xfrm>
          <a:prstGeom prst="rect">
            <a:avLst/>
          </a:prstGeom>
          <a:noFill/>
        </p:spPr>
        <p:txBody>
          <a:bodyPr wrap="square" lIns="0" rIns="0" tIns="0" bIns="0">
            <a:spAutoFit/>
          </a:bodyPr>
          <a:lstStyle/>
          <a:p>
            <a:pPr algn="l">
              <a:defRPr sz="1050" b="0" i="0">
                <a:solidFill>
                  <a:srgbClr val="212121"/>
                </a:solidFill>
                <a:latin typeface="Calibri"/>
              </a:defRPr>
            </a:pPr>
            <a:r>
              <a:t>Phase 2 dependency: deal-status inference cross-references the schedule of investments against the schedule of realised gains. That join is by company name, so canonical mapping has to land before inference can run. Fuzzy matching may propose candidates; it may not decide them.</a:t>
            </a:r>
          </a:p>
        </p:txBody>
      </p:sp>
      <p:sp>
        <p:nvSpPr>
          <p:cNvPr id="28" name="Rectangle 27"/>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Explicit aliases, not automatic fuzzy acceptance</a:t>
            </a:r>
          </a:p>
        </p:txBody>
      </p:sp>
      <p:sp>
        <p:nvSpPr>
          <p:cNvPr id="30" name="TextBox 29"/>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SYNTHESIS</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Findings ranked</a:t>
            </a:r>
          </a:p>
        </p:txBody>
      </p:sp>
      <p:sp>
        <p:nvSpPr>
          <p:cNvPr id="7" name="Rectangle 6"/>
          <p:cNvSpPr/>
          <p:nvPr/>
        </p:nvSpPr>
        <p:spPr>
          <a:xfrm>
            <a:off x="502920" y="1234440"/>
            <a:ext cx="54864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3020"/>
            <a:ext cx="365759" cy="347472"/>
          </a:xfrm>
          <a:prstGeom prst="rect">
            <a:avLst/>
          </a:prstGeom>
          <a:noFill/>
        </p:spPr>
        <p:txBody>
          <a:bodyPr wrap="square" lIns="0" rIns="0" tIns="0" bIns="0">
            <a:spAutoFit/>
          </a:bodyPr>
          <a:lstStyle/>
          <a:p>
            <a:pPr algn="l">
              <a:defRPr sz="850" b="1" i="0">
                <a:solidFill>
                  <a:srgbClr val="FFFFFF"/>
                </a:solidFill>
                <a:latin typeface="Calibri"/>
              </a:defRPr>
            </a:pPr>
            <a:r>
              <a:t>#</a:t>
            </a:r>
          </a:p>
        </p:txBody>
      </p:sp>
      <p:sp>
        <p:nvSpPr>
          <p:cNvPr id="9" name="Rectangle 8"/>
          <p:cNvSpPr/>
          <p:nvPr/>
        </p:nvSpPr>
        <p:spPr>
          <a:xfrm>
            <a:off x="1051560" y="1234440"/>
            <a:ext cx="41148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303020"/>
            <a:ext cx="3931920" cy="347472"/>
          </a:xfrm>
          <a:prstGeom prst="rect">
            <a:avLst/>
          </a:prstGeom>
          <a:noFill/>
        </p:spPr>
        <p:txBody>
          <a:bodyPr wrap="square" lIns="0" rIns="0" tIns="0" bIns="0">
            <a:spAutoFit/>
          </a:bodyPr>
          <a:lstStyle/>
          <a:p>
            <a:pPr algn="l">
              <a:defRPr sz="850" b="1" i="0">
                <a:solidFill>
                  <a:srgbClr val="FFFFFF"/>
                </a:solidFill>
                <a:latin typeface="Calibri"/>
              </a:defRPr>
            </a:pPr>
            <a:r>
              <a:t>Finding</a:t>
            </a:r>
          </a:p>
        </p:txBody>
      </p:sp>
      <p:sp>
        <p:nvSpPr>
          <p:cNvPr id="11" name="Rectangle 10"/>
          <p:cNvSpPr/>
          <p:nvPr/>
        </p:nvSpPr>
        <p:spPr>
          <a:xfrm>
            <a:off x="5166360" y="1234440"/>
            <a:ext cx="22860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1303020"/>
            <a:ext cx="2103120" cy="347472"/>
          </a:xfrm>
          <a:prstGeom prst="rect">
            <a:avLst/>
          </a:prstGeom>
          <a:noFill/>
        </p:spPr>
        <p:txBody>
          <a:bodyPr wrap="square" lIns="0" rIns="0" tIns="0" bIns="0">
            <a:spAutoFit/>
          </a:bodyPr>
          <a:lstStyle/>
          <a:p>
            <a:pPr algn="l">
              <a:defRPr sz="850" b="1" i="0">
                <a:solidFill>
                  <a:srgbClr val="FFFFFF"/>
                </a:solidFill>
                <a:latin typeface="Calibri"/>
              </a:defRPr>
            </a:pPr>
            <a:r>
              <a:t>Scale</a:t>
            </a:r>
          </a:p>
        </p:txBody>
      </p:sp>
      <p:sp>
        <p:nvSpPr>
          <p:cNvPr id="13" name="Rectangle 12"/>
          <p:cNvSpPr/>
          <p:nvPr/>
        </p:nvSpPr>
        <p:spPr>
          <a:xfrm>
            <a:off x="7452360" y="1234440"/>
            <a:ext cx="182880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303020"/>
            <a:ext cx="1645920" cy="347472"/>
          </a:xfrm>
          <a:prstGeom prst="rect">
            <a:avLst/>
          </a:prstGeom>
          <a:noFill/>
        </p:spPr>
        <p:txBody>
          <a:bodyPr wrap="square" lIns="0" rIns="0" tIns="0" bIns="0">
            <a:spAutoFit/>
          </a:bodyPr>
          <a:lstStyle/>
          <a:p>
            <a:pPr algn="l">
              <a:defRPr sz="850" b="1" i="0">
                <a:solidFill>
                  <a:srgbClr val="FFFFFF"/>
                </a:solidFill>
                <a:latin typeface="Calibri"/>
              </a:defRPr>
            </a:pPr>
            <a:r>
              <a:t>Severity</a:t>
            </a:r>
          </a:p>
        </p:txBody>
      </p:sp>
      <p:sp>
        <p:nvSpPr>
          <p:cNvPr id="15" name="Rectangle 14"/>
          <p:cNvSpPr/>
          <p:nvPr/>
        </p:nvSpPr>
        <p:spPr>
          <a:xfrm>
            <a:off x="9281160" y="1234440"/>
            <a:ext cx="2377440" cy="34747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303020"/>
            <a:ext cx="2194560" cy="347472"/>
          </a:xfrm>
          <a:prstGeom prst="rect">
            <a:avLst/>
          </a:prstGeom>
          <a:noFill/>
        </p:spPr>
        <p:txBody>
          <a:bodyPr wrap="square" lIns="0" rIns="0" tIns="0" bIns="0">
            <a:spAutoFit/>
          </a:bodyPr>
          <a:lstStyle/>
          <a:p>
            <a:pPr algn="l">
              <a:defRPr sz="850" b="1" i="0">
                <a:solidFill>
                  <a:srgbClr val="FFFFFF"/>
                </a:solidFill>
                <a:latin typeface="Calibri"/>
              </a:defRPr>
            </a:pPr>
            <a:r>
              <a:t>Owner</a:t>
            </a:r>
          </a:p>
        </p:txBody>
      </p:sp>
      <p:sp>
        <p:nvSpPr>
          <p:cNvPr id="17" name="Rectangle 16"/>
          <p:cNvSpPr/>
          <p:nvPr/>
        </p:nvSpPr>
        <p:spPr>
          <a:xfrm>
            <a:off x="502920" y="1581912"/>
            <a:ext cx="5486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1645920"/>
            <a:ext cx="365759" cy="347472"/>
          </a:xfrm>
          <a:prstGeom prst="rect">
            <a:avLst/>
          </a:prstGeom>
          <a:noFill/>
        </p:spPr>
        <p:txBody>
          <a:bodyPr wrap="square" lIns="0" rIns="0" tIns="0" bIns="0">
            <a:spAutoFit/>
          </a:bodyPr>
          <a:lstStyle/>
          <a:p>
            <a:pPr algn="l">
              <a:defRPr sz="950" b="1" i="0">
                <a:solidFill>
                  <a:srgbClr val="212121"/>
                </a:solidFill>
                <a:latin typeface="Calibri"/>
              </a:defRPr>
            </a:pPr>
            <a:r>
              <a:t>1</a:t>
            </a:r>
          </a:p>
        </p:txBody>
      </p:sp>
      <p:sp>
        <p:nvSpPr>
          <p:cNvPr id="19" name="Rectangle 18"/>
          <p:cNvSpPr/>
          <p:nvPr/>
        </p:nvSpPr>
        <p:spPr>
          <a:xfrm>
            <a:off x="1051560" y="1581912"/>
            <a:ext cx="4114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1645920"/>
            <a:ext cx="3931920" cy="347472"/>
          </a:xfrm>
          <a:prstGeom prst="rect">
            <a:avLst/>
          </a:prstGeom>
          <a:noFill/>
        </p:spPr>
        <p:txBody>
          <a:bodyPr wrap="square" lIns="0" rIns="0" tIns="0" bIns="0">
            <a:spAutoFit/>
          </a:bodyPr>
          <a:lstStyle/>
          <a:p>
            <a:pPr algn="l">
              <a:defRPr sz="950" b="0" i="0">
                <a:solidFill>
                  <a:srgbClr val="212121"/>
                </a:solidFill>
                <a:latin typeface="Calibri"/>
              </a:defRPr>
            </a:pPr>
            <a:r>
              <a:t>Capital Invested absent by design</a:t>
            </a:r>
          </a:p>
        </p:txBody>
      </p:sp>
      <p:sp>
        <p:nvSpPr>
          <p:cNvPr id="21" name="Rectangle 20"/>
          <p:cNvSpPr/>
          <p:nvPr/>
        </p:nvSpPr>
        <p:spPr>
          <a:xfrm>
            <a:off x="5166360" y="1581912"/>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1645920"/>
            <a:ext cx="2103120" cy="347472"/>
          </a:xfrm>
          <a:prstGeom prst="rect">
            <a:avLst/>
          </a:prstGeom>
          <a:noFill/>
        </p:spPr>
        <p:txBody>
          <a:bodyPr wrap="square" lIns="0" rIns="0" tIns="0" bIns="0">
            <a:spAutoFit/>
          </a:bodyPr>
          <a:lstStyle/>
          <a:p>
            <a:pPr algn="l">
              <a:defRPr sz="950" b="0" i="0">
                <a:solidFill>
                  <a:srgbClr val="212121"/>
                </a:solidFill>
                <a:latin typeface="Calibri"/>
              </a:defRPr>
            </a:pPr>
            <a:r>
              <a:t>67 funds (17.4%)</a:t>
            </a:r>
          </a:p>
        </p:txBody>
      </p:sp>
      <p:sp>
        <p:nvSpPr>
          <p:cNvPr id="23" name="Rectangle 22"/>
          <p:cNvSpPr/>
          <p:nvPr/>
        </p:nvSpPr>
        <p:spPr>
          <a:xfrm>
            <a:off x="7452360" y="1581912"/>
            <a:ext cx="1828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1645920"/>
            <a:ext cx="1645920" cy="347472"/>
          </a:xfrm>
          <a:prstGeom prst="rect">
            <a:avLst/>
          </a:prstGeom>
          <a:noFill/>
        </p:spPr>
        <p:txBody>
          <a:bodyPr wrap="square" lIns="0" rIns="0" tIns="0" bIns="0">
            <a:spAutoFit/>
          </a:bodyPr>
          <a:lstStyle/>
          <a:p>
            <a:pPr algn="l">
              <a:defRPr sz="950" b="0" i="0">
                <a:solidFill>
                  <a:srgbClr val="B03A2E"/>
                </a:solidFill>
                <a:latin typeface="Calibri"/>
              </a:defRPr>
            </a:pPr>
            <a:r>
              <a:t>High</a:t>
            </a:r>
          </a:p>
        </p:txBody>
      </p:sp>
      <p:sp>
        <p:nvSpPr>
          <p:cNvPr id="25" name="Rectangle 24"/>
          <p:cNvSpPr/>
          <p:nvPr/>
        </p:nvSpPr>
        <p:spPr>
          <a:xfrm>
            <a:off x="9281160" y="1581912"/>
            <a:ext cx="23774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1645920"/>
            <a:ext cx="2194560" cy="347472"/>
          </a:xfrm>
          <a:prstGeom prst="rect">
            <a:avLst/>
          </a:prstGeom>
          <a:noFill/>
        </p:spPr>
        <p:txBody>
          <a:bodyPr wrap="square" lIns="0" rIns="0" tIns="0" bIns="0">
            <a:spAutoFit/>
          </a:bodyPr>
          <a:lstStyle/>
          <a:p>
            <a:pPr algn="l">
              <a:defRPr sz="950" b="0" i="0">
                <a:solidFill>
                  <a:srgbClr val="212121"/>
                </a:solidFill>
                <a:latin typeface="Calibri"/>
              </a:defRPr>
            </a:pPr>
            <a:r>
              <a:t>Vendor + GP</a:t>
            </a:r>
          </a:p>
        </p:txBody>
      </p:sp>
      <p:sp>
        <p:nvSpPr>
          <p:cNvPr id="27" name="Rectangle 26"/>
          <p:cNvSpPr/>
          <p:nvPr/>
        </p:nvSpPr>
        <p:spPr>
          <a:xfrm>
            <a:off x="502920" y="1929384"/>
            <a:ext cx="548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1993391"/>
            <a:ext cx="365759" cy="347472"/>
          </a:xfrm>
          <a:prstGeom prst="rect">
            <a:avLst/>
          </a:prstGeom>
          <a:noFill/>
        </p:spPr>
        <p:txBody>
          <a:bodyPr wrap="square" lIns="0" rIns="0" tIns="0" bIns="0">
            <a:spAutoFit/>
          </a:bodyPr>
          <a:lstStyle/>
          <a:p>
            <a:pPr algn="l">
              <a:defRPr sz="950" b="1" i="0">
                <a:solidFill>
                  <a:srgbClr val="212121"/>
                </a:solidFill>
                <a:latin typeface="Calibri"/>
              </a:defRPr>
            </a:pPr>
            <a:r>
              <a:t>2</a:t>
            </a:r>
          </a:p>
        </p:txBody>
      </p:sp>
      <p:sp>
        <p:nvSpPr>
          <p:cNvPr id="29" name="Rectangle 28"/>
          <p:cNvSpPr/>
          <p:nvPr/>
        </p:nvSpPr>
        <p:spPr>
          <a:xfrm>
            <a:off x="1051560" y="1929384"/>
            <a:ext cx="4114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1993391"/>
            <a:ext cx="3931920" cy="347472"/>
          </a:xfrm>
          <a:prstGeom prst="rect">
            <a:avLst/>
          </a:prstGeom>
          <a:noFill/>
        </p:spPr>
        <p:txBody>
          <a:bodyPr wrap="square" lIns="0" rIns="0" tIns="0" bIns="0">
            <a:spAutoFit/>
          </a:bodyPr>
          <a:lstStyle/>
          <a:p>
            <a:pPr algn="l">
              <a:defRPr sz="950" b="0" i="0">
                <a:solidFill>
                  <a:srgbClr val="212121"/>
                </a:solidFill>
                <a:latin typeface="Calibri"/>
              </a:defRPr>
            </a:pPr>
            <a:r>
              <a:t>Net-return metrics unusable</a:t>
            </a:r>
          </a:p>
        </p:txBody>
      </p:sp>
      <p:sp>
        <p:nvSpPr>
          <p:cNvPr id="31" name="Rectangle 30"/>
          <p:cNvSpPr/>
          <p:nvPr/>
        </p:nvSpPr>
        <p:spPr>
          <a:xfrm>
            <a:off x="5166360" y="1929384"/>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57800" y="1993391"/>
            <a:ext cx="2103120" cy="347472"/>
          </a:xfrm>
          <a:prstGeom prst="rect">
            <a:avLst/>
          </a:prstGeom>
          <a:noFill/>
        </p:spPr>
        <p:txBody>
          <a:bodyPr wrap="square" lIns="0" rIns="0" tIns="0" bIns="0">
            <a:spAutoFit/>
          </a:bodyPr>
          <a:lstStyle/>
          <a:p>
            <a:pPr algn="l">
              <a:defRPr sz="950" b="0" i="0">
                <a:solidFill>
                  <a:srgbClr val="212121"/>
                </a:solidFill>
                <a:latin typeface="Calibri"/>
              </a:defRPr>
            </a:pPr>
            <a:r>
              <a:t>Net IRR 1.2%</a:t>
            </a:r>
          </a:p>
        </p:txBody>
      </p:sp>
      <p:sp>
        <p:nvSpPr>
          <p:cNvPr id="33" name="Rectangle 32"/>
          <p:cNvSpPr/>
          <p:nvPr/>
        </p:nvSpPr>
        <p:spPr>
          <a:xfrm>
            <a:off x="7452360" y="1929384"/>
            <a:ext cx="1828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43800" y="1993391"/>
            <a:ext cx="1645920" cy="347472"/>
          </a:xfrm>
          <a:prstGeom prst="rect">
            <a:avLst/>
          </a:prstGeom>
          <a:noFill/>
        </p:spPr>
        <p:txBody>
          <a:bodyPr wrap="square" lIns="0" rIns="0" tIns="0" bIns="0">
            <a:spAutoFit/>
          </a:bodyPr>
          <a:lstStyle/>
          <a:p>
            <a:pPr algn="l">
              <a:defRPr sz="950" b="0" i="0">
                <a:solidFill>
                  <a:srgbClr val="B03A2E"/>
                </a:solidFill>
                <a:latin typeface="Calibri"/>
              </a:defRPr>
            </a:pPr>
            <a:r>
              <a:t>High</a:t>
            </a:r>
          </a:p>
        </p:txBody>
      </p:sp>
      <p:sp>
        <p:nvSpPr>
          <p:cNvPr id="35" name="Rectangle 34"/>
          <p:cNvSpPr/>
          <p:nvPr/>
        </p:nvSpPr>
        <p:spPr>
          <a:xfrm>
            <a:off x="9281160" y="1929384"/>
            <a:ext cx="23774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1993391"/>
            <a:ext cx="2194560" cy="347472"/>
          </a:xfrm>
          <a:prstGeom prst="rect">
            <a:avLst/>
          </a:prstGeom>
          <a:noFill/>
        </p:spPr>
        <p:txBody>
          <a:bodyPr wrap="square" lIns="0" rIns="0" tIns="0" bIns="0">
            <a:spAutoFit/>
          </a:bodyPr>
          <a:lstStyle/>
          <a:p>
            <a:pPr algn="l">
              <a:defRPr sz="950" b="0" i="0">
                <a:solidFill>
                  <a:srgbClr val="212121"/>
                </a:solidFill>
                <a:latin typeface="Calibri"/>
              </a:defRPr>
            </a:pPr>
            <a:r>
              <a:t>Vendor scope</a:t>
            </a:r>
          </a:p>
        </p:txBody>
      </p:sp>
      <p:sp>
        <p:nvSpPr>
          <p:cNvPr id="37" name="Rectangle 36"/>
          <p:cNvSpPr/>
          <p:nvPr/>
        </p:nvSpPr>
        <p:spPr>
          <a:xfrm>
            <a:off x="502920" y="2276856"/>
            <a:ext cx="5486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2340864"/>
            <a:ext cx="365759" cy="347472"/>
          </a:xfrm>
          <a:prstGeom prst="rect">
            <a:avLst/>
          </a:prstGeom>
          <a:noFill/>
        </p:spPr>
        <p:txBody>
          <a:bodyPr wrap="square" lIns="0" rIns="0" tIns="0" bIns="0">
            <a:spAutoFit/>
          </a:bodyPr>
          <a:lstStyle/>
          <a:p>
            <a:pPr algn="l">
              <a:defRPr sz="950" b="1" i="0">
                <a:solidFill>
                  <a:srgbClr val="212121"/>
                </a:solidFill>
                <a:latin typeface="Calibri"/>
              </a:defRPr>
            </a:pPr>
            <a:r>
              <a:t>3</a:t>
            </a:r>
          </a:p>
        </p:txBody>
      </p:sp>
      <p:sp>
        <p:nvSpPr>
          <p:cNvPr id="39" name="Rectangle 38"/>
          <p:cNvSpPr/>
          <p:nvPr/>
        </p:nvSpPr>
        <p:spPr>
          <a:xfrm>
            <a:off x="1051560" y="2276856"/>
            <a:ext cx="4114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2340864"/>
            <a:ext cx="3931920" cy="347472"/>
          </a:xfrm>
          <a:prstGeom prst="rect">
            <a:avLst/>
          </a:prstGeom>
          <a:noFill/>
        </p:spPr>
        <p:txBody>
          <a:bodyPr wrap="square" lIns="0" rIns="0" tIns="0" bIns="0">
            <a:spAutoFit/>
          </a:bodyPr>
          <a:lstStyle/>
          <a:p>
            <a:pPr algn="l">
              <a:defRPr sz="950" b="0" i="0">
                <a:solidFill>
                  <a:srgbClr val="212121"/>
                </a:solidFill>
                <a:latin typeface="Calibri"/>
              </a:defRPr>
            </a:pPr>
            <a:r>
              <a:t>Managers below 85%</a:t>
            </a:r>
          </a:p>
        </p:txBody>
      </p:sp>
      <p:sp>
        <p:nvSpPr>
          <p:cNvPr id="41" name="Rectangle 40"/>
          <p:cNvSpPr/>
          <p:nvPr/>
        </p:nvSpPr>
        <p:spPr>
          <a:xfrm>
            <a:off x="5166360" y="2276856"/>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57800" y="2340864"/>
            <a:ext cx="2103120" cy="347472"/>
          </a:xfrm>
          <a:prstGeom prst="rect">
            <a:avLst/>
          </a:prstGeom>
          <a:noFill/>
        </p:spPr>
        <p:txBody>
          <a:bodyPr wrap="square" lIns="0" rIns="0" tIns="0" bIns="0">
            <a:spAutoFit/>
          </a:bodyPr>
          <a:lstStyle/>
          <a:p>
            <a:pPr algn="l">
              <a:defRPr sz="950" b="0" i="0">
                <a:solidFill>
                  <a:srgbClr val="212121"/>
                </a:solidFill>
                <a:latin typeface="Calibri"/>
              </a:defRPr>
            </a:pPr>
            <a:r>
              <a:t>14 of 87</a:t>
            </a:r>
          </a:p>
        </p:txBody>
      </p:sp>
      <p:sp>
        <p:nvSpPr>
          <p:cNvPr id="43" name="Rectangle 42"/>
          <p:cNvSpPr/>
          <p:nvPr/>
        </p:nvSpPr>
        <p:spPr>
          <a:xfrm>
            <a:off x="7452360" y="2276856"/>
            <a:ext cx="1828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43800" y="2340864"/>
            <a:ext cx="1645920" cy="347472"/>
          </a:xfrm>
          <a:prstGeom prst="rect">
            <a:avLst/>
          </a:prstGeom>
          <a:noFill/>
        </p:spPr>
        <p:txBody>
          <a:bodyPr wrap="square" lIns="0" rIns="0" tIns="0" bIns="0">
            <a:spAutoFit/>
          </a:bodyPr>
          <a:lstStyle/>
          <a:p>
            <a:pPr algn="l">
              <a:defRPr sz="950" b="0" i="0">
                <a:solidFill>
                  <a:srgbClr val="B03A2E"/>
                </a:solidFill>
                <a:latin typeface="Calibri"/>
              </a:defRPr>
            </a:pPr>
            <a:r>
              <a:t>High</a:t>
            </a:r>
          </a:p>
        </p:txBody>
      </p:sp>
      <p:sp>
        <p:nvSpPr>
          <p:cNvPr id="45" name="Rectangle 44"/>
          <p:cNvSpPr/>
          <p:nvPr/>
        </p:nvSpPr>
        <p:spPr>
          <a:xfrm>
            <a:off x="9281160" y="2276856"/>
            <a:ext cx="23774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72600" y="2340864"/>
            <a:ext cx="2194560" cy="347472"/>
          </a:xfrm>
          <a:prstGeom prst="rect">
            <a:avLst/>
          </a:prstGeom>
          <a:noFill/>
        </p:spPr>
        <p:txBody>
          <a:bodyPr wrap="square" lIns="0" rIns="0" tIns="0" bIns="0">
            <a:spAutoFit/>
          </a:bodyPr>
          <a:lstStyle/>
          <a:p>
            <a:pPr algn="l">
              <a:defRPr sz="950" b="0" i="0">
                <a:solidFill>
                  <a:srgbClr val="212121"/>
                </a:solidFill>
                <a:latin typeface="Calibri"/>
              </a:defRPr>
            </a:pPr>
            <a:r>
              <a:t>Operations</a:t>
            </a:r>
          </a:p>
        </p:txBody>
      </p:sp>
      <p:sp>
        <p:nvSpPr>
          <p:cNvPr id="47" name="Rectangle 46"/>
          <p:cNvSpPr/>
          <p:nvPr/>
        </p:nvSpPr>
        <p:spPr>
          <a:xfrm>
            <a:off x="502920" y="2624328"/>
            <a:ext cx="548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688336"/>
            <a:ext cx="365759" cy="347472"/>
          </a:xfrm>
          <a:prstGeom prst="rect">
            <a:avLst/>
          </a:prstGeom>
          <a:noFill/>
        </p:spPr>
        <p:txBody>
          <a:bodyPr wrap="square" lIns="0" rIns="0" tIns="0" bIns="0">
            <a:spAutoFit/>
          </a:bodyPr>
          <a:lstStyle/>
          <a:p>
            <a:pPr algn="l">
              <a:defRPr sz="950" b="1" i="0">
                <a:solidFill>
                  <a:srgbClr val="212121"/>
                </a:solidFill>
                <a:latin typeface="Calibri"/>
              </a:defRPr>
            </a:pPr>
            <a:r>
              <a:t>4</a:t>
            </a:r>
          </a:p>
        </p:txBody>
      </p:sp>
      <p:sp>
        <p:nvSpPr>
          <p:cNvPr id="49" name="Rectangle 48"/>
          <p:cNvSpPr/>
          <p:nvPr/>
        </p:nvSpPr>
        <p:spPr>
          <a:xfrm>
            <a:off x="1051560" y="2624328"/>
            <a:ext cx="4114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3000" y="2688336"/>
            <a:ext cx="3931920" cy="347472"/>
          </a:xfrm>
          <a:prstGeom prst="rect">
            <a:avLst/>
          </a:prstGeom>
          <a:noFill/>
        </p:spPr>
        <p:txBody>
          <a:bodyPr wrap="square" lIns="0" rIns="0" tIns="0" bIns="0">
            <a:spAutoFit/>
          </a:bodyPr>
          <a:lstStyle/>
          <a:p>
            <a:pPr algn="l">
              <a:defRPr sz="950" b="0" i="0">
                <a:solidFill>
                  <a:srgbClr val="212121"/>
                </a:solidFill>
                <a:latin typeface="Calibri"/>
              </a:defRPr>
            </a:pPr>
            <a:r>
              <a:t>Entity resolution unresolved</a:t>
            </a:r>
          </a:p>
        </p:txBody>
      </p:sp>
      <p:sp>
        <p:nvSpPr>
          <p:cNvPr id="51" name="Rectangle 50"/>
          <p:cNvSpPr/>
          <p:nvPr/>
        </p:nvSpPr>
        <p:spPr>
          <a:xfrm>
            <a:off x="5166360" y="2624328"/>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57800" y="2688336"/>
            <a:ext cx="2103120" cy="347472"/>
          </a:xfrm>
          <a:prstGeom prst="rect">
            <a:avLst/>
          </a:prstGeom>
          <a:noFill/>
        </p:spPr>
        <p:txBody>
          <a:bodyPr wrap="square" lIns="0" rIns="0" tIns="0" bIns="0">
            <a:spAutoFit/>
          </a:bodyPr>
          <a:lstStyle/>
          <a:p>
            <a:pPr algn="l">
              <a:defRPr sz="950" b="0" i="0">
                <a:solidFill>
                  <a:srgbClr val="212121"/>
                </a:solidFill>
                <a:latin typeface="Calibri"/>
              </a:defRPr>
            </a:pPr>
            <a:r>
              <a:t>1,107 names</a:t>
            </a:r>
          </a:p>
        </p:txBody>
      </p:sp>
      <p:sp>
        <p:nvSpPr>
          <p:cNvPr id="53" name="Rectangle 52"/>
          <p:cNvSpPr/>
          <p:nvPr/>
        </p:nvSpPr>
        <p:spPr>
          <a:xfrm>
            <a:off x="7452360" y="2624328"/>
            <a:ext cx="1828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43800" y="2688336"/>
            <a:ext cx="1645920" cy="347472"/>
          </a:xfrm>
          <a:prstGeom prst="rect">
            <a:avLst/>
          </a:prstGeom>
          <a:noFill/>
        </p:spPr>
        <p:txBody>
          <a:bodyPr wrap="square" lIns="0" rIns="0" tIns="0" bIns="0">
            <a:spAutoFit/>
          </a:bodyPr>
          <a:lstStyle/>
          <a:p>
            <a:pPr algn="l">
              <a:defRPr sz="950" b="0" i="0">
                <a:solidFill>
                  <a:srgbClr val="212121"/>
                </a:solidFill>
                <a:latin typeface="Calibri"/>
              </a:defRPr>
            </a:pPr>
            <a:r>
              <a:t>Medium</a:t>
            </a:r>
          </a:p>
        </p:txBody>
      </p:sp>
      <p:sp>
        <p:nvSpPr>
          <p:cNvPr id="55" name="Rectangle 54"/>
          <p:cNvSpPr/>
          <p:nvPr/>
        </p:nvSpPr>
        <p:spPr>
          <a:xfrm>
            <a:off x="9281160" y="2624328"/>
            <a:ext cx="23774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72600" y="2688336"/>
            <a:ext cx="2194560" cy="347472"/>
          </a:xfrm>
          <a:prstGeom prst="rect">
            <a:avLst/>
          </a:prstGeom>
          <a:noFill/>
        </p:spPr>
        <p:txBody>
          <a:bodyPr wrap="square" lIns="0" rIns="0" tIns="0" bIns="0">
            <a:spAutoFit/>
          </a:bodyPr>
          <a:lstStyle/>
          <a:p>
            <a:pPr algn="l">
              <a:defRPr sz="950" b="0" i="0">
                <a:solidFill>
                  <a:srgbClr val="212121"/>
                </a:solidFill>
                <a:latin typeface="Calibri"/>
              </a:defRPr>
            </a:pPr>
            <a:r>
              <a:t>Phase 2</a:t>
            </a:r>
          </a:p>
        </p:txBody>
      </p:sp>
      <p:sp>
        <p:nvSpPr>
          <p:cNvPr id="57" name="Rectangle 56"/>
          <p:cNvSpPr/>
          <p:nvPr/>
        </p:nvSpPr>
        <p:spPr>
          <a:xfrm>
            <a:off x="502920" y="2971800"/>
            <a:ext cx="5486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3035808"/>
            <a:ext cx="365759" cy="347472"/>
          </a:xfrm>
          <a:prstGeom prst="rect">
            <a:avLst/>
          </a:prstGeom>
          <a:noFill/>
        </p:spPr>
        <p:txBody>
          <a:bodyPr wrap="square" lIns="0" rIns="0" tIns="0" bIns="0">
            <a:spAutoFit/>
          </a:bodyPr>
          <a:lstStyle/>
          <a:p>
            <a:pPr algn="l">
              <a:defRPr sz="950" b="1" i="0">
                <a:solidFill>
                  <a:srgbClr val="212121"/>
                </a:solidFill>
                <a:latin typeface="Calibri"/>
              </a:defRPr>
            </a:pPr>
            <a:r>
              <a:t>5</a:t>
            </a:r>
          </a:p>
        </p:txBody>
      </p:sp>
      <p:sp>
        <p:nvSpPr>
          <p:cNvPr id="59" name="Rectangle 58"/>
          <p:cNvSpPr/>
          <p:nvPr/>
        </p:nvSpPr>
        <p:spPr>
          <a:xfrm>
            <a:off x="1051560" y="2971800"/>
            <a:ext cx="4114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43000" y="3035808"/>
            <a:ext cx="3931920" cy="347472"/>
          </a:xfrm>
          <a:prstGeom prst="rect">
            <a:avLst/>
          </a:prstGeom>
          <a:noFill/>
        </p:spPr>
        <p:txBody>
          <a:bodyPr wrap="square" lIns="0" rIns="0" tIns="0" bIns="0">
            <a:spAutoFit/>
          </a:bodyPr>
          <a:lstStyle/>
          <a:p>
            <a:pPr algn="l">
              <a:defRPr sz="950" b="0" i="0">
                <a:solidFill>
                  <a:srgbClr val="212121"/>
                </a:solidFill>
                <a:latin typeface="Calibri"/>
              </a:defRPr>
            </a:pPr>
            <a:r>
              <a:t>Accounting entries as companies</a:t>
            </a:r>
          </a:p>
        </p:txBody>
      </p:sp>
      <p:sp>
        <p:nvSpPr>
          <p:cNvPr id="61" name="Rectangle 60"/>
          <p:cNvSpPr/>
          <p:nvPr/>
        </p:nvSpPr>
        <p:spPr>
          <a:xfrm>
            <a:off x="5166360" y="2971800"/>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57800" y="3035808"/>
            <a:ext cx="2103120" cy="347472"/>
          </a:xfrm>
          <a:prstGeom prst="rect">
            <a:avLst/>
          </a:prstGeom>
          <a:noFill/>
        </p:spPr>
        <p:txBody>
          <a:bodyPr wrap="square" lIns="0" rIns="0" tIns="0" bIns="0">
            <a:spAutoFit/>
          </a:bodyPr>
          <a:lstStyle/>
          <a:p>
            <a:pPr algn="l">
              <a:defRPr sz="950" b="0" i="0">
                <a:solidFill>
                  <a:srgbClr val="212121"/>
                </a:solidFill>
                <a:latin typeface="Calibri"/>
              </a:defRPr>
            </a:pPr>
            <a:r>
              <a:t>594 rows</a:t>
            </a:r>
          </a:p>
        </p:txBody>
      </p:sp>
      <p:sp>
        <p:nvSpPr>
          <p:cNvPr id="63" name="Rectangle 62"/>
          <p:cNvSpPr/>
          <p:nvPr/>
        </p:nvSpPr>
        <p:spPr>
          <a:xfrm>
            <a:off x="7452360" y="2971800"/>
            <a:ext cx="1828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543800" y="3035808"/>
            <a:ext cx="1645920" cy="347472"/>
          </a:xfrm>
          <a:prstGeom prst="rect">
            <a:avLst/>
          </a:prstGeom>
          <a:noFill/>
        </p:spPr>
        <p:txBody>
          <a:bodyPr wrap="square" lIns="0" rIns="0" tIns="0" bIns="0">
            <a:spAutoFit/>
          </a:bodyPr>
          <a:lstStyle/>
          <a:p>
            <a:pPr algn="l">
              <a:defRPr sz="950" b="0" i="0">
                <a:solidFill>
                  <a:srgbClr val="212121"/>
                </a:solidFill>
                <a:latin typeface="Calibri"/>
              </a:defRPr>
            </a:pPr>
            <a:r>
              <a:t>Resolved</a:t>
            </a:r>
          </a:p>
        </p:txBody>
      </p:sp>
      <p:sp>
        <p:nvSpPr>
          <p:cNvPr id="65" name="Rectangle 64"/>
          <p:cNvSpPr/>
          <p:nvPr/>
        </p:nvSpPr>
        <p:spPr>
          <a:xfrm>
            <a:off x="9281160" y="2971800"/>
            <a:ext cx="23774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72600" y="3035808"/>
            <a:ext cx="2194560" cy="347472"/>
          </a:xfrm>
          <a:prstGeom prst="rect">
            <a:avLst/>
          </a:prstGeom>
          <a:noFill/>
        </p:spPr>
        <p:txBody>
          <a:bodyPr wrap="square" lIns="0" rIns="0" tIns="0" bIns="0">
            <a:spAutoFit/>
          </a:bodyPr>
          <a:lstStyle/>
          <a:p>
            <a:pPr algn="l">
              <a:defRPr sz="950" b="0" i="0">
                <a:solidFill>
                  <a:srgbClr val="212121"/>
                </a:solidFill>
                <a:latin typeface="Calibri"/>
              </a:defRPr>
            </a:pPr>
            <a:r>
              <a:t>Fixed</a:t>
            </a:r>
          </a:p>
        </p:txBody>
      </p:sp>
      <p:sp>
        <p:nvSpPr>
          <p:cNvPr id="67" name="Rectangle 66"/>
          <p:cNvSpPr/>
          <p:nvPr/>
        </p:nvSpPr>
        <p:spPr>
          <a:xfrm>
            <a:off x="502920" y="3319272"/>
            <a:ext cx="548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94360" y="3383279"/>
            <a:ext cx="365759" cy="347472"/>
          </a:xfrm>
          <a:prstGeom prst="rect">
            <a:avLst/>
          </a:prstGeom>
          <a:noFill/>
        </p:spPr>
        <p:txBody>
          <a:bodyPr wrap="square" lIns="0" rIns="0" tIns="0" bIns="0">
            <a:spAutoFit/>
          </a:bodyPr>
          <a:lstStyle/>
          <a:p>
            <a:pPr algn="l">
              <a:defRPr sz="950" b="1" i="0">
                <a:solidFill>
                  <a:srgbClr val="212121"/>
                </a:solidFill>
                <a:latin typeface="Calibri"/>
              </a:defRPr>
            </a:pPr>
            <a:r>
              <a:t>6</a:t>
            </a:r>
          </a:p>
        </p:txBody>
      </p:sp>
      <p:sp>
        <p:nvSpPr>
          <p:cNvPr id="69" name="Rectangle 68"/>
          <p:cNvSpPr/>
          <p:nvPr/>
        </p:nvSpPr>
        <p:spPr>
          <a:xfrm>
            <a:off x="1051560" y="3319272"/>
            <a:ext cx="4114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43000" y="3383279"/>
            <a:ext cx="3931920" cy="347472"/>
          </a:xfrm>
          <a:prstGeom prst="rect">
            <a:avLst/>
          </a:prstGeom>
          <a:noFill/>
        </p:spPr>
        <p:txBody>
          <a:bodyPr wrap="square" lIns="0" rIns="0" tIns="0" bIns="0">
            <a:spAutoFit/>
          </a:bodyPr>
          <a:lstStyle/>
          <a:p>
            <a:pPr algn="l">
              <a:defRPr sz="950" b="0" i="0">
                <a:solidFill>
                  <a:srgbClr val="212121"/>
                </a:solidFill>
                <a:latin typeface="Calibri"/>
              </a:defRPr>
            </a:pPr>
            <a:r>
              <a:t>Deal Status blank</a:t>
            </a:r>
          </a:p>
        </p:txBody>
      </p:sp>
      <p:sp>
        <p:nvSpPr>
          <p:cNvPr id="71" name="Rectangle 70"/>
          <p:cNvSpPr/>
          <p:nvPr/>
        </p:nvSpPr>
        <p:spPr>
          <a:xfrm>
            <a:off x="5166360" y="3319272"/>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57800" y="3383279"/>
            <a:ext cx="2103120" cy="347472"/>
          </a:xfrm>
          <a:prstGeom prst="rect">
            <a:avLst/>
          </a:prstGeom>
          <a:noFill/>
        </p:spPr>
        <p:txBody>
          <a:bodyPr wrap="square" lIns="0" rIns="0" tIns="0" bIns="0">
            <a:spAutoFit/>
          </a:bodyPr>
          <a:lstStyle/>
          <a:p>
            <a:pPr algn="l">
              <a:defRPr sz="950" b="0" i="0">
                <a:solidFill>
                  <a:srgbClr val="212121"/>
                </a:solidFill>
                <a:latin typeface="Calibri"/>
              </a:defRPr>
            </a:pPr>
            <a:r>
              <a:t>6,639 rows</a:t>
            </a:r>
          </a:p>
        </p:txBody>
      </p:sp>
      <p:sp>
        <p:nvSpPr>
          <p:cNvPr id="73" name="Rectangle 72"/>
          <p:cNvSpPr/>
          <p:nvPr/>
        </p:nvSpPr>
        <p:spPr>
          <a:xfrm>
            <a:off x="7452360" y="3319272"/>
            <a:ext cx="1828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43800" y="3383279"/>
            <a:ext cx="1645920" cy="347472"/>
          </a:xfrm>
          <a:prstGeom prst="rect">
            <a:avLst/>
          </a:prstGeom>
          <a:noFill/>
        </p:spPr>
        <p:txBody>
          <a:bodyPr wrap="square" lIns="0" rIns="0" tIns="0" bIns="0">
            <a:spAutoFit/>
          </a:bodyPr>
          <a:lstStyle/>
          <a:p>
            <a:pPr algn="l">
              <a:defRPr sz="950" b="0" i="0">
                <a:solidFill>
                  <a:srgbClr val="212121"/>
                </a:solidFill>
                <a:latin typeface="Calibri"/>
              </a:defRPr>
            </a:pPr>
            <a:r>
              <a:t>Medium</a:t>
            </a:r>
          </a:p>
        </p:txBody>
      </p:sp>
      <p:sp>
        <p:nvSpPr>
          <p:cNvPr id="75" name="Rectangle 74"/>
          <p:cNvSpPr/>
          <p:nvPr/>
        </p:nvSpPr>
        <p:spPr>
          <a:xfrm>
            <a:off x="9281160" y="3319272"/>
            <a:ext cx="23774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72600" y="3383279"/>
            <a:ext cx="2194560" cy="347472"/>
          </a:xfrm>
          <a:prstGeom prst="rect">
            <a:avLst/>
          </a:prstGeom>
          <a:noFill/>
        </p:spPr>
        <p:txBody>
          <a:bodyPr wrap="square" lIns="0" rIns="0" tIns="0" bIns="0">
            <a:spAutoFit/>
          </a:bodyPr>
          <a:lstStyle/>
          <a:p>
            <a:pPr algn="l">
              <a:defRPr sz="950" b="0" i="0">
                <a:solidFill>
                  <a:srgbClr val="212121"/>
                </a:solidFill>
                <a:latin typeface="Calibri"/>
              </a:defRPr>
            </a:pPr>
            <a:r>
              <a:t>GP follow-up</a:t>
            </a:r>
          </a:p>
        </p:txBody>
      </p:sp>
      <p:sp>
        <p:nvSpPr>
          <p:cNvPr id="77" name="Rectangle 76"/>
          <p:cNvSpPr/>
          <p:nvPr/>
        </p:nvSpPr>
        <p:spPr>
          <a:xfrm>
            <a:off x="502920" y="3666744"/>
            <a:ext cx="5486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94360" y="3730752"/>
            <a:ext cx="365759" cy="347472"/>
          </a:xfrm>
          <a:prstGeom prst="rect">
            <a:avLst/>
          </a:prstGeom>
          <a:noFill/>
        </p:spPr>
        <p:txBody>
          <a:bodyPr wrap="square" lIns="0" rIns="0" tIns="0" bIns="0">
            <a:spAutoFit/>
          </a:bodyPr>
          <a:lstStyle/>
          <a:p>
            <a:pPr algn="l">
              <a:defRPr sz="950" b="1" i="0">
                <a:solidFill>
                  <a:srgbClr val="212121"/>
                </a:solidFill>
                <a:latin typeface="Calibri"/>
              </a:defRPr>
            </a:pPr>
            <a:r>
              <a:t>7</a:t>
            </a:r>
          </a:p>
        </p:txBody>
      </p:sp>
      <p:sp>
        <p:nvSpPr>
          <p:cNvPr id="79" name="Rectangle 78"/>
          <p:cNvSpPr/>
          <p:nvPr/>
        </p:nvSpPr>
        <p:spPr>
          <a:xfrm>
            <a:off x="1051560" y="3666744"/>
            <a:ext cx="4114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43000" y="3730752"/>
            <a:ext cx="3931920" cy="347472"/>
          </a:xfrm>
          <a:prstGeom prst="rect">
            <a:avLst/>
          </a:prstGeom>
          <a:noFill/>
        </p:spPr>
        <p:txBody>
          <a:bodyPr wrap="square" lIns="0" rIns="0" tIns="0" bIns="0">
            <a:spAutoFit/>
          </a:bodyPr>
          <a:lstStyle/>
          <a:p>
            <a:pPr algn="l">
              <a:defRPr sz="950" b="0" i="0">
                <a:solidFill>
                  <a:srgbClr val="212121"/>
                </a:solidFill>
                <a:latin typeface="Calibri"/>
              </a:defRPr>
            </a:pPr>
            <a:r>
              <a:t>Real assets mis-scored</a:t>
            </a:r>
          </a:p>
        </p:txBody>
      </p:sp>
      <p:sp>
        <p:nvSpPr>
          <p:cNvPr id="81" name="Rectangle 80"/>
          <p:cNvSpPr/>
          <p:nvPr/>
        </p:nvSpPr>
        <p:spPr>
          <a:xfrm>
            <a:off x="5166360" y="3666744"/>
            <a:ext cx="22860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257800" y="3730752"/>
            <a:ext cx="2103120" cy="347472"/>
          </a:xfrm>
          <a:prstGeom prst="rect">
            <a:avLst/>
          </a:prstGeom>
          <a:noFill/>
        </p:spPr>
        <p:txBody>
          <a:bodyPr wrap="square" lIns="0" rIns="0" tIns="0" bIns="0">
            <a:spAutoFit/>
          </a:bodyPr>
          <a:lstStyle/>
          <a:p>
            <a:pPr algn="l">
              <a:defRPr sz="950" b="0" i="0">
                <a:solidFill>
                  <a:srgbClr val="212121"/>
                </a:solidFill>
                <a:latin typeface="Calibri"/>
              </a:defRPr>
            </a:pPr>
            <a:r>
              <a:t>997 rows</a:t>
            </a:r>
          </a:p>
        </p:txBody>
      </p:sp>
      <p:sp>
        <p:nvSpPr>
          <p:cNvPr id="83" name="Rectangle 82"/>
          <p:cNvSpPr/>
          <p:nvPr/>
        </p:nvSpPr>
        <p:spPr>
          <a:xfrm>
            <a:off x="7452360" y="3666744"/>
            <a:ext cx="182880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543800" y="3730752"/>
            <a:ext cx="1645920" cy="347472"/>
          </a:xfrm>
          <a:prstGeom prst="rect">
            <a:avLst/>
          </a:prstGeom>
          <a:noFill/>
        </p:spPr>
        <p:txBody>
          <a:bodyPr wrap="square" lIns="0" rIns="0" tIns="0" bIns="0">
            <a:spAutoFit/>
          </a:bodyPr>
          <a:lstStyle/>
          <a:p>
            <a:pPr algn="l">
              <a:defRPr sz="950" b="0" i="0">
                <a:solidFill>
                  <a:srgbClr val="212121"/>
                </a:solidFill>
                <a:latin typeface="Calibri"/>
              </a:defRPr>
            </a:pPr>
            <a:r>
              <a:t>Low</a:t>
            </a:r>
          </a:p>
        </p:txBody>
      </p:sp>
      <p:sp>
        <p:nvSpPr>
          <p:cNvPr id="85" name="Rectangle 84"/>
          <p:cNvSpPr/>
          <p:nvPr/>
        </p:nvSpPr>
        <p:spPr>
          <a:xfrm>
            <a:off x="9281160" y="3666744"/>
            <a:ext cx="2377440" cy="34747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372600" y="3730752"/>
            <a:ext cx="2194560" cy="347472"/>
          </a:xfrm>
          <a:prstGeom prst="rect">
            <a:avLst/>
          </a:prstGeom>
          <a:noFill/>
        </p:spPr>
        <p:txBody>
          <a:bodyPr wrap="square" lIns="0" rIns="0" tIns="0" bIns="0">
            <a:spAutoFit/>
          </a:bodyPr>
          <a:lstStyle/>
          <a:p>
            <a:pPr algn="l">
              <a:defRPr sz="950" b="0" i="0">
                <a:solidFill>
                  <a:srgbClr val="212121"/>
                </a:solidFill>
                <a:latin typeface="Calibri"/>
              </a:defRPr>
            </a:pPr>
            <a:r>
              <a:t>Redefine metric</a:t>
            </a:r>
          </a:p>
        </p:txBody>
      </p:sp>
      <p:sp>
        <p:nvSpPr>
          <p:cNvPr id="87" name="Rectangle 86"/>
          <p:cNvSpPr/>
          <p:nvPr/>
        </p:nvSpPr>
        <p:spPr>
          <a:xfrm>
            <a:off x="502920" y="4014216"/>
            <a:ext cx="5486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94360" y="4078224"/>
            <a:ext cx="365759" cy="347472"/>
          </a:xfrm>
          <a:prstGeom prst="rect">
            <a:avLst/>
          </a:prstGeom>
          <a:noFill/>
        </p:spPr>
        <p:txBody>
          <a:bodyPr wrap="square" lIns="0" rIns="0" tIns="0" bIns="0">
            <a:spAutoFit/>
          </a:bodyPr>
          <a:lstStyle/>
          <a:p>
            <a:pPr algn="l">
              <a:defRPr sz="950" b="1" i="0">
                <a:solidFill>
                  <a:srgbClr val="212121"/>
                </a:solidFill>
                <a:latin typeface="Calibri"/>
              </a:defRPr>
            </a:pPr>
            <a:r>
              <a:t>8</a:t>
            </a:r>
          </a:p>
        </p:txBody>
      </p:sp>
      <p:sp>
        <p:nvSpPr>
          <p:cNvPr id="89" name="Rectangle 88"/>
          <p:cNvSpPr/>
          <p:nvPr/>
        </p:nvSpPr>
        <p:spPr>
          <a:xfrm>
            <a:off x="1051560" y="4014216"/>
            <a:ext cx="4114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3000" y="4078224"/>
            <a:ext cx="3931920" cy="347472"/>
          </a:xfrm>
          <a:prstGeom prst="rect">
            <a:avLst/>
          </a:prstGeom>
          <a:noFill/>
        </p:spPr>
        <p:txBody>
          <a:bodyPr wrap="square" lIns="0" rIns="0" tIns="0" bIns="0">
            <a:spAutoFit/>
          </a:bodyPr>
          <a:lstStyle/>
          <a:p>
            <a:pPr algn="l">
              <a:defRPr sz="950" b="0" i="0">
                <a:solidFill>
                  <a:srgbClr val="212121"/>
                </a:solidFill>
                <a:latin typeface="Calibri"/>
              </a:defRPr>
            </a:pPr>
            <a:r>
              <a:t>Severe fund outliers</a:t>
            </a:r>
          </a:p>
        </p:txBody>
      </p:sp>
      <p:sp>
        <p:nvSpPr>
          <p:cNvPr id="91" name="Rectangle 90"/>
          <p:cNvSpPr/>
          <p:nvPr/>
        </p:nvSpPr>
        <p:spPr>
          <a:xfrm>
            <a:off x="5166360" y="4014216"/>
            <a:ext cx="22860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257800" y="4078224"/>
            <a:ext cx="2103120" cy="347472"/>
          </a:xfrm>
          <a:prstGeom prst="rect">
            <a:avLst/>
          </a:prstGeom>
          <a:noFill/>
        </p:spPr>
        <p:txBody>
          <a:bodyPr wrap="square" lIns="0" rIns="0" tIns="0" bIns="0">
            <a:spAutoFit/>
          </a:bodyPr>
          <a:lstStyle/>
          <a:p>
            <a:pPr algn="l">
              <a:defRPr sz="950" b="0" i="0">
                <a:solidFill>
                  <a:srgbClr val="212121"/>
                </a:solidFill>
                <a:latin typeface="Calibri"/>
              </a:defRPr>
            </a:pPr>
            <a:r>
              <a:t>3 funds below 48%</a:t>
            </a:r>
          </a:p>
        </p:txBody>
      </p:sp>
      <p:sp>
        <p:nvSpPr>
          <p:cNvPr id="93" name="Rectangle 92"/>
          <p:cNvSpPr/>
          <p:nvPr/>
        </p:nvSpPr>
        <p:spPr>
          <a:xfrm>
            <a:off x="7452360" y="4014216"/>
            <a:ext cx="1828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543800" y="4078224"/>
            <a:ext cx="1645920" cy="347472"/>
          </a:xfrm>
          <a:prstGeom prst="rect">
            <a:avLst/>
          </a:prstGeom>
          <a:noFill/>
        </p:spPr>
        <p:txBody>
          <a:bodyPr wrap="square" lIns="0" rIns="0" tIns="0" bIns="0">
            <a:spAutoFit/>
          </a:bodyPr>
          <a:lstStyle/>
          <a:p>
            <a:pPr algn="l">
              <a:defRPr sz="950" b="0" i="0">
                <a:solidFill>
                  <a:srgbClr val="B03A2E"/>
                </a:solidFill>
                <a:latin typeface="Calibri"/>
              </a:defRPr>
            </a:pPr>
            <a:r>
              <a:t>High</a:t>
            </a:r>
          </a:p>
        </p:txBody>
      </p:sp>
      <p:sp>
        <p:nvSpPr>
          <p:cNvPr id="95" name="Rectangle 94"/>
          <p:cNvSpPr/>
          <p:nvPr/>
        </p:nvSpPr>
        <p:spPr>
          <a:xfrm>
            <a:off x="9281160" y="4014216"/>
            <a:ext cx="237744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372600" y="4078224"/>
            <a:ext cx="2194560" cy="347472"/>
          </a:xfrm>
          <a:prstGeom prst="rect">
            <a:avLst/>
          </a:prstGeom>
          <a:noFill/>
        </p:spPr>
        <p:txBody>
          <a:bodyPr wrap="square" lIns="0" rIns="0" tIns="0" bIns="0">
            <a:spAutoFit/>
          </a:bodyPr>
          <a:lstStyle/>
          <a:p>
            <a:pPr algn="l">
              <a:defRPr sz="950" b="0" i="0">
                <a:solidFill>
                  <a:srgbClr val="212121"/>
                </a:solidFill>
                <a:latin typeface="Calibri"/>
              </a:defRPr>
            </a:pPr>
            <a:r>
              <a:t>Operations</a:t>
            </a:r>
          </a:p>
        </p:txBody>
      </p:sp>
      <p:sp>
        <p:nvSpPr>
          <p:cNvPr id="97" name="Rectangle 96"/>
          <p:cNvSpPr/>
          <p:nvPr/>
        </p:nvSpPr>
        <p:spPr>
          <a:xfrm>
            <a:off x="502920" y="4617720"/>
            <a:ext cx="11185855" cy="91440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02920" y="4617720"/>
            <a:ext cx="50292" cy="9144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13232" y="4736592"/>
            <a:ext cx="10774375" cy="731520"/>
          </a:xfrm>
          <a:prstGeom prst="rect">
            <a:avLst/>
          </a:prstGeom>
          <a:noFill/>
        </p:spPr>
        <p:txBody>
          <a:bodyPr wrap="square" lIns="0" rIns="0" tIns="0" bIns="0">
            <a:spAutoFit/>
          </a:bodyPr>
          <a:lstStyle/>
          <a:p>
            <a:pPr algn="l">
              <a:defRPr sz="1050" b="0" i="0">
                <a:solidFill>
                  <a:srgbClr val="212121"/>
                </a:solidFill>
                <a:latin typeface="Calibri"/>
              </a:defRPr>
            </a:pPr>
            <a:r>
              <a:t>Two of the top three findings are not GP failures — they are extraction-scope and field-definition questions that belong with the vendor. Sequencing those first avoids sending Operations to chase data the GPs already sent.</a:t>
            </a:r>
          </a:p>
        </p:txBody>
      </p:sp>
      <p:sp>
        <p:nvSpPr>
          <p:cNvPr id="100" name="Rectangle 99"/>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Severity weighted by rows affected and analytical impact</a:t>
            </a:r>
          </a:p>
        </p:txBody>
      </p:sp>
      <p:sp>
        <p:nvSpPr>
          <p:cNvPr id="102" name="TextBox 101"/>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ACTIONS</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Recommendations</a:t>
            </a:r>
          </a:p>
        </p:txBody>
      </p:sp>
      <p:sp>
        <p:nvSpPr>
          <p:cNvPr id="7" name="Rectangle 6"/>
          <p:cNvSpPr/>
          <p:nvPr/>
        </p:nvSpPr>
        <p:spPr>
          <a:xfrm>
            <a:off x="502920" y="1207008"/>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0744"/>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01</a:t>
            </a:r>
          </a:p>
        </p:txBody>
      </p:sp>
      <p:sp>
        <p:nvSpPr>
          <p:cNvPr id="9" name="Rectangle 8"/>
          <p:cNvSpPr/>
          <p:nvPr/>
        </p:nvSpPr>
        <p:spPr>
          <a:xfrm>
            <a:off x="960120" y="1207008"/>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1280160"/>
            <a:ext cx="7955279" cy="256032"/>
          </a:xfrm>
          <a:prstGeom prst="rect">
            <a:avLst/>
          </a:prstGeom>
          <a:noFill/>
        </p:spPr>
        <p:txBody>
          <a:bodyPr wrap="square" lIns="0" rIns="0" tIns="0" bIns="0">
            <a:spAutoFit/>
          </a:bodyPr>
          <a:lstStyle/>
          <a:p>
            <a:pPr algn="l">
              <a:defRPr sz="1050" b="1" i="0">
                <a:solidFill>
                  <a:srgbClr val="212121"/>
                </a:solidFill>
                <a:latin typeface="Calibri"/>
              </a:defRPr>
            </a:pPr>
            <a:r>
              <a:t>Resolve Capital Invested and Total Value with the vendor</a:t>
            </a:r>
          </a:p>
        </p:txBody>
      </p:sp>
      <p:sp>
        <p:nvSpPr>
          <p:cNvPr id="11" name="TextBox 10"/>
          <p:cNvSpPr txBox="1"/>
          <p:nvPr/>
        </p:nvSpPr>
        <p:spPr>
          <a:xfrm>
            <a:off x="1170432" y="1499616"/>
            <a:ext cx="7955279" cy="274320"/>
          </a:xfrm>
          <a:prstGeom prst="rect">
            <a:avLst/>
          </a:prstGeom>
          <a:noFill/>
        </p:spPr>
        <p:txBody>
          <a:bodyPr wrap="square" lIns="0" rIns="0" tIns="0" bIns="0">
            <a:spAutoFit/>
          </a:bodyPr>
          <a:lstStyle/>
          <a:p>
            <a:pPr algn="l">
              <a:defRPr sz="850" b="0" i="0">
                <a:solidFill>
                  <a:srgbClr val="6E6E6E"/>
                </a:solidFill>
                <a:latin typeface="Calibri"/>
              </a:defRPr>
            </a:pPr>
            <a:r>
              <a:t>Confirm whether the 67 and 58 zero-fill funds are contractual exclusions or extraction misses. Nothing else should be chased until this is settled.</a:t>
            </a:r>
          </a:p>
        </p:txBody>
      </p:sp>
      <p:sp>
        <p:nvSpPr>
          <p:cNvPr id="12" name="Rectangle 11"/>
          <p:cNvSpPr/>
          <p:nvPr/>
        </p:nvSpPr>
        <p:spPr>
          <a:xfrm>
            <a:off x="9326880" y="1207008"/>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1408176"/>
            <a:ext cx="1234440" cy="274320"/>
          </a:xfrm>
          <a:prstGeom prst="rect">
            <a:avLst/>
          </a:prstGeom>
          <a:noFill/>
        </p:spPr>
        <p:txBody>
          <a:bodyPr wrap="square" lIns="0" rIns="0" tIns="0" bIns="0">
            <a:spAutoFit/>
          </a:bodyPr>
          <a:lstStyle/>
          <a:p>
            <a:pPr algn="ctr">
              <a:defRPr sz="850" b="1" i="0">
                <a:solidFill>
                  <a:srgbClr val="4682B4"/>
                </a:solidFill>
                <a:latin typeface="Calibri"/>
              </a:defRPr>
            </a:pPr>
            <a:r>
              <a:t>Vendor</a:t>
            </a:r>
          </a:p>
        </p:txBody>
      </p:sp>
      <p:sp>
        <p:nvSpPr>
          <p:cNvPr id="14" name="Rectangle 13"/>
          <p:cNvSpPr/>
          <p:nvPr/>
        </p:nvSpPr>
        <p:spPr>
          <a:xfrm>
            <a:off x="10561320" y="1207008"/>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408176"/>
            <a:ext cx="1124712" cy="274320"/>
          </a:xfrm>
          <a:prstGeom prst="rect">
            <a:avLst/>
          </a:prstGeom>
          <a:noFill/>
        </p:spPr>
        <p:txBody>
          <a:bodyPr wrap="square" lIns="0" rIns="0" tIns="0" bIns="0">
            <a:spAutoFit/>
          </a:bodyPr>
          <a:lstStyle/>
          <a:p>
            <a:pPr algn="ctr">
              <a:defRPr sz="850" b="1" i="0">
                <a:solidFill>
                  <a:srgbClr val="212121"/>
                </a:solidFill>
                <a:latin typeface="Calibri"/>
              </a:defRPr>
            </a:pPr>
            <a:r>
              <a:t>Immediate</a:t>
            </a:r>
          </a:p>
        </p:txBody>
      </p:sp>
      <p:sp>
        <p:nvSpPr>
          <p:cNvPr id="16" name="Rectangle 15"/>
          <p:cNvSpPr/>
          <p:nvPr/>
        </p:nvSpPr>
        <p:spPr>
          <a:xfrm>
            <a:off x="502920" y="1901952"/>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075688"/>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02</a:t>
            </a:r>
          </a:p>
        </p:txBody>
      </p:sp>
      <p:sp>
        <p:nvSpPr>
          <p:cNvPr id="18" name="Rectangle 17"/>
          <p:cNvSpPr/>
          <p:nvPr/>
        </p:nvSpPr>
        <p:spPr>
          <a:xfrm>
            <a:off x="960120" y="1901952"/>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1975104"/>
            <a:ext cx="7955279" cy="256032"/>
          </a:xfrm>
          <a:prstGeom prst="rect">
            <a:avLst/>
          </a:prstGeom>
          <a:noFill/>
        </p:spPr>
        <p:txBody>
          <a:bodyPr wrap="square" lIns="0" rIns="0" tIns="0" bIns="0">
            <a:spAutoFit/>
          </a:bodyPr>
          <a:lstStyle/>
          <a:p>
            <a:pPr algn="l">
              <a:defRPr sz="1050" b="1" i="0">
                <a:solidFill>
                  <a:srgbClr val="212121"/>
                </a:solidFill>
                <a:latin typeface="Calibri"/>
              </a:defRPr>
            </a:pPr>
            <a:r>
              <a:t>Decide the net-return question explicitly</a:t>
            </a:r>
          </a:p>
        </p:txBody>
      </p:sp>
      <p:sp>
        <p:nvSpPr>
          <p:cNvPr id="20" name="TextBox 19"/>
          <p:cNvSpPr txBox="1"/>
          <p:nvPr/>
        </p:nvSpPr>
        <p:spPr>
          <a:xfrm>
            <a:off x="1170432" y="2194560"/>
            <a:ext cx="7955279" cy="274320"/>
          </a:xfrm>
          <a:prstGeom prst="rect">
            <a:avLst/>
          </a:prstGeom>
          <a:noFill/>
        </p:spPr>
        <p:txBody>
          <a:bodyPr wrap="square" lIns="0" rIns="0" tIns="0" bIns="0">
            <a:spAutoFit/>
          </a:bodyPr>
          <a:lstStyle/>
          <a:p>
            <a:pPr algn="l">
              <a:defRPr sz="850" b="0" i="0">
                <a:solidFill>
                  <a:srgbClr val="6E6E6E"/>
                </a:solidFill>
                <a:latin typeface="Calibri"/>
              </a:defRPr>
            </a:pPr>
            <a:r>
              <a:t>Bring capital account statements into scope, or record that net performance is out of scope for this extract.</a:t>
            </a:r>
          </a:p>
        </p:txBody>
      </p:sp>
      <p:sp>
        <p:nvSpPr>
          <p:cNvPr id="21" name="Rectangle 20"/>
          <p:cNvSpPr/>
          <p:nvPr/>
        </p:nvSpPr>
        <p:spPr>
          <a:xfrm>
            <a:off x="9326880" y="1901952"/>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2103120"/>
            <a:ext cx="1234440" cy="274320"/>
          </a:xfrm>
          <a:prstGeom prst="rect">
            <a:avLst/>
          </a:prstGeom>
          <a:noFill/>
        </p:spPr>
        <p:txBody>
          <a:bodyPr wrap="square" lIns="0" rIns="0" tIns="0" bIns="0">
            <a:spAutoFit/>
          </a:bodyPr>
          <a:lstStyle/>
          <a:p>
            <a:pPr algn="ctr">
              <a:defRPr sz="850" b="1" i="0">
                <a:solidFill>
                  <a:srgbClr val="4682B4"/>
                </a:solidFill>
                <a:latin typeface="Calibri"/>
              </a:defRPr>
            </a:pPr>
            <a:r>
              <a:t>Vendor</a:t>
            </a:r>
          </a:p>
        </p:txBody>
      </p:sp>
      <p:sp>
        <p:nvSpPr>
          <p:cNvPr id="23" name="Rectangle 22"/>
          <p:cNvSpPr/>
          <p:nvPr/>
        </p:nvSpPr>
        <p:spPr>
          <a:xfrm>
            <a:off x="10561320" y="1901952"/>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2103120"/>
            <a:ext cx="1124712" cy="274320"/>
          </a:xfrm>
          <a:prstGeom prst="rect">
            <a:avLst/>
          </a:prstGeom>
          <a:noFill/>
        </p:spPr>
        <p:txBody>
          <a:bodyPr wrap="square" lIns="0" rIns="0" tIns="0" bIns="0">
            <a:spAutoFit/>
          </a:bodyPr>
          <a:lstStyle/>
          <a:p>
            <a:pPr algn="ctr">
              <a:defRPr sz="850" b="1" i="0">
                <a:solidFill>
                  <a:srgbClr val="212121"/>
                </a:solidFill>
                <a:latin typeface="Calibri"/>
              </a:defRPr>
            </a:pPr>
            <a:r>
              <a:t>Immediate</a:t>
            </a:r>
          </a:p>
        </p:txBody>
      </p:sp>
      <p:sp>
        <p:nvSpPr>
          <p:cNvPr id="25" name="Rectangle 24"/>
          <p:cNvSpPr/>
          <p:nvPr/>
        </p:nvSpPr>
        <p:spPr>
          <a:xfrm>
            <a:off x="502920" y="2596896"/>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770632"/>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03</a:t>
            </a:r>
          </a:p>
        </p:txBody>
      </p:sp>
      <p:sp>
        <p:nvSpPr>
          <p:cNvPr id="27" name="Rectangle 26"/>
          <p:cNvSpPr/>
          <p:nvPr/>
        </p:nvSpPr>
        <p:spPr>
          <a:xfrm>
            <a:off x="960120" y="2596896"/>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0432" y="2670048"/>
            <a:ext cx="7955279" cy="256032"/>
          </a:xfrm>
          <a:prstGeom prst="rect">
            <a:avLst/>
          </a:prstGeom>
          <a:noFill/>
        </p:spPr>
        <p:txBody>
          <a:bodyPr wrap="square" lIns="0" rIns="0" tIns="0" bIns="0">
            <a:spAutoFit/>
          </a:bodyPr>
          <a:lstStyle/>
          <a:p>
            <a:pPr algn="l">
              <a:defRPr sz="1050" b="1" i="0">
                <a:solidFill>
                  <a:srgbClr val="212121"/>
                </a:solidFill>
                <a:latin typeface="Calibri"/>
              </a:defRPr>
            </a:pPr>
            <a:r>
              <a:t>Tier manager outreach</a:t>
            </a:r>
          </a:p>
        </p:txBody>
      </p:sp>
      <p:sp>
        <p:nvSpPr>
          <p:cNvPr id="29" name="TextBox 28"/>
          <p:cNvSpPr txBox="1"/>
          <p:nvPr/>
        </p:nvSpPr>
        <p:spPr>
          <a:xfrm>
            <a:off x="1170432" y="2889503"/>
            <a:ext cx="7955279" cy="274320"/>
          </a:xfrm>
          <a:prstGeom prst="rect">
            <a:avLst/>
          </a:prstGeom>
          <a:noFill/>
        </p:spPr>
        <p:txBody>
          <a:bodyPr wrap="square" lIns="0" rIns="0" tIns="0" bIns="0">
            <a:spAutoFit/>
          </a:bodyPr>
          <a:lstStyle/>
          <a:p>
            <a:pPr algn="l">
              <a:defRPr sz="850" b="0" i="0">
                <a:solidFill>
                  <a:srgbClr val="6E6E6E"/>
                </a:solidFill>
                <a:latin typeface="Calibri"/>
              </a:defRPr>
            </a:pPr>
            <a:r>
              <a:t>Tier 1: 3 GPs below 60%. Tier 2: 11 GPs at 60–85%. Tier 3: high-spread GPs, raised per fund rather than per relationship.</a:t>
            </a:r>
          </a:p>
        </p:txBody>
      </p:sp>
      <p:sp>
        <p:nvSpPr>
          <p:cNvPr id="30" name="Rectangle 29"/>
          <p:cNvSpPr/>
          <p:nvPr/>
        </p:nvSpPr>
        <p:spPr>
          <a:xfrm>
            <a:off x="9326880" y="2596896"/>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798064"/>
            <a:ext cx="1234440" cy="274320"/>
          </a:xfrm>
          <a:prstGeom prst="rect">
            <a:avLst/>
          </a:prstGeom>
          <a:noFill/>
        </p:spPr>
        <p:txBody>
          <a:bodyPr wrap="square" lIns="0" rIns="0" tIns="0" bIns="0">
            <a:spAutoFit/>
          </a:bodyPr>
          <a:lstStyle/>
          <a:p>
            <a:pPr algn="ctr">
              <a:defRPr sz="850" b="1" i="0">
                <a:solidFill>
                  <a:srgbClr val="4682B4"/>
                </a:solidFill>
                <a:latin typeface="Calibri"/>
              </a:defRPr>
            </a:pPr>
            <a:r>
              <a:t>Operations</a:t>
            </a:r>
          </a:p>
        </p:txBody>
      </p:sp>
      <p:sp>
        <p:nvSpPr>
          <p:cNvPr id="32" name="Rectangle 31"/>
          <p:cNvSpPr/>
          <p:nvPr/>
        </p:nvSpPr>
        <p:spPr>
          <a:xfrm>
            <a:off x="10561320" y="2596896"/>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61320" y="2798064"/>
            <a:ext cx="1124712" cy="274320"/>
          </a:xfrm>
          <a:prstGeom prst="rect">
            <a:avLst/>
          </a:prstGeom>
          <a:noFill/>
        </p:spPr>
        <p:txBody>
          <a:bodyPr wrap="square" lIns="0" rIns="0" tIns="0" bIns="0">
            <a:spAutoFit/>
          </a:bodyPr>
          <a:lstStyle/>
          <a:p>
            <a:pPr algn="ctr">
              <a:defRPr sz="850" b="1" i="0">
                <a:solidFill>
                  <a:srgbClr val="212121"/>
                </a:solidFill>
                <a:latin typeface="Calibri"/>
              </a:defRPr>
            </a:pPr>
            <a:r>
              <a:t>Q1</a:t>
            </a:r>
          </a:p>
        </p:txBody>
      </p:sp>
      <p:sp>
        <p:nvSpPr>
          <p:cNvPr id="34" name="Rectangle 33"/>
          <p:cNvSpPr/>
          <p:nvPr/>
        </p:nvSpPr>
        <p:spPr>
          <a:xfrm>
            <a:off x="502920" y="3291840"/>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465576"/>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04</a:t>
            </a:r>
          </a:p>
        </p:txBody>
      </p:sp>
      <p:sp>
        <p:nvSpPr>
          <p:cNvPr id="36" name="Rectangle 35"/>
          <p:cNvSpPr/>
          <p:nvPr/>
        </p:nvSpPr>
        <p:spPr>
          <a:xfrm>
            <a:off x="960120" y="3291840"/>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70432" y="3364992"/>
            <a:ext cx="7955279" cy="256032"/>
          </a:xfrm>
          <a:prstGeom prst="rect">
            <a:avLst/>
          </a:prstGeom>
          <a:noFill/>
        </p:spPr>
        <p:txBody>
          <a:bodyPr wrap="square" lIns="0" rIns="0" tIns="0" bIns="0">
            <a:spAutoFit/>
          </a:bodyPr>
          <a:lstStyle/>
          <a:p>
            <a:pPr algn="l">
              <a:defRPr sz="1050" b="1" i="0">
                <a:solidFill>
                  <a:srgbClr val="212121"/>
                </a:solidFill>
                <a:latin typeface="Calibri"/>
              </a:defRPr>
            </a:pPr>
            <a:r>
              <a:t>Define an asset-class mandatory set</a:t>
            </a:r>
          </a:p>
        </p:txBody>
      </p:sp>
      <p:sp>
        <p:nvSpPr>
          <p:cNvPr id="38" name="TextBox 37"/>
          <p:cNvSpPr txBox="1"/>
          <p:nvPr/>
        </p:nvSpPr>
        <p:spPr>
          <a:xfrm>
            <a:off x="1170432" y="3584448"/>
            <a:ext cx="7955279" cy="274320"/>
          </a:xfrm>
          <a:prstGeom prst="rect">
            <a:avLst/>
          </a:prstGeom>
          <a:noFill/>
        </p:spPr>
        <p:txBody>
          <a:bodyPr wrap="square" lIns="0" rIns="0" tIns="0" bIns="0">
            <a:spAutoFit/>
          </a:bodyPr>
          <a:lstStyle/>
          <a:p>
            <a:pPr algn="l">
              <a:defRPr sz="850" b="0" i="0">
                <a:solidFill>
                  <a:srgbClr val="6E6E6E"/>
                </a:solidFill>
                <a:latin typeface="Calibri"/>
              </a:defRPr>
            </a:pPr>
            <a:r>
              <a:t>Real Estate and Natural Resources scored against their own field list before either appears on a remediation list.</a:t>
            </a:r>
          </a:p>
        </p:txBody>
      </p:sp>
      <p:sp>
        <p:nvSpPr>
          <p:cNvPr id="39" name="Rectangle 38"/>
          <p:cNvSpPr/>
          <p:nvPr/>
        </p:nvSpPr>
        <p:spPr>
          <a:xfrm>
            <a:off x="9326880" y="3291840"/>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3493008"/>
            <a:ext cx="1234440" cy="274320"/>
          </a:xfrm>
          <a:prstGeom prst="rect">
            <a:avLst/>
          </a:prstGeom>
          <a:noFill/>
        </p:spPr>
        <p:txBody>
          <a:bodyPr wrap="square" lIns="0" rIns="0" tIns="0" bIns="0">
            <a:spAutoFit/>
          </a:bodyPr>
          <a:lstStyle/>
          <a:p>
            <a:pPr algn="ctr">
              <a:defRPr sz="850" b="1" i="0">
                <a:solidFill>
                  <a:srgbClr val="4682B4"/>
                </a:solidFill>
                <a:latin typeface="Calibri"/>
              </a:defRPr>
            </a:pPr>
            <a:r>
              <a:t>Analytics</a:t>
            </a:r>
          </a:p>
        </p:txBody>
      </p:sp>
      <p:sp>
        <p:nvSpPr>
          <p:cNvPr id="41" name="Rectangle 40"/>
          <p:cNvSpPr/>
          <p:nvPr/>
        </p:nvSpPr>
        <p:spPr>
          <a:xfrm>
            <a:off x="10561320" y="3291840"/>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61320" y="3493008"/>
            <a:ext cx="1124712" cy="274320"/>
          </a:xfrm>
          <a:prstGeom prst="rect">
            <a:avLst/>
          </a:prstGeom>
          <a:noFill/>
        </p:spPr>
        <p:txBody>
          <a:bodyPr wrap="square" lIns="0" rIns="0" tIns="0" bIns="0">
            <a:spAutoFit/>
          </a:bodyPr>
          <a:lstStyle/>
          <a:p>
            <a:pPr algn="ctr">
              <a:defRPr sz="850" b="1" i="0">
                <a:solidFill>
                  <a:srgbClr val="212121"/>
                </a:solidFill>
                <a:latin typeface="Calibri"/>
              </a:defRPr>
            </a:pPr>
            <a:r>
              <a:t>Q1</a:t>
            </a:r>
          </a:p>
        </p:txBody>
      </p:sp>
      <p:sp>
        <p:nvSpPr>
          <p:cNvPr id="43" name="Rectangle 42"/>
          <p:cNvSpPr/>
          <p:nvPr/>
        </p:nvSpPr>
        <p:spPr>
          <a:xfrm>
            <a:off x="502920" y="3986784"/>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160520"/>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05</a:t>
            </a:r>
          </a:p>
        </p:txBody>
      </p:sp>
      <p:sp>
        <p:nvSpPr>
          <p:cNvPr id="45" name="Rectangle 44"/>
          <p:cNvSpPr/>
          <p:nvPr/>
        </p:nvSpPr>
        <p:spPr>
          <a:xfrm>
            <a:off x="960120" y="3986784"/>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0432" y="4059936"/>
            <a:ext cx="7955279" cy="256032"/>
          </a:xfrm>
          <a:prstGeom prst="rect">
            <a:avLst/>
          </a:prstGeom>
          <a:noFill/>
        </p:spPr>
        <p:txBody>
          <a:bodyPr wrap="square" lIns="0" rIns="0" tIns="0" bIns="0">
            <a:spAutoFit/>
          </a:bodyPr>
          <a:lstStyle/>
          <a:p>
            <a:pPr algn="l">
              <a:defRPr sz="1050" b="1" i="0">
                <a:solidFill>
                  <a:srgbClr val="212121"/>
                </a:solidFill>
                <a:latin typeface="Calibri"/>
              </a:defRPr>
            </a:pPr>
            <a:r>
              <a:t>Extend the non-investment filter  ✓ DONE</a:t>
            </a:r>
          </a:p>
        </p:txBody>
      </p:sp>
      <p:sp>
        <p:nvSpPr>
          <p:cNvPr id="47" name="TextBox 46"/>
          <p:cNvSpPr txBox="1"/>
          <p:nvPr/>
        </p:nvSpPr>
        <p:spPr>
          <a:xfrm>
            <a:off x="1170432" y="4279392"/>
            <a:ext cx="7955279" cy="274320"/>
          </a:xfrm>
          <a:prstGeom prst="rect">
            <a:avLst/>
          </a:prstGeom>
          <a:noFill/>
        </p:spPr>
        <p:txBody>
          <a:bodyPr wrap="square" lIns="0" rIns="0" tIns="0" bIns="0">
            <a:spAutoFit/>
          </a:bodyPr>
          <a:lstStyle/>
          <a:p>
            <a:pPr algn="l">
              <a:defRPr sz="850" b="0" i="0">
                <a:solidFill>
                  <a:srgbClr val="6E6E6E"/>
                </a:solidFill>
                <a:latin typeface="Calibri"/>
              </a:defRPr>
            </a:pPr>
            <a:r>
              <a:t>Three-way classifier shipped with 57 regression tests. 594 rows reclassified; 27 names left the resolution queue.</a:t>
            </a:r>
          </a:p>
        </p:txBody>
      </p:sp>
      <p:sp>
        <p:nvSpPr>
          <p:cNvPr id="48" name="Rectangle 47"/>
          <p:cNvSpPr/>
          <p:nvPr/>
        </p:nvSpPr>
        <p:spPr>
          <a:xfrm>
            <a:off x="9326880" y="3986784"/>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0" y="4187952"/>
            <a:ext cx="1234440" cy="274320"/>
          </a:xfrm>
          <a:prstGeom prst="rect">
            <a:avLst/>
          </a:prstGeom>
          <a:noFill/>
        </p:spPr>
        <p:txBody>
          <a:bodyPr wrap="square" lIns="0" rIns="0" tIns="0" bIns="0">
            <a:spAutoFit/>
          </a:bodyPr>
          <a:lstStyle/>
          <a:p>
            <a:pPr algn="ctr">
              <a:defRPr sz="850" b="1" i="0">
                <a:solidFill>
                  <a:srgbClr val="4682B4"/>
                </a:solidFill>
                <a:latin typeface="Calibri"/>
              </a:defRPr>
            </a:pPr>
            <a:r>
              <a:t>Analytics</a:t>
            </a:r>
          </a:p>
        </p:txBody>
      </p:sp>
      <p:sp>
        <p:nvSpPr>
          <p:cNvPr id="50" name="Rectangle 49"/>
          <p:cNvSpPr/>
          <p:nvPr/>
        </p:nvSpPr>
        <p:spPr>
          <a:xfrm>
            <a:off x="10561320" y="3986784"/>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61320" y="4187952"/>
            <a:ext cx="1124712" cy="274320"/>
          </a:xfrm>
          <a:prstGeom prst="rect">
            <a:avLst/>
          </a:prstGeom>
          <a:noFill/>
        </p:spPr>
        <p:txBody>
          <a:bodyPr wrap="square" lIns="0" rIns="0" tIns="0" bIns="0">
            <a:spAutoFit/>
          </a:bodyPr>
          <a:lstStyle/>
          <a:p>
            <a:pPr algn="ctr">
              <a:defRPr sz="850" b="1" i="0">
                <a:solidFill>
                  <a:srgbClr val="212121"/>
                </a:solidFill>
                <a:latin typeface="Calibri"/>
              </a:defRPr>
            </a:pPr>
            <a:r>
              <a:t>Complete</a:t>
            </a:r>
          </a:p>
        </p:txBody>
      </p:sp>
      <p:sp>
        <p:nvSpPr>
          <p:cNvPr id="52" name="Rectangle 51"/>
          <p:cNvSpPr/>
          <p:nvPr/>
        </p:nvSpPr>
        <p:spPr>
          <a:xfrm>
            <a:off x="502920" y="4681728"/>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4855464"/>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06</a:t>
            </a:r>
          </a:p>
        </p:txBody>
      </p:sp>
      <p:sp>
        <p:nvSpPr>
          <p:cNvPr id="54" name="Rectangle 53"/>
          <p:cNvSpPr/>
          <p:nvPr/>
        </p:nvSpPr>
        <p:spPr>
          <a:xfrm>
            <a:off x="960120" y="4681728"/>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0432" y="4754880"/>
            <a:ext cx="7955279" cy="256032"/>
          </a:xfrm>
          <a:prstGeom prst="rect">
            <a:avLst/>
          </a:prstGeom>
          <a:noFill/>
        </p:spPr>
        <p:txBody>
          <a:bodyPr wrap="square" lIns="0" rIns="0" tIns="0" bIns="0">
            <a:spAutoFit/>
          </a:bodyPr>
          <a:lstStyle/>
          <a:p>
            <a:pPr algn="l">
              <a:defRPr sz="1050" b="1" i="0">
                <a:solidFill>
                  <a:srgbClr val="212121"/>
                </a:solidFill>
                <a:latin typeface="Calibri"/>
              </a:defRPr>
            </a:pPr>
            <a:r>
              <a:t>Stand up canonical naming</a:t>
            </a:r>
          </a:p>
        </p:txBody>
      </p:sp>
      <p:sp>
        <p:nvSpPr>
          <p:cNvPr id="56" name="TextBox 55"/>
          <p:cNvSpPr txBox="1"/>
          <p:nvPr/>
        </p:nvSpPr>
        <p:spPr>
          <a:xfrm>
            <a:off x="1170432" y="4974336"/>
            <a:ext cx="7955279" cy="274320"/>
          </a:xfrm>
          <a:prstGeom prst="rect">
            <a:avLst/>
          </a:prstGeom>
          <a:noFill/>
        </p:spPr>
        <p:txBody>
          <a:bodyPr wrap="square" lIns="0" rIns="0" tIns="0" bIns="0">
            <a:spAutoFit/>
          </a:bodyPr>
          <a:lstStyle/>
          <a:p>
            <a:pPr algn="l">
              <a:defRPr sz="850" b="0" i="0">
                <a:solidFill>
                  <a:srgbClr val="6E6E6E"/>
                </a:solidFill>
                <a:latin typeface="Calibri"/>
              </a:defRPr>
            </a:pPr>
            <a:r>
              <a:t>Begin with the 1,107 multi-fund names. Explicit aliases, reviewed, not auto-accepted.</a:t>
            </a:r>
          </a:p>
        </p:txBody>
      </p:sp>
      <p:sp>
        <p:nvSpPr>
          <p:cNvPr id="57" name="Rectangle 56"/>
          <p:cNvSpPr/>
          <p:nvPr/>
        </p:nvSpPr>
        <p:spPr>
          <a:xfrm>
            <a:off x="9326880" y="4681728"/>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26880" y="4882896"/>
            <a:ext cx="1234440" cy="274320"/>
          </a:xfrm>
          <a:prstGeom prst="rect">
            <a:avLst/>
          </a:prstGeom>
          <a:noFill/>
        </p:spPr>
        <p:txBody>
          <a:bodyPr wrap="square" lIns="0" rIns="0" tIns="0" bIns="0">
            <a:spAutoFit/>
          </a:bodyPr>
          <a:lstStyle/>
          <a:p>
            <a:pPr algn="ctr">
              <a:defRPr sz="850" b="1" i="0">
                <a:solidFill>
                  <a:srgbClr val="4682B4"/>
                </a:solidFill>
                <a:latin typeface="Calibri"/>
              </a:defRPr>
            </a:pPr>
            <a:r>
              <a:t>Analytics</a:t>
            </a:r>
          </a:p>
        </p:txBody>
      </p:sp>
      <p:sp>
        <p:nvSpPr>
          <p:cNvPr id="59" name="Rectangle 58"/>
          <p:cNvSpPr/>
          <p:nvPr/>
        </p:nvSpPr>
        <p:spPr>
          <a:xfrm>
            <a:off x="10561320" y="4681728"/>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61320" y="4882896"/>
            <a:ext cx="1124712" cy="274320"/>
          </a:xfrm>
          <a:prstGeom prst="rect">
            <a:avLst/>
          </a:prstGeom>
          <a:noFill/>
        </p:spPr>
        <p:txBody>
          <a:bodyPr wrap="square" lIns="0" rIns="0" tIns="0" bIns="0">
            <a:spAutoFit/>
          </a:bodyPr>
          <a:lstStyle/>
          <a:p>
            <a:pPr algn="ctr">
              <a:defRPr sz="850" b="1" i="0">
                <a:solidFill>
                  <a:srgbClr val="212121"/>
                </a:solidFill>
                <a:latin typeface="Calibri"/>
              </a:defRPr>
            </a:pPr>
            <a:r>
              <a:t>Q1–Q2</a:t>
            </a:r>
          </a:p>
        </p:txBody>
      </p:sp>
      <p:sp>
        <p:nvSpPr>
          <p:cNvPr id="61" name="Rectangle 60"/>
          <p:cNvSpPr/>
          <p:nvPr/>
        </p:nvSpPr>
        <p:spPr>
          <a:xfrm>
            <a:off x="502920" y="5376672"/>
            <a:ext cx="457200" cy="60350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5550408"/>
            <a:ext cx="457200" cy="274320"/>
          </a:xfrm>
          <a:prstGeom prst="rect">
            <a:avLst/>
          </a:prstGeom>
          <a:noFill/>
        </p:spPr>
        <p:txBody>
          <a:bodyPr wrap="square" lIns="0" rIns="0" tIns="0" bIns="0">
            <a:spAutoFit/>
          </a:bodyPr>
          <a:lstStyle/>
          <a:p>
            <a:pPr algn="ctr">
              <a:defRPr sz="1100" b="1" i="0">
                <a:solidFill>
                  <a:srgbClr val="B8860B"/>
                </a:solidFill>
                <a:latin typeface="Calibri"/>
              </a:defRPr>
            </a:pPr>
            <a:r>
              <a:t>07</a:t>
            </a:r>
          </a:p>
        </p:txBody>
      </p:sp>
      <p:sp>
        <p:nvSpPr>
          <p:cNvPr id="63" name="Rectangle 62"/>
          <p:cNvSpPr/>
          <p:nvPr/>
        </p:nvSpPr>
        <p:spPr>
          <a:xfrm>
            <a:off x="960120" y="5376672"/>
            <a:ext cx="8366760" cy="603504"/>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70432" y="5449824"/>
            <a:ext cx="7955279" cy="256032"/>
          </a:xfrm>
          <a:prstGeom prst="rect">
            <a:avLst/>
          </a:prstGeom>
          <a:noFill/>
        </p:spPr>
        <p:txBody>
          <a:bodyPr wrap="square" lIns="0" rIns="0" tIns="0" bIns="0">
            <a:spAutoFit/>
          </a:bodyPr>
          <a:lstStyle/>
          <a:p>
            <a:pPr algn="l">
              <a:defRPr sz="1050" b="1" i="0">
                <a:solidFill>
                  <a:srgbClr val="212121"/>
                </a:solidFill>
                <a:latin typeface="Calibri"/>
              </a:defRPr>
            </a:pPr>
            <a:r>
              <a:t>Re-run quarterly</a:t>
            </a:r>
          </a:p>
        </p:txBody>
      </p:sp>
      <p:sp>
        <p:nvSpPr>
          <p:cNvPr id="65" name="TextBox 64"/>
          <p:cNvSpPr txBox="1"/>
          <p:nvPr/>
        </p:nvSpPr>
        <p:spPr>
          <a:xfrm>
            <a:off x="1170432" y="5669280"/>
            <a:ext cx="7955279" cy="274320"/>
          </a:xfrm>
          <a:prstGeom prst="rect">
            <a:avLst/>
          </a:prstGeom>
          <a:noFill/>
        </p:spPr>
        <p:txBody>
          <a:bodyPr wrap="square" lIns="0" rIns="0" tIns="0" bIns="0">
            <a:spAutoFit/>
          </a:bodyPr>
          <a:lstStyle/>
          <a:p>
            <a:pPr algn="l">
              <a:defRPr sz="850" b="0" i="0">
                <a:solidFill>
                  <a:srgbClr val="6E6E6E"/>
                </a:solidFill>
                <a:latin typeface="Calibri"/>
              </a:defRPr>
            </a:pPr>
            <a:r>
              <a:t>The notebook is parameterised. Track band migration rather than the headline average.</a:t>
            </a:r>
          </a:p>
        </p:txBody>
      </p:sp>
      <p:sp>
        <p:nvSpPr>
          <p:cNvPr id="66" name="Rectangle 65"/>
          <p:cNvSpPr/>
          <p:nvPr/>
        </p:nvSpPr>
        <p:spPr>
          <a:xfrm>
            <a:off x="9326880" y="5376672"/>
            <a:ext cx="1234440" cy="60350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26880" y="5577840"/>
            <a:ext cx="1234440" cy="274320"/>
          </a:xfrm>
          <a:prstGeom prst="rect">
            <a:avLst/>
          </a:prstGeom>
          <a:noFill/>
        </p:spPr>
        <p:txBody>
          <a:bodyPr wrap="square" lIns="0" rIns="0" tIns="0" bIns="0">
            <a:spAutoFit/>
          </a:bodyPr>
          <a:lstStyle/>
          <a:p>
            <a:pPr algn="ctr">
              <a:defRPr sz="850" b="1" i="0">
                <a:solidFill>
                  <a:srgbClr val="4682B4"/>
                </a:solidFill>
                <a:latin typeface="Calibri"/>
              </a:defRPr>
            </a:pPr>
            <a:r>
              <a:t>Operations</a:t>
            </a:r>
          </a:p>
        </p:txBody>
      </p:sp>
      <p:sp>
        <p:nvSpPr>
          <p:cNvPr id="68" name="Rectangle 67"/>
          <p:cNvSpPr/>
          <p:nvPr/>
        </p:nvSpPr>
        <p:spPr>
          <a:xfrm>
            <a:off x="10561320" y="5376672"/>
            <a:ext cx="1124712" cy="603504"/>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561320" y="5577840"/>
            <a:ext cx="1124712" cy="274320"/>
          </a:xfrm>
          <a:prstGeom prst="rect">
            <a:avLst/>
          </a:prstGeom>
          <a:noFill/>
        </p:spPr>
        <p:txBody>
          <a:bodyPr wrap="square" lIns="0" rIns="0" tIns="0" bIns="0">
            <a:spAutoFit/>
          </a:bodyPr>
          <a:lstStyle/>
          <a:p>
            <a:pPr algn="ctr">
              <a:defRPr sz="850" b="1" i="0">
                <a:solidFill>
                  <a:srgbClr val="212121"/>
                </a:solidFill>
                <a:latin typeface="Calibri"/>
              </a:defRPr>
            </a:pPr>
            <a:r>
              <a:t>Ongoing</a:t>
            </a:r>
          </a:p>
        </p:txBody>
      </p:sp>
      <p:sp>
        <p:nvSpPr>
          <p:cNvPr id="70" name="Rectangle 69"/>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Sequenced so vendor questions resolve before GP outreach begins</a:t>
            </a:r>
          </a:p>
        </p:txBody>
      </p:sp>
      <p:sp>
        <p:nvSpPr>
          <p:cNvPr id="72" name="TextBox 71"/>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ROADMAP</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Phase 1 closes, Phase 2 opens</a:t>
            </a:r>
          </a:p>
        </p:txBody>
      </p:sp>
      <p:sp>
        <p:nvSpPr>
          <p:cNvPr id="7" name="Rectangle 6"/>
          <p:cNvSpPr/>
          <p:nvPr/>
        </p:nvSpPr>
        <p:spPr>
          <a:xfrm>
            <a:off x="502920" y="1234440"/>
            <a:ext cx="5486400" cy="3749039"/>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234440"/>
            <a:ext cx="5486400" cy="4572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81328"/>
            <a:ext cx="5029200" cy="274320"/>
          </a:xfrm>
          <a:prstGeom prst="rect">
            <a:avLst/>
          </a:prstGeom>
          <a:noFill/>
        </p:spPr>
        <p:txBody>
          <a:bodyPr wrap="square" lIns="0" rIns="0" tIns="0" bIns="0">
            <a:spAutoFit/>
          </a:bodyPr>
          <a:lstStyle/>
          <a:p>
            <a:pPr algn="l">
              <a:defRPr sz="1000" b="1" i="0">
                <a:solidFill>
                  <a:srgbClr val="4682B4"/>
                </a:solidFill>
                <a:latin typeface="Calibri"/>
              </a:defRPr>
            </a:pPr>
            <a:r>
              <a:t>PHASE 1 — DESCRIPTIVE   ✓ COMPLETE</a:t>
            </a:r>
          </a:p>
        </p:txBody>
      </p:sp>
      <p:sp>
        <p:nvSpPr>
          <p:cNvPr id="10" name="TextBox 9"/>
          <p:cNvSpPr txBox="1"/>
          <p:nvPr/>
        </p:nvSpPr>
        <p:spPr>
          <a:xfrm>
            <a:off x="731520" y="1810512"/>
            <a:ext cx="5029200" cy="320040"/>
          </a:xfrm>
          <a:prstGeom prst="rect">
            <a:avLst/>
          </a:prstGeom>
          <a:noFill/>
        </p:spPr>
        <p:txBody>
          <a:bodyPr wrap="square" lIns="0" rIns="0" tIns="0" bIns="0">
            <a:spAutoFit/>
          </a:bodyPr>
          <a:lstStyle/>
          <a:p>
            <a:pPr algn="l">
              <a:defRPr sz="1200" b="1" i="0">
                <a:solidFill>
                  <a:srgbClr val="212121"/>
                </a:solidFill>
                <a:latin typeface="Calibri"/>
              </a:defRPr>
            </a:pPr>
            <a:r>
              <a:t>"What state is the data in?"</a:t>
            </a:r>
          </a:p>
        </p:txBody>
      </p:sp>
      <p:sp>
        <p:nvSpPr>
          <p:cNvPr id="11" name="Rectangle 10"/>
          <p:cNvSpPr/>
          <p:nvPr/>
        </p:nvSpPr>
        <p:spPr>
          <a:xfrm>
            <a:off x="731520" y="2368296"/>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286000"/>
            <a:ext cx="4828032" cy="402336"/>
          </a:xfrm>
          <a:prstGeom prst="rect">
            <a:avLst/>
          </a:prstGeom>
          <a:noFill/>
        </p:spPr>
        <p:txBody>
          <a:bodyPr wrap="square" lIns="0" rIns="0" tIns="0" bIns="0">
            <a:spAutoFit/>
          </a:bodyPr>
          <a:lstStyle/>
          <a:p>
            <a:pPr algn="l">
              <a:defRPr sz="1000" b="0" i="0">
                <a:solidFill>
                  <a:srgbClr val="212121"/>
                </a:solidFill>
                <a:latin typeface="Calibri"/>
              </a:defRPr>
            </a:pPr>
            <a:r>
              <a:t>Completeness scored on three axes</a:t>
            </a:r>
          </a:p>
        </p:txBody>
      </p:sp>
      <p:sp>
        <p:nvSpPr>
          <p:cNvPr id="13" name="Rectangle 12"/>
          <p:cNvSpPr/>
          <p:nvPr/>
        </p:nvSpPr>
        <p:spPr>
          <a:xfrm>
            <a:off x="731520" y="2770632"/>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688336"/>
            <a:ext cx="4828032" cy="402336"/>
          </a:xfrm>
          <a:prstGeom prst="rect">
            <a:avLst/>
          </a:prstGeom>
          <a:noFill/>
        </p:spPr>
        <p:txBody>
          <a:bodyPr wrap="square" lIns="0" rIns="0" tIns="0" bIns="0">
            <a:spAutoFit/>
          </a:bodyPr>
          <a:lstStyle/>
          <a:p>
            <a:pPr algn="l">
              <a:defRPr sz="1000" b="0" i="0">
                <a:solidFill>
                  <a:srgbClr val="212121"/>
                </a:solidFill>
                <a:latin typeface="Calibri"/>
              </a:defRPr>
            </a:pPr>
            <a:r>
              <a:t>Gap concentration quantified</a:t>
            </a:r>
          </a:p>
        </p:txBody>
      </p:sp>
      <p:sp>
        <p:nvSpPr>
          <p:cNvPr id="15" name="Rectangle 14"/>
          <p:cNvSpPr/>
          <p:nvPr/>
        </p:nvSpPr>
        <p:spPr>
          <a:xfrm>
            <a:off x="731520" y="3172968"/>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090672"/>
            <a:ext cx="4828032" cy="402336"/>
          </a:xfrm>
          <a:prstGeom prst="rect">
            <a:avLst/>
          </a:prstGeom>
          <a:noFill/>
        </p:spPr>
        <p:txBody>
          <a:bodyPr wrap="square" lIns="0" rIns="0" tIns="0" bIns="0">
            <a:spAutoFit/>
          </a:bodyPr>
          <a:lstStyle/>
          <a:p>
            <a:pPr algn="l">
              <a:defRPr sz="1000" b="0" i="0">
                <a:solidFill>
                  <a:srgbClr val="212121"/>
                </a:solidFill>
                <a:latin typeface="Calibri"/>
              </a:defRPr>
            </a:pPr>
            <a:r>
              <a:t>13,176 records flagged</a:t>
            </a:r>
          </a:p>
        </p:txBody>
      </p:sp>
      <p:sp>
        <p:nvSpPr>
          <p:cNvPr id="17" name="Rectangle 16"/>
          <p:cNvSpPr/>
          <p:nvPr/>
        </p:nvSpPr>
        <p:spPr>
          <a:xfrm>
            <a:off x="731520" y="3575304"/>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493008"/>
            <a:ext cx="4828032" cy="402336"/>
          </a:xfrm>
          <a:prstGeom prst="rect">
            <a:avLst/>
          </a:prstGeom>
          <a:noFill/>
        </p:spPr>
        <p:txBody>
          <a:bodyPr wrap="square" lIns="0" rIns="0" tIns="0" bIns="0">
            <a:spAutoFit/>
          </a:bodyPr>
          <a:lstStyle/>
          <a:p>
            <a:pPr algn="l">
              <a:defRPr sz="1000" b="0" i="0">
                <a:solidFill>
                  <a:srgbClr val="212121"/>
                </a:solidFill>
                <a:latin typeface="Calibri"/>
              </a:defRPr>
            </a:pPr>
            <a:r>
              <a:t>Entity-resolution scope sized</a:t>
            </a:r>
          </a:p>
        </p:txBody>
      </p:sp>
      <p:sp>
        <p:nvSpPr>
          <p:cNvPr id="19" name="Rectangle 18"/>
          <p:cNvSpPr/>
          <p:nvPr/>
        </p:nvSpPr>
        <p:spPr>
          <a:xfrm>
            <a:off x="731520" y="3977639"/>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95344"/>
            <a:ext cx="4828032" cy="402336"/>
          </a:xfrm>
          <a:prstGeom prst="rect">
            <a:avLst/>
          </a:prstGeom>
          <a:noFill/>
        </p:spPr>
        <p:txBody>
          <a:bodyPr wrap="square" lIns="0" rIns="0" tIns="0" bIns="0">
            <a:spAutoFit/>
          </a:bodyPr>
          <a:lstStyle/>
          <a:p>
            <a:pPr algn="l">
              <a:defRPr sz="1000" b="0" i="0">
                <a:solidFill>
                  <a:srgbClr val="212121"/>
                </a:solidFill>
                <a:latin typeface="Calibri"/>
              </a:defRPr>
            </a:pPr>
            <a:r>
              <a:t>Eight exports written for Operations</a:t>
            </a:r>
          </a:p>
        </p:txBody>
      </p:sp>
      <p:sp>
        <p:nvSpPr>
          <p:cNvPr id="21" name="Rectangle 20"/>
          <p:cNvSpPr/>
          <p:nvPr/>
        </p:nvSpPr>
        <p:spPr>
          <a:xfrm>
            <a:off x="731520" y="4434840"/>
            <a:ext cx="5029200" cy="36576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17136"/>
            <a:ext cx="4754880" cy="274320"/>
          </a:xfrm>
          <a:prstGeom prst="rect">
            <a:avLst/>
          </a:prstGeom>
          <a:noFill/>
        </p:spPr>
        <p:txBody>
          <a:bodyPr wrap="square" lIns="0" rIns="0" tIns="0" bIns="0">
            <a:spAutoFit/>
          </a:bodyPr>
          <a:lstStyle/>
          <a:p>
            <a:pPr algn="l">
              <a:defRPr sz="950" b="1" i="0">
                <a:solidFill>
                  <a:srgbClr val="6E6E6E"/>
                </a:solidFill>
                <a:latin typeface="Calibri"/>
              </a:defRPr>
            </a:pPr>
            <a:r>
              <a:t>Cannot answer: is the data correct?</a:t>
            </a:r>
          </a:p>
        </p:txBody>
      </p:sp>
      <p:sp>
        <p:nvSpPr>
          <p:cNvPr id="23" name="Rectangle 22"/>
          <p:cNvSpPr/>
          <p:nvPr/>
        </p:nvSpPr>
        <p:spPr>
          <a:xfrm>
            <a:off x="6199632" y="1234440"/>
            <a:ext cx="5486400" cy="3749039"/>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1234440"/>
            <a:ext cx="5486400"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1481328"/>
            <a:ext cx="5029200" cy="274320"/>
          </a:xfrm>
          <a:prstGeom prst="rect">
            <a:avLst/>
          </a:prstGeom>
          <a:noFill/>
        </p:spPr>
        <p:txBody>
          <a:bodyPr wrap="square" lIns="0" rIns="0" tIns="0" bIns="0">
            <a:spAutoFit/>
          </a:bodyPr>
          <a:lstStyle/>
          <a:p>
            <a:pPr algn="l">
              <a:defRPr sz="1000" b="1" i="0">
                <a:solidFill>
                  <a:srgbClr val="B8860B"/>
                </a:solidFill>
                <a:latin typeface="Calibri"/>
              </a:defRPr>
            </a:pPr>
            <a:r>
              <a:t>PHASE 2 — VALIDATIVE   NEXT</a:t>
            </a:r>
          </a:p>
        </p:txBody>
      </p:sp>
      <p:sp>
        <p:nvSpPr>
          <p:cNvPr id="26" name="TextBox 25"/>
          <p:cNvSpPr txBox="1"/>
          <p:nvPr/>
        </p:nvSpPr>
        <p:spPr>
          <a:xfrm>
            <a:off x="6428232" y="1810512"/>
            <a:ext cx="5029200" cy="320040"/>
          </a:xfrm>
          <a:prstGeom prst="rect">
            <a:avLst/>
          </a:prstGeom>
          <a:noFill/>
        </p:spPr>
        <p:txBody>
          <a:bodyPr wrap="square" lIns="0" rIns="0" tIns="0" bIns="0">
            <a:spAutoFit/>
          </a:bodyPr>
          <a:lstStyle/>
          <a:p>
            <a:pPr algn="l">
              <a:defRPr sz="1200" b="1" i="0">
                <a:solidFill>
                  <a:srgbClr val="212121"/>
                </a:solidFill>
                <a:latin typeface="Calibri"/>
              </a:defRPr>
            </a:pPr>
            <a:r>
              <a:t>"Is the data correct?"</a:t>
            </a:r>
          </a:p>
        </p:txBody>
      </p:sp>
      <p:sp>
        <p:nvSpPr>
          <p:cNvPr id="27" name="Rectangle 26"/>
          <p:cNvSpPr/>
          <p:nvPr/>
        </p:nvSpPr>
        <p:spPr>
          <a:xfrm>
            <a:off x="6428232" y="2368296"/>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2286000"/>
            <a:ext cx="4828032" cy="402336"/>
          </a:xfrm>
          <a:prstGeom prst="rect">
            <a:avLst/>
          </a:prstGeom>
          <a:noFill/>
        </p:spPr>
        <p:txBody>
          <a:bodyPr wrap="square" lIns="0" rIns="0" tIns="0" bIns="0">
            <a:spAutoFit/>
          </a:bodyPr>
          <a:lstStyle/>
          <a:p>
            <a:pPr algn="l">
              <a:defRPr sz="1000" b="0" i="0">
                <a:solidFill>
                  <a:srgbClr val="212121"/>
                </a:solidFill>
                <a:latin typeface="Calibri"/>
              </a:defRPr>
            </a:pPr>
            <a:r>
              <a:t>Parse schedule of investments from source PDFs</a:t>
            </a:r>
          </a:p>
        </p:txBody>
      </p:sp>
      <p:sp>
        <p:nvSpPr>
          <p:cNvPr id="29" name="Rectangle 28"/>
          <p:cNvSpPr/>
          <p:nvPr/>
        </p:nvSpPr>
        <p:spPr>
          <a:xfrm>
            <a:off x="6428232" y="2770632"/>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2688336"/>
            <a:ext cx="4828032" cy="402336"/>
          </a:xfrm>
          <a:prstGeom prst="rect">
            <a:avLst/>
          </a:prstGeom>
          <a:noFill/>
        </p:spPr>
        <p:txBody>
          <a:bodyPr wrap="square" lIns="0" rIns="0" tIns="0" bIns="0">
            <a:spAutoFit/>
          </a:bodyPr>
          <a:lstStyle/>
          <a:p>
            <a:pPr algn="l">
              <a:defRPr sz="1000" b="0" i="0">
                <a:solidFill>
                  <a:srgbClr val="212121"/>
                </a:solidFill>
                <a:latin typeface="Calibri"/>
              </a:defRPr>
            </a:pPr>
            <a:r>
              <a:t>Reconcile cost and fair value to fund totals</a:t>
            </a:r>
          </a:p>
        </p:txBody>
      </p:sp>
      <p:sp>
        <p:nvSpPr>
          <p:cNvPr id="31" name="Rectangle 30"/>
          <p:cNvSpPr/>
          <p:nvPr/>
        </p:nvSpPr>
        <p:spPr>
          <a:xfrm>
            <a:off x="6428232" y="3172968"/>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090672"/>
            <a:ext cx="4828032" cy="402336"/>
          </a:xfrm>
          <a:prstGeom prst="rect">
            <a:avLst/>
          </a:prstGeom>
          <a:noFill/>
        </p:spPr>
        <p:txBody>
          <a:bodyPr wrap="square" lIns="0" rIns="0" tIns="0" bIns="0">
            <a:spAutoFit/>
          </a:bodyPr>
          <a:lstStyle/>
          <a:p>
            <a:pPr algn="l">
              <a:defRPr sz="1000" b="0" i="0">
                <a:solidFill>
                  <a:srgbClr val="212121"/>
                </a:solidFill>
                <a:latin typeface="Calibri"/>
              </a:defRPr>
            </a:pPr>
            <a:r>
              <a:t>Infer Deal Status across schedules</a:t>
            </a:r>
          </a:p>
        </p:txBody>
      </p:sp>
      <p:sp>
        <p:nvSpPr>
          <p:cNvPr id="33" name="Rectangle 32"/>
          <p:cNvSpPr/>
          <p:nvPr/>
        </p:nvSpPr>
        <p:spPr>
          <a:xfrm>
            <a:off x="6428232" y="3575304"/>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3493008"/>
            <a:ext cx="4828032" cy="402336"/>
          </a:xfrm>
          <a:prstGeom prst="rect">
            <a:avLst/>
          </a:prstGeom>
          <a:noFill/>
        </p:spPr>
        <p:txBody>
          <a:bodyPr wrap="square" lIns="0" rIns="0" tIns="0" bIns="0">
            <a:spAutoFit/>
          </a:bodyPr>
          <a:lstStyle/>
          <a:p>
            <a:pPr algn="l">
              <a:defRPr sz="1000" b="0" i="0">
                <a:solidFill>
                  <a:srgbClr val="212121"/>
                </a:solidFill>
                <a:latin typeface="Calibri"/>
              </a:defRPr>
            </a:pPr>
            <a:r>
              <a:t>Compare vendor CSV against statements</a:t>
            </a:r>
          </a:p>
        </p:txBody>
      </p:sp>
      <p:sp>
        <p:nvSpPr>
          <p:cNvPr id="35" name="Rectangle 34"/>
          <p:cNvSpPr/>
          <p:nvPr/>
        </p:nvSpPr>
        <p:spPr>
          <a:xfrm>
            <a:off x="6428232" y="3977639"/>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3895344"/>
            <a:ext cx="4828032" cy="402336"/>
          </a:xfrm>
          <a:prstGeom prst="rect">
            <a:avLst/>
          </a:prstGeom>
          <a:noFill/>
        </p:spPr>
        <p:txBody>
          <a:bodyPr wrap="square" lIns="0" rIns="0" tIns="0" bIns="0">
            <a:spAutoFit/>
          </a:bodyPr>
          <a:lstStyle/>
          <a:p>
            <a:pPr algn="l">
              <a:defRPr sz="1000" b="0" i="0">
                <a:solidFill>
                  <a:srgbClr val="212121"/>
                </a:solidFill>
                <a:latin typeface="Calibri"/>
              </a:defRPr>
            </a:pPr>
            <a:r>
              <a:t>Attach page and bounding box to every value</a:t>
            </a:r>
          </a:p>
        </p:txBody>
      </p:sp>
      <p:sp>
        <p:nvSpPr>
          <p:cNvPr id="37" name="Rectangle 36"/>
          <p:cNvSpPr/>
          <p:nvPr/>
        </p:nvSpPr>
        <p:spPr>
          <a:xfrm>
            <a:off x="6428232" y="4434840"/>
            <a:ext cx="5029200" cy="36576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65392" y="4517136"/>
            <a:ext cx="4754880" cy="274320"/>
          </a:xfrm>
          <a:prstGeom prst="rect">
            <a:avLst/>
          </a:prstGeom>
          <a:noFill/>
        </p:spPr>
        <p:txBody>
          <a:bodyPr wrap="square" lIns="0" rIns="0" tIns="0" bIns="0">
            <a:spAutoFit/>
          </a:bodyPr>
          <a:lstStyle/>
          <a:p>
            <a:pPr algn="l">
              <a:defRPr sz="950" b="1" i="0">
                <a:solidFill>
                  <a:srgbClr val="212121"/>
                </a:solidFill>
                <a:latin typeface="Calibri"/>
              </a:defRPr>
            </a:pPr>
            <a:r>
              <a:t>Blocked on: canonical entity naming</a:t>
            </a:r>
          </a:p>
        </p:txBody>
      </p:sp>
      <p:sp>
        <p:nvSpPr>
          <p:cNvPr id="39" name="Rectangle 38"/>
          <p:cNvSpPr/>
          <p:nvPr/>
        </p:nvSpPr>
        <p:spPr>
          <a:xfrm>
            <a:off x="502920" y="5212080"/>
            <a:ext cx="11185855" cy="914400"/>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5212080"/>
            <a:ext cx="50292" cy="9144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5330952"/>
            <a:ext cx="10774375" cy="731520"/>
          </a:xfrm>
          <a:prstGeom prst="rect">
            <a:avLst/>
          </a:prstGeom>
          <a:noFill/>
        </p:spPr>
        <p:txBody>
          <a:bodyPr wrap="square" lIns="0" rIns="0" tIns="0" bIns="0">
            <a:spAutoFit/>
          </a:bodyPr>
          <a:lstStyle/>
          <a:p>
            <a:pPr algn="l">
              <a:defRPr sz="1050" b="0" i="0">
                <a:solidFill>
                  <a:srgbClr val="212121"/>
                </a:solidFill>
                <a:latin typeface="Calibri"/>
              </a:defRPr>
            </a:pPr>
            <a:r>
              <a:t>The two phases answer different questions. Completeness says a value is present; validation says it is right. A fund at 100% completeness carrying wrong numbers still scores 100% here — which is precisely why Phase 2 exists.</a:t>
            </a:r>
          </a:p>
        </p:txBody>
      </p:sp>
      <p:sp>
        <p:nvSpPr>
          <p:cNvPr id="42" name="Rectangle 41"/>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Sample statement parsed and reconciled to the dollar</a:t>
            </a:r>
          </a:p>
        </p:txBody>
      </p:sp>
      <p:sp>
        <p:nvSpPr>
          <p:cNvPr id="44" name="TextBox 43"/>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96112"/>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96112"/>
            <a:ext cx="12191695" cy="411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28016"/>
            <a:ext cx="10058400" cy="228600"/>
          </a:xfrm>
          <a:prstGeom prst="rect">
            <a:avLst/>
          </a:prstGeom>
          <a:noFill/>
        </p:spPr>
        <p:txBody>
          <a:bodyPr wrap="square" lIns="0" rIns="0" tIns="0" bIns="0">
            <a:spAutoFit/>
          </a:bodyPr>
          <a:lstStyle/>
          <a:p>
            <a:pPr algn="l">
              <a:defRPr sz="850" b="1" i="0">
                <a:solidFill>
                  <a:srgbClr val="B8860B"/>
                </a:solidFill>
                <a:latin typeface="Calibri"/>
              </a:defRPr>
            </a:pPr>
            <a:r>
              <a:t>APPENDIX</a:t>
            </a:r>
          </a:p>
        </p:txBody>
      </p:sp>
      <p:sp>
        <p:nvSpPr>
          <p:cNvPr id="6" name="TextBox 5"/>
          <p:cNvSpPr txBox="1"/>
          <p:nvPr/>
        </p:nvSpPr>
        <p:spPr>
          <a:xfrm>
            <a:off x="502920" y="329184"/>
            <a:ext cx="10789920" cy="457200"/>
          </a:xfrm>
          <a:prstGeom prst="rect">
            <a:avLst/>
          </a:prstGeom>
          <a:noFill/>
        </p:spPr>
        <p:txBody>
          <a:bodyPr wrap="square" lIns="0" rIns="0" tIns="0" bIns="0">
            <a:spAutoFit/>
          </a:bodyPr>
          <a:lstStyle/>
          <a:p>
            <a:pPr algn="l">
              <a:defRPr sz="2500" b="1" i="0">
                <a:solidFill>
                  <a:srgbClr val="FFFFFF"/>
                </a:solidFill>
                <a:latin typeface="Georgia"/>
              </a:defRPr>
            </a:pPr>
            <a:r>
              <a:t>Exports and validation</a:t>
            </a:r>
          </a:p>
        </p:txBody>
      </p:sp>
      <p:sp>
        <p:nvSpPr>
          <p:cNvPr id="7" name="Rectangle 6"/>
          <p:cNvSpPr/>
          <p:nvPr/>
        </p:nvSpPr>
        <p:spPr>
          <a:xfrm>
            <a:off x="502920" y="1234440"/>
            <a:ext cx="3017520" cy="32918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03020"/>
            <a:ext cx="2834639" cy="329184"/>
          </a:xfrm>
          <a:prstGeom prst="rect">
            <a:avLst/>
          </a:prstGeom>
          <a:noFill/>
        </p:spPr>
        <p:txBody>
          <a:bodyPr wrap="square" lIns="0" rIns="0" tIns="0" bIns="0">
            <a:spAutoFit/>
          </a:bodyPr>
          <a:lstStyle/>
          <a:p>
            <a:pPr algn="l">
              <a:defRPr sz="850" b="1" i="0">
                <a:solidFill>
                  <a:srgbClr val="FFFFFF"/>
                </a:solidFill>
                <a:latin typeface="Calibri"/>
              </a:defRPr>
            </a:pPr>
            <a:r>
              <a:t>File</a:t>
            </a:r>
          </a:p>
        </p:txBody>
      </p:sp>
      <p:sp>
        <p:nvSpPr>
          <p:cNvPr id="9" name="Rectangle 8"/>
          <p:cNvSpPr/>
          <p:nvPr/>
        </p:nvSpPr>
        <p:spPr>
          <a:xfrm>
            <a:off x="3520439" y="1234440"/>
            <a:ext cx="3931920" cy="329184"/>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79" y="1303020"/>
            <a:ext cx="3749039" cy="329184"/>
          </a:xfrm>
          <a:prstGeom prst="rect">
            <a:avLst/>
          </a:prstGeom>
          <a:noFill/>
        </p:spPr>
        <p:txBody>
          <a:bodyPr wrap="square" lIns="0" rIns="0" tIns="0" bIns="0">
            <a:spAutoFit/>
          </a:bodyPr>
          <a:lstStyle/>
          <a:p>
            <a:pPr algn="l">
              <a:defRPr sz="850" b="1" i="0">
                <a:solidFill>
                  <a:srgbClr val="FFFFFF"/>
                </a:solidFill>
                <a:latin typeface="Calibri"/>
              </a:defRPr>
            </a:pPr>
            <a:r>
              <a:t>Contents</a:t>
            </a:r>
          </a:p>
        </p:txBody>
      </p:sp>
      <p:sp>
        <p:nvSpPr>
          <p:cNvPr id="11" name="Rectangle 10"/>
          <p:cNvSpPr/>
          <p:nvPr/>
        </p:nvSpPr>
        <p:spPr>
          <a:xfrm>
            <a:off x="502920" y="1563624"/>
            <a:ext cx="30175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627632"/>
            <a:ext cx="2834639" cy="329184"/>
          </a:xfrm>
          <a:prstGeom prst="rect">
            <a:avLst/>
          </a:prstGeom>
          <a:noFill/>
        </p:spPr>
        <p:txBody>
          <a:bodyPr wrap="square" lIns="0" rIns="0" tIns="0" bIns="0">
            <a:spAutoFit/>
          </a:bodyPr>
          <a:lstStyle/>
          <a:p>
            <a:pPr algn="l">
              <a:defRPr sz="950" b="1" i="0">
                <a:solidFill>
                  <a:srgbClr val="212121"/>
                </a:solidFill>
                <a:latin typeface="Calibri"/>
              </a:defRPr>
            </a:pPr>
            <a:r>
              <a:t>data_state_by_field.csv</a:t>
            </a:r>
          </a:p>
        </p:txBody>
      </p:sp>
      <p:sp>
        <p:nvSpPr>
          <p:cNvPr id="13" name="Rectangle 12"/>
          <p:cNvSpPr/>
          <p:nvPr/>
        </p:nvSpPr>
        <p:spPr>
          <a:xfrm>
            <a:off x="3520439" y="1563624"/>
            <a:ext cx="39319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79" y="1627632"/>
            <a:ext cx="3749039" cy="329184"/>
          </a:xfrm>
          <a:prstGeom prst="rect">
            <a:avLst/>
          </a:prstGeom>
          <a:noFill/>
        </p:spPr>
        <p:txBody>
          <a:bodyPr wrap="square" lIns="0" rIns="0" tIns="0" bIns="0">
            <a:spAutoFit/>
          </a:bodyPr>
          <a:lstStyle/>
          <a:p>
            <a:pPr algn="l">
              <a:defRPr sz="950" b="0" i="0">
                <a:solidFill>
                  <a:srgbClr val="212121"/>
                </a:solidFill>
                <a:latin typeface="Calibri"/>
              </a:defRPr>
            </a:pPr>
            <a:r>
              <a:t>Fill rate, all 329 value columns</a:t>
            </a:r>
          </a:p>
        </p:txBody>
      </p:sp>
      <p:sp>
        <p:nvSpPr>
          <p:cNvPr id="15" name="Rectangle 14"/>
          <p:cNvSpPr/>
          <p:nvPr/>
        </p:nvSpPr>
        <p:spPr>
          <a:xfrm>
            <a:off x="502920" y="1892807"/>
            <a:ext cx="3017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956815"/>
            <a:ext cx="2834639" cy="329184"/>
          </a:xfrm>
          <a:prstGeom prst="rect">
            <a:avLst/>
          </a:prstGeom>
          <a:noFill/>
        </p:spPr>
        <p:txBody>
          <a:bodyPr wrap="square" lIns="0" rIns="0" tIns="0" bIns="0">
            <a:spAutoFit/>
          </a:bodyPr>
          <a:lstStyle/>
          <a:p>
            <a:pPr algn="l">
              <a:defRPr sz="950" b="1" i="0">
                <a:solidFill>
                  <a:srgbClr val="212121"/>
                </a:solidFill>
                <a:latin typeface="Calibri"/>
              </a:defRPr>
            </a:pPr>
            <a:r>
              <a:t>data_state_by_fund.csv</a:t>
            </a:r>
          </a:p>
        </p:txBody>
      </p:sp>
      <p:sp>
        <p:nvSpPr>
          <p:cNvPr id="17" name="Rectangle 16"/>
          <p:cNvSpPr/>
          <p:nvPr/>
        </p:nvSpPr>
        <p:spPr>
          <a:xfrm>
            <a:off x="3520439" y="1892807"/>
            <a:ext cx="39319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79" y="1956815"/>
            <a:ext cx="3749039" cy="329184"/>
          </a:xfrm>
          <a:prstGeom prst="rect">
            <a:avLst/>
          </a:prstGeom>
          <a:noFill/>
        </p:spPr>
        <p:txBody>
          <a:bodyPr wrap="square" lIns="0" rIns="0" tIns="0" bIns="0">
            <a:spAutoFit/>
          </a:bodyPr>
          <a:lstStyle/>
          <a:p>
            <a:pPr algn="l">
              <a:defRPr sz="950" b="0" i="0">
                <a:solidFill>
                  <a:srgbClr val="212121"/>
                </a:solidFill>
                <a:latin typeface="Calibri"/>
              </a:defRPr>
            </a:pPr>
            <a:r>
              <a:t>Completeness, all 385 funds</a:t>
            </a:r>
          </a:p>
        </p:txBody>
      </p:sp>
      <p:sp>
        <p:nvSpPr>
          <p:cNvPr id="19" name="Rectangle 18"/>
          <p:cNvSpPr/>
          <p:nvPr/>
        </p:nvSpPr>
        <p:spPr>
          <a:xfrm>
            <a:off x="502920" y="2221991"/>
            <a:ext cx="30175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285999"/>
            <a:ext cx="2834639" cy="329184"/>
          </a:xfrm>
          <a:prstGeom prst="rect">
            <a:avLst/>
          </a:prstGeom>
          <a:noFill/>
        </p:spPr>
        <p:txBody>
          <a:bodyPr wrap="square" lIns="0" rIns="0" tIns="0" bIns="0">
            <a:spAutoFit/>
          </a:bodyPr>
          <a:lstStyle/>
          <a:p>
            <a:pPr algn="l">
              <a:defRPr sz="950" b="1" i="0">
                <a:solidFill>
                  <a:srgbClr val="212121"/>
                </a:solidFill>
                <a:latin typeface="Calibri"/>
              </a:defRPr>
            </a:pPr>
            <a:r>
              <a:t>data_state_by_manager.csv</a:t>
            </a:r>
          </a:p>
        </p:txBody>
      </p:sp>
      <p:sp>
        <p:nvSpPr>
          <p:cNvPr id="21" name="Rectangle 20"/>
          <p:cNvSpPr/>
          <p:nvPr/>
        </p:nvSpPr>
        <p:spPr>
          <a:xfrm>
            <a:off x="3520439" y="2221991"/>
            <a:ext cx="39319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79" y="2285999"/>
            <a:ext cx="3749039" cy="329184"/>
          </a:xfrm>
          <a:prstGeom prst="rect">
            <a:avLst/>
          </a:prstGeom>
          <a:noFill/>
        </p:spPr>
        <p:txBody>
          <a:bodyPr wrap="square" lIns="0" rIns="0" tIns="0" bIns="0">
            <a:spAutoFit/>
          </a:bodyPr>
          <a:lstStyle/>
          <a:p>
            <a:pPr algn="l">
              <a:defRPr sz="950" b="0" i="0">
                <a:solidFill>
                  <a:srgbClr val="212121"/>
                </a:solidFill>
                <a:latin typeface="Calibri"/>
              </a:defRPr>
            </a:pPr>
            <a:r>
              <a:t>Completeness, rows, funds — 101 GPs</a:t>
            </a:r>
          </a:p>
        </p:txBody>
      </p:sp>
      <p:sp>
        <p:nvSpPr>
          <p:cNvPr id="23" name="Rectangle 22"/>
          <p:cNvSpPr/>
          <p:nvPr/>
        </p:nvSpPr>
        <p:spPr>
          <a:xfrm>
            <a:off x="502920" y="2551176"/>
            <a:ext cx="3017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2615184"/>
            <a:ext cx="2834639" cy="329184"/>
          </a:xfrm>
          <a:prstGeom prst="rect">
            <a:avLst/>
          </a:prstGeom>
          <a:noFill/>
        </p:spPr>
        <p:txBody>
          <a:bodyPr wrap="square" lIns="0" rIns="0" tIns="0" bIns="0">
            <a:spAutoFit/>
          </a:bodyPr>
          <a:lstStyle/>
          <a:p>
            <a:pPr algn="l">
              <a:defRPr sz="950" b="1" i="0">
                <a:solidFill>
                  <a:srgbClr val="212121"/>
                </a:solidFill>
                <a:latin typeface="Calibri"/>
              </a:defRPr>
            </a:pPr>
            <a:r>
              <a:t>data_state_by_manager_field.csv</a:t>
            </a:r>
          </a:p>
        </p:txBody>
      </p:sp>
      <p:sp>
        <p:nvSpPr>
          <p:cNvPr id="25" name="Rectangle 24"/>
          <p:cNvSpPr/>
          <p:nvPr/>
        </p:nvSpPr>
        <p:spPr>
          <a:xfrm>
            <a:off x="3520439" y="2551176"/>
            <a:ext cx="39319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79" y="2615184"/>
            <a:ext cx="3749039" cy="329184"/>
          </a:xfrm>
          <a:prstGeom prst="rect">
            <a:avLst/>
          </a:prstGeom>
          <a:noFill/>
        </p:spPr>
        <p:txBody>
          <a:bodyPr wrap="square" lIns="0" rIns="0" tIns="0" bIns="0">
            <a:spAutoFit/>
          </a:bodyPr>
          <a:lstStyle/>
          <a:p>
            <a:pPr algn="l">
              <a:defRPr sz="950" b="0" i="0">
                <a:solidFill>
                  <a:srgbClr val="212121"/>
                </a:solidFill>
                <a:latin typeface="Calibri"/>
              </a:defRPr>
            </a:pPr>
            <a:r>
              <a:t>Field-level fill per manager</a:t>
            </a:r>
          </a:p>
        </p:txBody>
      </p:sp>
      <p:sp>
        <p:nvSpPr>
          <p:cNvPr id="27" name="Rectangle 26"/>
          <p:cNvSpPr/>
          <p:nvPr/>
        </p:nvSpPr>
        <p:spPr>
          <a:xfrm>
            <a:off x="502920" y="2880360"/>
            <a:ext cx="30175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944368"/>
            <a:ext cx="2834639" cy="329184"/>
          </a:xfrm>
          <a:prstGeom prst="rect">
            <a:avLst/>
          </a:prstGeom>
          <a:noFill/>
        </p:spPr>
        <p:txBody>
          <a:bodyPr wrap="square" lIns="0" rIns="0" tIns="0" bIns="0">
            <a:spAutoFit/>
          </a:bodyPr>
          <a:lstStyle/>
          <a:p>
            <a:pPr algn="l">
              <a:defRPr sz="950" b="1" i="0">
                <a:solidFill>
                  <a:srgbClr val="212121"/>
                </a:solidFill>
                <a:latin typeface="Calibri"/>
              </a:defRPr>
            </a:pPr>
            <a:r>
              <a:t>flagged_missing_fields.csv</a:t>
            </a:r>
          </a:p>
        </p:txBody>
      </p:sp>
      <p:sp>
        <p:nvSpPr>
          <p:cNvPr id="29" name="Rectangle 28"/>
          <p:cNvSpPr/>
          <p:nvPr/>
        </p:nvSpPr>
        <p:spPr>
          <a:xfrm>
            <a:off x="3520439" y="2880360"/>
            <a:ext cx="39319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79" y="2944368"/>
            <a:ext cx="3749039" cy="329184"/>
          </a:xfrm>
          <a:prstGeom prst="rect">
            <a:avLst/>
          </a:prstGeom>
          <a:noFill/>
        </p:spPr>
        <p:txBody>
          <a:bodyPr wrap="square" lIns="0" rIns="0" tIns="0" bIns="0">
            <a:spAutoFit/>
          </a:bodyPr>
          <a:lstStyle/>
          <a:p>
            <a:pPr algn="l">
              <a:defRPr sz="950" b="0" i="0">
                <a:solidFill>
                  <a:srgbClr val="212121"/>
                </a:solidFill>
                <a:latin typeface="Calibri"/>
              </a:defRPr>
            </a:pPr>
            <a:r>
              <a:t>13,176 records for GP follow-up</a:t>
            </a:r>
          </a:p>
        </p:txBody>
      </p:sp>
      <p:sp>
        <p:nvSpPr>
          <p:cNvPr id="31" name="Rectangle 30"/>
          <p:cNvSpPr/>
          <p:nvPr/>
        </p:nvSpPr>
        <p:spPr>
          <a:xfrm>
            <a:off x="502920" y="3209544"/>
            <a:ext cx="3017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3273551"/>
            <a:ext cx="2834639" cy="329184"/>
          </a:xfrm>
          <a:prstGeom prst="rect">
            <a:avLst/>
          </a:prstGeom>
          <a:noFill/>
        </p:spPr>
        <p:txBody>
          <a:bodyPr wrap="square" lIns="0" rIns="0" tIns="0" bIns="0">
            <a:spAutoFit/>
          </a:bodyPr>
          <a:lstStyle/>
          <a:p>
            <a:pPr algn="l">
              <a:defRPr sz="950" b="1" i="0">
                <a:solidFill>
                  <a:srgbClr val="212121"/>
                </a:solidFill>
                <a:latin typeface="Calibri"/>
              </a:defRPr>
            </a:pPr>
            <a:r>
              <a:t>source_asset_classification.csv</a:t>
            </a:r>
          </a:p>
        </p:txBody>
      </p:sp>
      <p:sp>
        <p:nvSpPr>
          <p:cNvPr id="33" name="Rectangle 32"/>
          <p:cNvSpPr/>
          <p:nvPr/>
        </p:nvSpPr>
        <p:spPr>
          <a:xfrm>
            <a:off x="3520439" y="3209544"/>
            <a:ext cx="39319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1879" y="3273551"/>
            <a:ext cx="3749039" cy="329184"/>
          </a:xfrm>
          <a:prstGeom prst="rect">
            <a:avLst/>
          </a:prstGeom>
          <a:noFill/>
        </p:spPr>
        <p:txBody>
          <a:bodyPr wrap="square" lIns="0" rIns="0" tIns="0" bIns="0">
            <a:spAutoFit/>
          </a:bodyPr>
          <a:lstStyle/>
          <a:p>
            <a:pPr algn="l">
              <a:defRPr sz="950" b="0" i="0">
                <a:solidFill>
                  <a:srgbClr val="212121"/>
                </a:solidFill>
                <a:latin typeface="Calibri"/>
              </a:defRPr>
            </a:pPr>
            <a:r>
              <a:t>Row and name counts per class</a:t>
            </a:r>
          </a:p>
        </p:txBody>
      </p:sp>
      <p:sp>
        <p:nvSpPr>
          <p:cNvPr id="35" name="Rectangle 34"/>
          <p:cNvSpPr/>
          <p:nvPr/>
        </p:nvSpPr>
        <p:spPr>
          <a:xfrm>
            <a:off x="502920" y="3538728"/>
            <a:ext cx="30175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3602736"/>
            <a:ext cx="2834639" cy="329184"/>
          </a:xfrm>
          <a:prstGeom prst="rect">
            <a:avLst/>
          </a:prstGeom>
          <a:noFill/>
        </p:spPr>
        <p:txBody>
          <a:bodyPr wrap="square" lIns="0" rIns="0" tIns="0" bIns="0">
            <a:spAutoFit/>
          </a:bodyPr>
          <a:lstStyle/>
          <a:p>
            <a:pPr algn="l">
              <a:defRPr sz="950" b="1" i="0">
                <a:solidFill>
                  <a:srgbClr val="212121"/>
                </a:solidFill>
                <a:latin typeface="Calibri"/>
              </a:defRPr>
            </a:pPr>
            <a:r>
              <a:t>excluded_non_investment_rows.csv</a:t>
            </a:r>
          </a:p>
        </p:txBody>
      </p:sp>
      <p:sp>
        <p:nvSpPr>
          <p:cNvPr id="37" name="Rectangle 36"/>
          <p:cNvSpPr/>
          <p:nvPr/>
        </p:nvSpPr>
        <p:spPr>
          <a:xfrm>
            <a:off x="3520439" y="3538728"/>
            <a:ext cx="3931920" cy="329184"/>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11879" y="3602736"/>
            <a:ext cx="3749039" cy="329184"/>
          </a:xfrm>
          <a:prstGeom prst="rect">
            <a:avLst/>
          </a:prstGeom>
          <a:noFill/>
        </p:spPr>
        <p:txBody>
          <a:bodyPr wrap="square" lIns="0" rIns="0" tIns="0" bIns="0">
            <a:spAutoFit/>
          </a:bodyPr>
          <a:lstStyle/>
          <a:p>
            <a:pPr algn="l">
              <a:defRPr sz="950" b="0" i="0">
                <a:solidFill>
                  <a:srgbClr val="212121"/>
                </a:solidFill>
                <a:latin typeface="Calibri"/>
              </a:defRPr>
            </a:pPr>
            <a:r>
              <a:t>6,112 rows removed, with reason</a:t>
            </a:r>
          </a:p>
        </p:txBody>
      </p:sp>
      <p:sp>
        <p:nvSpPr>
          <p:cNvPr id="39" name="Rectangle 38"/>
          <p:cNvSpPr/>
          <p:nvPr/>
        </p:nvSpPr>
        <p:spPr>
          <a:xfrm>
            <a:off x="502920" y="3867912"/>
            <a:ext cx="3017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3931920"/>
            <a:ext cx="2834639" cy="329184"/>
          </a:xfrm>
          <a:prstGeom prst="rect">
            <a:avLst/>
          </a:prstGeom>
          <a:noFill/>
        </p:spPr>
        <p:txBody>
          <a:bodyPr wrap="square" lIns="0" rIns="0" tIns="0" bIns="0">
            <a:spAutoFit/>
          </a:bodyPr>
          <a:lstStyle/>
          <a:p>
            <a:pPr algn="l">
              <a:defRPr sz="950" b="1" i="0">
                <a:solidFill>
                  <a:srgbClr val="212121"/>
                </a:solidFill>
                <a:latin typeface="Calibri"/>
              </a:defRPr>
            </a:pPr>
            <a:r>
              <a:t>source_asset_review_queue.csv</a:t>
            </a:r>
          </a:p>
        </p:txBody>
      </p:sp>
      <p:sp>
        <p:nvSpPr>
          <p:cNvPr id="41" name="Rectangle 40"/>
          <p:cNvSpPr/>
          <p:nvPr/>
        </p:nvSpPr>
        <p:spPr>
          <a:xfrm>
            <a:off x="3520439" y="3867912"/>
            <a:ext cx="39319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11879" y="3931920"/>
            <a:ext cx="3749039" cy="329184"/>
          </a:xfrm>
          <a:prstGeom prst="rect">
            <a:avLst/>
          </a:prstGeom>
          <a:noFill/>
        </p:spPr>
        <p:txBody>
          <a:bodyPr wrap="square" lIns="0" rIns="0" tIns="0" bIns="0">
            <a:spAutoFit/>
          </a:bodyPr>
          <a:lstStyle/>
          <a:p>
            <a:pPr algn="l">
              <a:defRPr sz="950" b="0" i="0">
                <a:solidFill>
                  <a:srgbClr val="212121"/>
                </a:solidFill>
                <a:latin typeface="Calibri"/>
              </a:defRPr>
            </a:pPr>
            <a:r>
              <a:t>4 names held for human decision</a:t>
            </a:r>
          </a:p>
        </p:txBody>
      </p:sp>
      <p:sp>
        <p:nvSpPr>
          <p:cNvPr id="43" name="Rectangle 42"/>
          <p:cNvSpPr/>
          <p:nvPr/>
        </p:nvSpPr>
        <p:spPr>
          <a:xfrm>
            <a:off x="7680960" y="1234440"/>
            <a:ext cx="4005072" cy="2743200"/>
          </a:xfrm>
          <a:prstGeom prst="rect">
            <a:avLst/>
          </a:prstGeom>
          <a:solidFill>
            <a:srgbClr val="FFFFFF"/>
          </a:solidFill>
          <a:ln w="12700">
            <a:solidFill>
              <a:srgbClr val="DCE1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80960" y="1234440"/>
            <a:ext cx="4005072" cy="457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91272" y="1463040"/>
            <a:ext cx="3566160" cy="274320"/>
          </a:xfrm>
          <a:prstGeom prst="rect">
            <a:avLst/>
          </a:prstGeom>
          <a:noFill/>
        </p:spPr>
        <p:txBody>
          <a:bodyPr wrap="square" lIns="0" rIns="0" tIns="0" bIns="0">
            <a:spAutoFit/>
          </a:bodyPr>
          <a:lstStyle/>
          <a:p>
            <a:pPr algn="l">
              <a:defRPr sz="900" b="1" i="0">
                <a:solidFill>
                  <a:srgbClr val="4682B4"/>
                </a:solidFill>
                <a:latin typeface="Calibri"/>
              </a:defRPr>
            </a:pPr>
            <a:r>
              <a:t>ASSERTIONS PASSED</a:t>
            </a:r>
          </a:p>
        </p:txBody>
      </p:sp>
      <p:sp>
        <p:nvSpPr>
          <p:cNvPr id="46" name="Rectangle 45"/>
          <p:cNvSpPr/>
          <p:nvPr/>
        </p:nvSpPr>
        <p:spPr>
          <a:xfrm>
            <a:off x="7891272" y="1892807"/>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92440" y="1810512"/>
            <a:ext cx="3364991" cy="384048"/>
          </a:xfrm>
          <a:prstGeom prst="rect">
            <a:avLst/>
          </a:prstGeom>
          <a:noFill/>
        </p:spPr>
        <p:txBody>
          <a:bodyPr wrap="square" lIns="0" rIns="0" tIns="0" bIns="0">
            <a:spAutoFit/>
          </a:bodyPr>
          <a:lstStyle/>
          <a:p>
            <a:pPr algn="l">
              <a:defRPr sz="950" b="0" i="0">
                <a:solidFill>
                  <a:srgbClr val="212121"/>
                </a:solidFill>
                <a:latin typeface="Calibri"/>
              </a:defRPr>
            </a:pPr>
            <a:r>
              <a:t>Fund completeness within [0,1]</a:t>
            </a:r>
          </a:p>
        </p:txBody>
      </p:sp>
      <p:sp>
        <p:nvSpPr>
          <p:cNvPr id="48" name="Rectangle 47"/>
          <p:cNvSpPr/>
          <p:nvPr/>
        </p:nvSpPr>
        <p:spPr>
          <a:xfrm>
            <a:off x="7891272" y="2276856"/>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92440" y="2194560"/>
            <a:ext cx="3364991" cy="384048"/>
          </a:xfrm>
          <a:prstGeom prst="rect">
            <a:avLst/>
          </a:prstGeom>
          <a:noFill/>
        </p:spPr>
        <p:txBody>
          <a:bodyPr wrap="square" lIns="0" rIns="0" tIns="0" bIns="0">
            <a:spAutoFit/>
          </a:bodyPr>
          <a:lstStyle/>
          <a:p>
            <a:pPr algn="l">
              <a:defRPr sz="950" b="0" i="0">
                <a:solidFill>
                  <a:srgbClr val="212121"/>
                </a:solidFill>
                <a:latin typeface="Calibri"/>
              </a:defRPr>
            </a:pPr>
            <a:r>
              <a:t>Manager completeness within [0,1]</a:t>
            </a:r>
          </a:p>
        </p:txBody>
      </p:sp>
      <p:sp>
        <p:nvSpPr>
          <p:cNvPr id="50" name="Rectangle 49"/>
          <p:cNvSpPr/>
          <p:nvPr/>
        </p:nvSpPr>
        <p:spPr>
          <a:xfrm>
            <a:off x="7891272" y="2660903"/>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92440" y="2578608"/>
            <a:ext cx="3364991" cy="384048"/>
          </a:xfrm>
          <a:prstGeom prst="rect">
            <a:avLst/>
          </a:prstGeom>
          <a:noFill/>
        </p:spPr>
        <p:txBody>
          <a:bodyPr wrap="square" lIns="0" rIns="0" tIns="0" bIns="0">
            <a:spAutoFit/>
          </a:bodyPr>
          <a:lstStyle/>
          <a:p>
            <a:pPr algn="l">
              <a:defRPr sz="950" b="0" i="0">
                <a:solidFill>
                  <a:srgbClr val="212121"/>
                </a:solidFill>
                <a:latin typeface="Calibri"/>
              </a:defRPr>
            </a:pPr>
            <a:r>
              <a:t>No duplicate rows</a:t>
            </a:r>
          </a:p>
        </p:txBody>
      </p:sp>
      <p:sp>
        <p:nvSpPr>
          <p:cNvPr id="52" name="Rectangle 51"/>
          <p:cNvSpPr/>
          <p:nvPr/>
        </p:nvSpPr>
        <p:spPr>
          <a:xfrm>
            <a:off x="7891272" y="3044952"/>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92440" y="2962656"/>
            <a:ext cx="3364991" cy="384048"/>
          </a:xfrm>
          <a:prstGeom prst="rect">
            <a:avLst/>
          </a:prstGeom>
          <a:noFill/>
        </p:spPr>
        <p:txBody>
          <a:bodyPr wrap="square" lIns="0" rIns="0" tIns="0" bIns="0">
            <a:spAutoFit/>
          </a:bodyPr>
          <a:lstStyle/>
          <a:p>
            <a:pPr algn="l">
              <a:defRPr sz="950" b="0" i="0">
                <a:solidFill>
                  <a:srgbClr val="212121"/>
                </a:solidFill>
                <a:latin typeface="Calibri"/>
              </a:defRPr>
            </a:pPr>
            <a:r>
              <a:t>Unit columns stripped</a:t>
            </a:r>
          </a:p>
        </p:txBody>
      </p:sp>
      <p:sp>
        <p:nvSpPr>
          <p:cNvPr id="54" name="Rectangle 53"/>
          <p:cNvSpPr/>
          <p:nvPr/>
        </p:nvSpPr>
        <p:spPr>
          <a:xfrm>
            <a:off x="7891272" y="3429000"/>
            <a:ext cx="68580" cy="6858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92440" y="3346704"/>
            <a:ext cx="3364991" cy="384048"/>
          </a:xfrm>
          <a:prstGeom prst="rect">
            <a:avLst/>
          </a:prstGeom>
          <a:noFill/>
        </p:spPr>
        <p:txBody>
          <a:bodyPr wrap="square" lIns="0" rIns="0" tIns="0" bIns="0">
            <a:spAutoFit/>
          </a:bodyPr>
          <a:lstStyle/>
          <a:p>
            <a:pPr algn="l">
              <a:defRPr sz="950" b="0" i="0">
                <a:solidFill>
                  <a:srgbClr val="212121"/>
                </a:solidFill>
                <a:latin typeface="Calibri"/>
              </a:defRPr>
            </a:pPr>
            <a:r>
              <a:t>Flagged ⊆ all rows</a:t>
            </a:r>
          </a:p>
        </p:txBody>
      </p:sp>
      <p:sp>
        <p:nvSpPr>
          <p:cNvPr id="56" name="Rectangle 55"/>
          <p:cNvSpPr/>
          <p:nvPr/>
        </p:nvSpPr>
        <p:spPr>
          <a:xfrm>
            <a:off x="502920" y="3703320"/>
            <a:ext cx="11183112" cy="13716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3913632"/>
            <a:ext cx="10698480" cy="1005840"/>
          </a:xfrm>
          <a:prstGeom prst="rect">
            <a:avLst/>
          </a:prstGeom>
          <a:noFill/>
        </p:spPr>
        <p:txBody>
          <a:bodyPr wrap="square" lIns="0" rIns="0" tIns="0" bIns="0">
            <a:spAutoFit/>
          </a:bodyPr>
          <a:lstStyle/>
          <a:p>
            <a:pPr algn="l">
              <a:spcAft>
                <a:spcPts val="500"/>
              </a:spcAft>
              <a:defRPr sz="1000" b="0" i="0">
                <a:solidFill>
                  <a:srgbClr val="212121"/>
                </a:solidFill>
                <a:latin typeface="Calibri"/>
              </a:defRPr>
            </a:pPr>
            <a:r>
              <a:t>REPRODUCIBILITY</a:t>
            </a:r>
          </a:p>
          <a:p>
            <a:pPr algn="l">
              <a:spcAft>
                <a:spcPts val="500"/>
              </a:spcAft>
              <a:defRPr sz="1000" b="0" i="0">
                <a:solidFill>
                  <a:srgbClr val="212121"/>
                </a:solidFill>
                <a:latin typeface="Calibri"/>
              </a:defRPr>
            </a:pPr>
          </a:p>
          <a:p>
            <a:pPr algn="l">
              <a:spcAft>
                <a:spcPts val="500"/>
              </a:spcAft>
              <a:defRPr sz="1000" b="0" i="0">
                <a:solidFill>
                  <a:srgbClr val="212121"/>
                </a:solidFill>
                <a:latin typeface="Calibri"/>
              </a:defRPr>
            </a:pPr>
            <a:r>
              <a:t>The notebook runs end to end from the raw extract with no manual steps. Thresholds — the 85% bar, the 20-row manager floor, the mandatory field list — are parameters at the top of the file, so a change in Investment Office policy is a one-line edit and a re-run, not a rewrite.</a:t>
            </a:r>
          </a:p>
        </p:txBody>
      </p:sp>
      <p:sp>
        <p:nvSpPr>
          <p:cNvPr id="58" name="Rectangle 57"/>
          <p:cNvSpPr/>
          <p:nvPr/>
        </p:nvSpPr>
        <p:spPr>
          <a:xfrm>
            <a:off x="502920" y="5257800"/>
            <a:ext cx="11185855" cy="658368"/>
          </a:xfrm>
          <a:prstGeom prst="rect">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5257800"/>
            <a:ext cx="50292" cy="6583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 y="5376672"/>
            <a:ext cx="10774375" cy="475488"/>
          </a:xfrm>
          <a:prstGeom prst="rect">
            <a:avLst/>
          </a:prstGeom>
          <a:noFill/>
        </p:spPr>
        <p:txBody>
          <a:bodyPr wrap="square" lIns="0" rIns="0" tIns="0" bIns="0">
            <a:spAutoFit/>
          </a:bodyPr>
          <a:lstStyle/>
          <a:p>
            <a:pPr algn="l">
              <a:defRPr sz="1050" b="0" i="0">
                <a:solidFill>
                  <a:srgbClr val="212121"/>
                </a:solidFill>
                <a:latin typeface="Calibri"/>
              </a:defRPr>
            </a:pPr>
            <a:r>
              <a:t>Open question for the Investment Office: is 85% the right bar, and should Sector carry equal weight to Current Cost in the mandatory set? Both are currently assumptions.</a:t>
            </a:r>
          </a:p>
        </p:txBody>
      </p:sp>
      <p:sp>
        <p:nvSpPr>
          <p:cNvPr id="61" name="Rectangle 60"/>
          <p:cNvSpPr/>
          <p:nvPr/>
        </p:nvSpPr>
        <p:spPr>
          <a:xfrm>
            <a:off x="502920" y="6327648"/>
            <a:ext cx="11185855" cy="10972"/>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6419088"/>
            <a:ext cx="7772400" cy="274320"/>
          </a:xfrm>
          <a:prstGeom prst="rect">
            <a:avLst/>
          </a:prstGeom>
          <a:noFill/>
        </p:spPr>
        <p:txBody>
          <a:bodyPr wrap="square" lIns="0" rIns="0" tIns="0" bIns="0">
            <a:spAutoFit/>
          </a:bodyPr>
          <a:lstStyle/>
          <a:p>
            <a:pPr algn="l">
              <a:defRPr sz="800" b="0" i="0">
                <a:solidFill>
                  <a:srgbClr val="6E6E6E"/>
                </a:solidFill>
                <a:latin typeface="Calibri"/>
              </a:defRPr>
            </a:pPr>
            <a:r>
              <a:t>Notebook: (phase1)holdings_data_state_analysis.ipynb  ·  62 cells</a:t>
            </a:r>
          </a:p>
        </p:txBody>
      </p:sp>
      <p:sp>
        <p:nvSpPr>
          <p:cNvPr id="63" name="TextBox 62"/>
          <p:cNvSpPr txBox="1"/>
          <p:nvPr/>
        </p:nvSpPr>
        <p:spPr>
          <a:xfrm>
            <a:off x="7985455" y="6419088"/>
            <a:ext cx="3703320" cy="274320"/>
          </a:xfrm>
          <a:prstGeom prst="rect">
            <a:avLst/>
          </a:prstGeom>
          <a:noFill/>
        </p:spPr>
        <p:txBody>
          <a:bodyPr wrap="square" lIns="0" rIns="0" tIns="0" bIns="0">
            <a:spAutoFit/>
          </a:bodyPr>
          <a:lstStyle/>
          <a:p>
            <a:pPr algn="r">
              <a:defRPr sz="800" b="0" i="0">
                <a:solidFill>
                  <a:srgbClr val="6E6E6E"/>
                </a:solidFill>
                <a:latin typeface="Calibri"/>
              </a:defRPr>
            </a:pPr>
            <a: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822960"/>
          </a:xfrm>
          <a:prstGeom prst="rect">
            <a:avLst/>
          </a:prstGeom>
          <a:noFill/>
        </p:spPr>
        <p:txBody>
          <a:bodyPr wrap="square" lIns="0" rIns="0" tIns="0" bIns="0">
            <a:spAutoFit/>
          </a:bodyPr>
          <a:lstStyle/>
          <a:p>
            <a:pPr algn="l">
              <a:defRPr sz="4000" b="1" i="0">
                <a:solidFill>
                  <a:srgbClr val="FFFFFF"/>
                </a:solidFill>
                <a:latin typeface="Georgia"/>
              </a:defRPr>
            </a:pPr>
            <a:r>
              <a:t>Questions</a:t>
            </a:r>
          </a:p>
        </p:txBody>
      </p:sp>
      <p:sp>
        <p:nvSpPr>
          <p:cNvPr id="5" name="Rectangle 4"/>
          <p:cNvSpPr/>
          <p:nvPr/>
        </p:nvSpPr>
        <p:spPr>
          <a:xfrm>
            <a:off x="822960" y="3291840"/>
            <a:ext cx="2926080" cy="27432"/>
          </a:xfrm>
          <a:prstGeom prst="rect">
            <a:avLst/>
          </a:prstGeom>
          <a:solidFill>
            <a:srgbClr val="3E55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566160"/>
            <a:ext cx="10058400" cy="1280160"/>
          </a:xfrm>
          <a:prstGeom prst="rect">
            <a:avLst/>
          </a:prstGeom>
          <a:noFill/>
        </p:spPr>
        <p:txBody>
          <a:bodyPr wrap="square" lIns="0" rIns="0" tIns="0" bIns="0">
            <a:spAutoFit/>
          </a:bodyPr>
          <a:lstStyle/>
          <a:p>
            <a:pPr algn="l">
              <a:spcAft>
                <a:spcPts val="800"/>
              </a:spcAft>
              <a:defRPr sz="1300" b="0" i="0">
                <a:solidFill>
                  <a:srgbClr val="C5D0DE"/>
                </a:solidFill>
                <a:latin typeface="Calibri"/>
              </a:defRPr>
            </a:pPr>
            <a:r>
              <a:t>Phase 1 data-state analysis complete.</a:t>
            </a:r>
          </a:p>
          <a:p>
            <a:pPr algn="l">
              <a:spcAft>
                <a:spcPts val="800"/>
              </a:spcAft>
              <a:defRPr sz="1300" b="0" i="0">
                <a:solidFill>
                  <a:srgbClr val="C5D0DE"/>
                </a:solidFill>
                <a:latin typeface="Calibri"/>
              </a:defRPr>
            </a:pPr>
            <a:r>
              <a:t>Phase 2 validation blocked only on canonical entity naming.</a:t>
            </a:r>
          </a:p>
        </p:txBody>
      </p:sp>
      <p:sp>
        <p:nvSpPr>
          <p:cNvPr id="7" name="TextBox 6"/>
          <p:cNvSpPr txBox="1"/>
          <p:nvPr/>
        </p:nvSpPr>
        <p:spPr>
          <a:xfrm>
            <a:off x="822960" y="6309360"/>
            <a:ext cx="10058400" cy="274320"/>
          </a:xfrm>
          <a:prstGeom prst="rect">
            <a:avLst/>
          </a:prstGeom>
          <a:noFill/>
        </p:spPr>
        <p:txBody>
          <a:bodyPr wrap="square" lIns="0" rIns="0" tIns="0" bIns="0">
            <a:spAutoFit/>
          </a:bodyPr>
          <a:lstStyle/>
          <a:p>
            <a:pPr algn="l">
              <a:defRPr sz="850" b="0" i="0">
                <a:solidFill>
                  <a:srgbClr val="8F9EB4"/>
                </a:solidFill>
                <a:latin typeface="Calibri"/>
              </a:defRPr>
            </a:pPr>
            <a:r>
              <a:t>Brown University Investment Office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